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tugas ini menjawab permintaan management untuk mengubah WhatsApp dari channel komunikasi menjadi platform customer management yang terintegrasi. Saya membawa analisis, desain journey, arsitektur, dashboard penjualan dengan MS SQL, ide AI, dan prototype yang bisa didemokan.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Satu kalimat jawaban: customer menjadi pusat data. Tiga pilar ini memetakan langsung ke tujuh gejala di skenario.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pilot. Baseline final diukur pada minggu 1–2 discovery; angka konversi target ditetapkan setelah baseline tersedia.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Ketujuh gejala bukan tujuh masalah terpisah. Semuanya muncul karena WhatsApp dipakai sebagai alat chat individu, bukan sistem perusahaan.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Kategori People/Process/Technology/Data/Governance. Prioritas pertama adalah A dan B karena paling cepat memberi dampak.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lengkap dengan kolom dampak bisnis ada di dokumen tertulis, bagian 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sengaja transparan. Semua asumsi (2,5 inquiry per lead, selisih konversi 2,5 poin, Rp130 juta per unit) dihitung ulang dengan baseline nyata pada discovery.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6 dan 7 digerakkan oleh event dari DMS/ERP MS SQL, bukan diketik ulang oleh sales. Itulah yang menghentikan prospecting ke pembeli.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yang ditangkap per tahap (model, budget, cash/kredit, timeline, lokasi, CSAT) dirinci di dokumen tertulis bagian 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Cadence dapat dikonfigurasi per cabang/produk. Respons manusia dihitung terpisah dari auto-ack.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mengimplementasikan sebagian: Next.js + TypeScript, Go API, MySQL untuk CRM, MS SQL Server untuk reporting penjualan, dan DeepSeek melalui backend.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 event yang sama tidak membuat lead ganda — ini didemonstrasikan di Integration Hub prototype.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erp.spk.created dan erp.do.delivered dibaca dari MS SQL melalui Change Tracking/CDC.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Definisi KPI ini diimplementasikan sama persis di lib/sales.ts dan di prosedur rpt.usp_SalesDashboard, lalu diuji dengan golden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prototype, skrip T-SQL ada di backend/sql/mssql/. Prosedur dijalankan pada SQL Server 2022 dan hasilnya dibandingkan dengan perhitungan TypeScript melalui golden 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di layar adalah data sintetis. Mode MS SQL menampilkan label sumber dan waktu sinkron terakhir.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filter cabang, buka lead yang melewati SLA, buat draft, catat balasan.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tunjukkan aturan otomasi dan bagaimana AI dibatasi guardrail.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Portofolio lengkap (masalah, input, output, guardrail, KPI) ada di dokumen tertulis bagian 6.2.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kanan sengaja dikosongkan: isi dengan pengalaman nyata sebelum presentasi.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Estimasi bergantung pada akses API channel, kesiapan data ERP, dan kapasitas tim.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RACI ringan dan detail tim ada di dokumen tertulis bagian 7.4.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tiga langkah konkret dan ajak diskusi.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D36"/>
        </a:solidFill>
        <a:effectLst/>
      </p:bgPr>
    </p:bg>
    <p:spTree>
      <p:nvGrpSpPr>
        <p:cNvPr id="1" name=""/>
        <p:cNvGrpSpPr/>
        <p:nvPr/>
      </p:nvGrpSpPr>
      <p:grpSpPr/>
      <p:sp>
        <p:nvSpPr>
          <p:cNvPr id="2" name="Rounded Rectangle 1"/>
          <p:cNvSpPr/>
          <p:nvPr/>
        </p:nvSpPr>
        <p:spPr>
          <a:xfrm>
            <a:off x="731520" y="685800"/>
            <a:ext cx="658368" cy="694944"/>
          </a:xfrm>
          <a:prstGeom prst="roundRect">
            <a:avLst>
              <a:gd name="adj" fmla="val 18000"/>
            </a:avLst>
          </a:prstGeom>
          <a:solidFill>
            <a:srgbClr val="A8D3B5"/>
          </a:solidFill>
          <a:ln>
            <a:noFill/>
          </a:ln>
        </p:spPr>
        <p:txBody>
          <a:bodyPr rtlCol="0" anchor="ctr"/>
          <a:lstStyle/>
          <a:p>
            <a:pPr algn="ctr"/>
            <a:r>
              <a:rPr sz="2200" b="1">
                <a:solidFill>
                  <a:srgbClr val="153C32"/>
                </a:solidFill>
                <a:latin typeface="Calibri"/>
              </a:rPr>
              <a:t>H1</a:t>
            </a:r>
          </a:p>
        </p:txBody>
      </p:sp>
      <p:sp>
        <p:nvSpPr>
          <p:cNvPr id="3" name="TextBox 2"/>
          <p:cNvSpPr txBox="1"/>
          <p:nvPr/>
        </p:nvSpPr>
        <p:spPr>
          <a:xfrm>
            <a:off x="1554480" y="713232"/>
            <a:ext cx="3657600" cy="365760"/>
          </a:xfrm>
          <a:prstGeom prst="rect">
            <a:avLst/>
          </a:prstGeom>
          <a:noFill/>
        </p:spPr>
        <p:txBody>
          <a:bodyPr wrap="square" lIns="0" rIns="0" tIns="0" bIns="0" anchor="t">
            <a:spAutoFit/>
          </a:bodyPr>
          <a:lstStyle/>
          <a:p>
            <a:pPr algn="l"/>
            <a:r>
              <a:rPr sz="2400" b="1" i="0">
                <a:solidFill>
                  <a:srgbClr val="FFFFFF"/>
                </a:solidFill>
                <a:latin typeface="Calibri"/>
              </a:rPr>
              <a:t>hasjrat</a:t>
            </a:r>
            <a:r>
              <a:rPr sz="2400" b="1" i="0">
                <a:solidFill>
                  <a:srgbClr val="A8D3B5"/>
                </a:solidFill>
                <a:latin typeface="Calibri"/>
              </a:rPr>
              <a:t>.</a:t>
            </a:r>
          </a:p>
        </p:txBody>
      </p:sp>
      <p:sp>
        <p:nvSpPr>
          <p:cNvPr id="4" name="TextBox 3"/>
          <p:cNvSpPr txBox="1"/>
          <p:nvPr/>
        </p:nvSpPr>
        <p:spPr>
          <a:xfrm>
            <a:off x="1572768" y="1097280"/>
            <a:ext cx="3657600" cy="274320"/>
          </a:xfrm>
          <a:prstGeom prst="rect">
            <a:avLst/>
          </a:prstGeom>
          <a:noFill/>
        </p:spPr>
        <p:txBody>
          <a:bodyPr wrap="square" lIns="0" rIns="0" tIns="0" bIns="0" anchor="t">
            <a:spAutoFit/>
          </a:bodyPr>
          <a:lstStyle/>
          <a:p>
            <a:pPr algn="l"/>
            <a:r>
              <a:rPr sz="1100" b="1" i="0">
                <a:solidFill>
                  <a:srgbClr val="ADBEC2"/>
                </a:solidFill>
                <a:latin typeface="Calibri"/>
              </a:rPr>
              <a:t>ONECRM</a:t>
            </a:r>
          </a:p>
        </p:txBody>
      </p:sp>
      <p:sp>
        <p:nvSpPr>
          <p:cNvPr id="5" name="TextBox 4"/>
          <p:cNvSpPr txBox="1"/>
          <p:nvPr/>
        </p:nvSpPr>
        <p:spPr>
          <a:xfrm>
            <a:off x="731520" y="2057400"/>
            <a:ext cx="10515600" cy="365760"/>
          </a:xfrm>
          <a:prstGeom prst="rect">
            <a:avLst/>
          </a:prstGeom>
          <a:noFill/>
        </p:spPr>
        <p:txBody>
          <a:bodyPr wrap="square" lIns="0" rIns="0" tIns="0" bIns="0" anchor="t">
            <a:spAutoFit/>
          </a:bodyPr>
          <a:lstStyle/>
          <a:p>
            <a:pPr algn="l"/>
            <a:r>
              <a:rPr sz="1300" b="1" i="0">
                <a:solidFill>
                  <a:srgbClr val="A8D3B5"/>
                </a:solidFill>
                <a:latin typeface="Calibri"/>
              </a:rPr>
              <a:t>TECHNICAL ASSESSMENT · SENIOR BUSINESS SYSTEM ANALYST &amp; DIGITALIZATION</a:t>
            </a:r>
          </a:p>
        </p:txBody>
      </p:sp>
      <p:sp>
        <p:nvSpPr>
          <p:cNvPr id="6" name="TextBox 5"/>
          <p:cNvSpPr txBox="1"/>
          <p:nvPr/>
        </p:nvSpPr>
        <p:spPr>
          <a:xfrm>
            <a:off x="731520" y="2514600"/>
            <a:ext cx="10607040" cy="1554480"/>
          </a:xfrm>
          <a:prstGeom prst="rect">
            <a:avLst/>
          </a:prstGeom>
          <a:noFill/>
        </p:spPr>
        <p:txBody>
          <a:bodyPr wrap="square" lIns="0" rIns="0" tIns="0" bIns="0" anchor="t">
            <a:spAutoFit/>
          </a:bodyPr>
          <a:lstStyle/>
          <a:p>
            <a:pPr algn="l">
              <a:lnSpc>
                <a:spcPct val="95000"/>
              </a:lnSpc>
            </a:pPr>
            <a:r>
              <a:rPr sz="4400" b="1" i="0">
                <a:solidFill>
                  <a:srgbClr val="FFFFFF"/>
                </a:solidFill>
                <a:latin typeface="Calibri"/>
              </a:rPr>
              <a:t>Dari WhatsApp ke customer management platform yang terintegrasi</a:t>
            </a:r>
          </a:p>
        </p:txBody>
      </p:sp>
      <p:sp>
        <p:nvSpPr>
          <p:cNvPr id="7" name="TextBox 6"/>
          <p:cNvSpPr txBox="1"/>
          <p:nvPr/>
        </p:nvSpPr>
        <p:spPr>
          <a:xfrm>
            <a:off x="731520" y="4251960"/>
            <a:ext cx="10058400" cy="457200"/>
          </a:xfrm>
          <a:prstGeom prst="rect">
            <a:avLst/>
          </a:prstGeom>
          <a:noFill/>
        </p:spPr>
        <p:txBody>
          <a:bodyPr wrap="square" lIns="0" rIns="0" tIns="0" bIns="0" anchor="t">
            <a:spAutoFit/>
          </a:bodyPr>
          <a:lstStyle/>
          <a:p>
            <a:pPr algn="l"/>
            <a:r>
              <a:rPr sz="2400" b="0" i="1">
                <a:solidFill>
                  <a:srgbClr val="A8D3B5"/>
                </a:solidFill>
                <a:latin typeface="Calibri"/>
              </a:rPr>
              <a:t>One Customer · One Journey · Every Channel</a:t>
            </a:r>
          </a:p>
        </p:txBody>
      </p:sp>
      <p:sp>
        <p:nvSpPr>
          <p:cNvPr id="8" name="TextBox 7"/>
          <p:cNvSpPr txBox="1"/>
          <p:nvPr/>
        </p:nvSpPr>
        <p:spPr>
          <a:xfrm>
            <a:off x="731520" y="5074920"/>
            <a:ext cx="10058400" cy="365760"/>
          </a:xfrm>
          <a:prstGeom prst="rect">
            <a:avLst/>
          </a:prstGeom>
          <a:noFill/>
        </p:spPr>
        <p:txBody>
          <a:bodyPr wrap="square" lIns="0" rIns="0" tIns="0" bIns="0" anchor="t">
            <a:spAutoFit/>
          </a:bodyPr>
          <a:lstStyle/>
          <a:p>
            <a:pPr algn="l"/>
            <a:r>
              <a:rPr sz="1600" b="0" i="0">
                <a:solidFill>
                  <a:srgbClr val="D8E2E5"/>
                </a:solidFill>
                <a:latin typeface="Calibri"/>
              </a:rPr>
              <a:t>Putra Irawan · untuk Kepala Divisi IT, PT Hasjrat Abadi · Oktober 2026</a:t>
            </a:r>
          </a:p>
        </p:txBody>
      </p:sp>
      <p:sp>
        <p:nvSpPr>
          <p:cNvPr id="9" name="TextBox 8"/>
          <p:cNvSpPr txBox="1"/>
          <p:nvPr/>
        </p:nvSpPr>
        <p:spPr>
          <a:xfrm>
            <a:off x="731520" y="5486400"/>
            <a:ext cx="10515600" cy="365760"/>
          </a:xfrm>
          <a:prstGeom prst="rect">
            <a:avLst/>
          </a:prstGeom>
          <a:noFill/>
        </p:spPr>
        <p:txBody>
          <a:bodyPr wrap="square" lIns="0" rIns="0" tIns="0" bIns="0" anchor="t">
            <a:spAutoFit/>
          </a:bodyPr>
          <a:lstStyle/>
          <a:p>
            <a:pPr algn="l"/>
            <a:r>
              <a:rPr sz="1200" b="0" i="0">
                <a:solidFill>
                  <a:srgbClr val="8DA1A8"/>
                </a:solidFill>
                <a:latin typeface="Calibri"/>
              </a:rPr>
              <a:t>Usulan konsep assessment, bukan produk resmi PT Hasjrat Abadi. Prototype memakai data sintetis.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RINGKASAN EKSEKUTIF</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Pusatkan data pada customer, bukan pada chat atau HP sales</a:t>
            </a:r>
          </a:p>
        </p:txBody>
      </p:sp>
      <p:sp>
        <p:nvSpPr>
          <p:cNvPr id="4" name="Rounded Rectangle 3"/>
          <p:cNvSpPr/>
          <p:nvPr/>
        </p:nvSpPr>
        <p:spPr>
          <a:xfrm>
            <a:off x="548640" y="1554480"/>
            <a:ext cx="5120640" cy="1325880"/>
          </a:xfrm>
          <a:prstGeom prst="roundRect">
            <a:avLst>
              <a:gd name="adj" fmla="val 8000"/>
            </a:avLst>
          </a:prstGeom>
          <a:solidFill>
            <a:srgbClr val="F6F8F6"/>
          </a:solidFill>
          <a:ln>
            <a:noFill/>
          </a:ln>
        </p:spPr>
        <p:txBody>
          <a:bodyPr rtlCol="0" anchor="ctr"/>
          <a:lstStyle/>
          <a:p/>
        </p:txBody>
      </p:sp>
      <p:sp>
        <p:nvSpPr>
          <p:cNvPr id="5" name="TextBox 4"/>
          <p:cNvSpPr txBox="1"/>
          <p:nvPr/>
        </p:nvSpPr>
        <p:spPr>
          <a:xfrm>
            <a:off x="777240" y="1719072"/>
            <a:ext cx="4663440" cy="274320"/>
          </a:xfrm>
          <a:prstGeom prst="rect">
            <a:avLst/>
          </a:prstGeom>
          <a:noFill/>
        </p:spPr>
        <p:txBody>
          <a:bodyPr wrap="square" lIns="0" rIns="0" tIns="0" bIns="0" anchor="t">
            <a:spAutoFit/>
          </a:bodyPr>
          <a:lstStyle/>
          <a:p>
            <a:pPr algn="l"/>
            <a:r>
              <a:rPr sz="1100" b="1" i="0">
                <a:solidFill>
                  <a:srgbClr val="5F6F74"/>
                </a:solidFill>
                <a:latin typeface="Calibri"/>
              </a:rPr>
              <a:t>PERMINTAAN MANAGEMENT</a:t>
            </a:r>
          </a:p>
        </p:txBody>
      </p:sp>
      <p:sp>
        <p:nvSpPr>
          <p:cNvPr id="6" name="TextBox 5"/>
          <p:cNvSpPr txBox="1"/>
          <p:nvPr/>
        </p:nvSpPr>
        <p:spPr>
          <a:xfrm>
            <a:off x="777240" y="1993392"/>
            <a:ext cx="4663440" cy="822960"/>
          </a:xfrm>
          <a:prstGeom prst="rect">
            <a:avLst/>
          </a:prstGeom>
          <a:noFill/>
        </p:spPr>
        <p:txBody>
          <a:bodyPr wrap="square" lIns="0" rIns="0" tIns="0" bIns="0" anchor="t">
            <a:spAutoFit/>
          </a:bodyPr>
          <a:lstStyle/>
          <a:p>
            <a:pPr algn="l"/>
            <a:r>
              <a:rPr sz="1500" b="0" i="1">
                <a:solidFill>
                  <a:srgbClr val="20343D"/>
                </a:solidFill>
                <a:latin typeface="Calibri"/>
              </a:rPr>
              <a:t>“Mengubah WhatsApp dari sekadar communication channel menjadi customer management platform yang terintegrasi.”</a:t>
            </a:r>
          </a:p>
        </p:txBody>
      </p:sp>
      <p:sp>
        <p:nvSpPr>
          <p:cNvPr id="7" name="Rounded Rectangle 6"/>
          <p:cNvSpPr/>
          <p:nvPr/>
        </p:nvSpPr>
        <p:spPr>
          <a:xfrm>
            <a:off x="5897880" y="1554480"/>
            <a:ext cx="5742432" cy="1325880"/>
          </a:xfrm>
          <a:prstGeom prst="roundRect">
            <a:avLst>
              <a:gd name="adj" fmla="val 8000"/>
            </a:avLst>
          </a:prstGeom>
          <a:solidFill>
            <a:srgbClr val="152D36"/>
          </a:solidFill>
          <a:ln>
            <a:noFill/>
          </a:ln>
        </p:spPr>
        <p:txBody>
          <a:bodyPr rtlCol="0" anchor="ctr"/>
          <a:lstStyle/>
          <a:p/>
        </p:txBody>
      </p:sp>
      <p:sp>
        <p:nvSpPr>
          <p:cNvPr id="8" name="TextBox 7"/>
          <p:cNvSpPr txBox="1"/>
          <p:nvPr/>
        </p:nvSpPr>
        <p:spPr>
          <a:xfrm>
            <a:off x="6126480" y="1719072"/>
            <a:ext cx="5303520" cy="274320"/>
          </a:xfrm>
          <a:prstGeom prst="rect">
            <a:avLst/>
          </a:prstGeom>
          <a:noFill/>
        </p:spPr>
        <p:txBody>
          <a:bodyPr wrap="square" lIns="0" rIns="0" tIns="0" bIns="0" anchor="t">
            <a:spAutoFit/>
          </a:bodyPr>
          <a:lstStyle/>
          <a:p>
            <a:pPr algn="l"/>
            <a:r>
              <a:rPr sz="1100" b="1" i="0">
                <a:solidFill>
                  <a:srgbClr val="A8D3B5"/>
                </a:solidFill>
                <a:latin typeface="Calibri"/>
              </a:rPr>
              <a:t>JAWABAN</a:t>
            </a:r>
          </a:p>
        </p:txBody>
      </p:sp>
      <p:sp>
        <p:nvSpPr>
          <p:cNvPr id="9" name="TextBox 8"/>
          <p:cNvSpPr txBox="1"/>
          <p:nvPr/>
        </p:nvSpPr>
        <p:spPr>
          <a:xfrm>
            <a:off x="6126480" y="1993392"/>
            <a:ext cx="5349240" cy="822960"/>
          </a:xfrm>
          <a:prstGeom prst="rect">
            <a:avLst/>
          </a:prstGeom>
          <a:noFill/>
        </p:spPr>
        <p:txBody>
          <a:bodyPr wrap="square" lIns="0" rIns="0" tIns="0" bIns="0" anchor="t">
            <a:spAutoFit/>
          </a:bodyPr>
          <a:lstStyle/>
          <a:p>
            <a:pPr algn="l"/>
            <a:r>
              <a:rPr sz="1500" b="0" i="0">
                <a:solidFill>
                  <a:srgbClr val="FFFFFF"/>
                </a:solidFill>
                <a:latin typeface="Calibri"/>
              </a:rPr>
              <a:t>Semua channel masuk ke satu profil customer, satu journey dengan SLA dan otomasi, tersinkron dengan DMS/ERP MS SQL, dipantau dashboard real-time.</a:t>
            </a:r>
          </a:p>
        </p:txBody>
      </p:sp>
      <p:sp>
        <p:nvSpPr>
          <p:cNvPr id="10" name="Rounded Rectangle 9"/>
          <p:cNvSpPr/>
          <p:nvPr/>
        </p:nvSpPr>
        <p:spPr>
          <a:xfrm>
            <a:off x="548640" y="3154680"/>
            <a:ext cx="3520440" cy="3017520"/>
          </a:xfrm>
          <a:prstGeom prst="roundRect">
            <a:avLst>
              <a:gd name="adj" fmla="val 8000"/>
            </a:avLst>
          </a:prstGeom>
          <a:solidFill>
            <a:srgbClr val="E9F4EF"/>
          </a:solidFill>
          <a:ln>
            <a:noFill/>
          </a:ln>
        </p:spPr>
        <p:txBody>
          <a:bodyPr rtlCol="0" anchor="ctr"/>
          <a:lstStyle/>
          <a:p/>
        </p:txBody>
      </p:sp>
      <p:sp>
        <p:nvSpPr>
          <p:cNvPr id="11" name="Oval 10"/>
          <p:cNvSpPr/>
          <p:nvPr/>
        </p:nvSpPr>
        <p:spPr>
          <a:xfrm>
            <a:off x="777240" y="3383280"/>
            <a:ext cx="457200" cy="457200"/>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1</a:t>
            </a:r>
          </a:p>
        </p:txBody>
      </p:sp>
      <p:sp>
        <p:nvSpPr>
          <p:cNvPr id="12" name="TextBox 11"/>
          <p:cNvSpPr txBox="1"/>
          <p:nvPr/>
        </p:nvSpPr>
        <p:spPr>
          <a:xfrm>
            <a:off x="1371600" y="3383280"/>
            <a:ext cx="2560320" cy="457200"/>
          </a:xfrm>
          <a:prstGeom prst="rect">
            <a:avLst/>
          </a:prstGeom>
          <a:noFill/>
        </p:spPr>
        <p:txBody>
          <a:bodyPr wrap="square" lIns="0" rIns="0" tIns="0" bIns="0" anchor="ctr">
            <a:spAutoFit/>
          </a:bodyPr>
          <a:lstStyle/>
          <a:p>
            <a:pPr algn="l"/>
            <a:r>
              <a:rPr sz="1700" b="1" i="0">
                <a:solidFill>
                  <a:srgbClr val="20343D"/>
                </a:solidFill>
                <a:latin typeface="Calibri"/>
              </a:rPr>
              <a:t>One Customer</a:t>
            </a:r>
          </a:p>
        </p:txBody>
      </p:sp>
      <p:sp>
        <p:nvSpPr>
          <p:cNvPr id="13" name="TextBox 12"/>
          <p:cNvSpPr txBox="1"/>
          <p:nvPr/>
        </p:nvSpPr>
        <p:spPr>
          <a:xfrm>
            <a:off x="777240" y="4023360"/>
            <a:ext cx="3063240" cy="1188720"/>
          </a:xfrm>
          <a:prstGeom prst="rect">
            <a:avLst/>
          </a:prstGeom>
          <a:noFill/>
        </p:spPr>
        <p:txBody>
          <a:bodyPr wrap="square" lIns="0" rIns="0" tIns="0" bIns="0" anchor="t">
            <a:spAutoFit/>
          </a:bodyPr>
          <a:lstStyle/>
          <a:p>
            <a:pPr algn="l"/>
            <a:r>
              <a:rPr sz="1400" b="0" i="0">
                <a:solidFill>
                  <a:srgbClr val="20343D"/>
                </a:solidFill>
                <a:latin typeface="Calibri"/>
              </a:rPr>
              <a:t>Nomor WhatsApp milik perusahaan, shared inbox, identity resolution lintas channel, consent tersimpan.</a:t>
            </a:r>
          </a:p>
        </p:txBody>
      </p:sp>
      <p:sp>
        <p:nvSpPr>
          <p:cNvPr id="14" name="TextBox 13"/>
          <p:cNvSpPr txBox="1"/>
          <p:nvPr/>
        </p:nvSpPr>
        <p:spPr>
          <a:xfrm>
            <a:off x="777240" y="5257800"/>
            <a:ext cx="3063240" cy="274320"/>
          </a:xfrm>
          <a:prstGeom prst="rect">
            <a:avLst/>
          </a:prstGeom>
          <a:noFill/>
        </p:spPr>
        <p:txBody>
          <a:bodyPr wrap="square" lIns="0" rIns="0" tIns="0" bIns="0" anchor="t">
            <a:spAutoFit/>
          </a:bodyPr>
          <a:lstStyle/>
          <a:p>
            <a:pPr algn="l"/>
            <a:r>
              <a:rPr sz="1000" b="1" i="0">
                <a:solidFill>
                  <a:srgbClr val="126653"/>
                </a:solidFill>
                <a:latin typeface="Calibri"/>
              </a:rPr>
              <a:t>MENYELESAIKAN</a:t>
            </a:r>
          </a:p>
        </p:txBody>
      </p:sp>
      <p:sp>
        <p:nvSpPr>
          <p:cNvPr id="15" name="TextBox 14"/>
          <p:cNvSpPr txBox="1"/>
          <p:nvPr/>
        </p:nvSpPr>
        <p:spPr>
          <a:xfrm>
            <a:off x="777240" y="5504688"/>
            <a:ext cx="3063240" cy="594360"/>
          </a:xfrm>
          <a:prstGeom prst="rect">
            <a:avLst/>
          </a:prstGeom>
          <a:noFill/>
        </p:spPr>
        <p:txBody>
          <a:bodyPr wrap="square" lIns="0" rIns="0" tIns="0" bIns="0" anchor="t">
            <a:spAutoFit/>
          </a:bodyPr>
          <a:lstStyle/>
          <a:p>
            <a:pPr algn="l"/>
            <a:r>
              <a:rPr sz="1200" b="0" i="0">
                <a:solidFill>
                  <a:srgbClr val="5F6F74"/>
                </a:solidFill>
                <a:latin typeface="Calibri"/>
              </a:rPr>
              <a:t>Data di HP pribadi · customer mengulang informasi</a:t>
            </a:r>
          </a:p>
        </p:txBody>
      </p:sp>
      <p:sp>
        <p:nvSpPr>
          <p:cNvPr id="16" name="Rounded Rectangle 15"/>
          <p:cNvSpPr/>
          <p:nvPr/>
        </p:nvSpPr>
        <p:spPr>
          <a:xfrm>
            <a:off x="4306824" y="3154680"/>
            <a:ext cx="3520440" cy="3017520"/>
          </a:xfrm>
          <a:prstGeom prst="roundRect">
            <a:avLst>
              <a:gd name="adj" fmla="val 8000"/>
            </a:avLst>
          </a:prstGeom>
          <a:solidFill>
            <a:srgbClr val="E9F4EF"/>
          </a:solidFill>
          <a:ln>
            <a:noFill/>
          </a:ln>
        </p:spPr>
        <p:txBody>
          <a:bodyPr rtlCol="0" anchor="ctr"/>
          <a:lstStyle/>
          <a:p/>
        </p:txBody>
      </p:sp>
      <p:sp>
        <p:nvSpPr>
          <p:cNvPr id="17" name="Oval 16"/>
          <p:cNvSpPr/>
          <p:nvPr/>
        </p:nvSpPr>
        <p:spPr>
          <a:xfrm>
            <a:off x="4535424" y="3383280"/>
            <a:ext cx="457200" cy="457200"/>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2</a:t>
            </a:r>
          </a:p>
        </p:txBody>
      </p:sp>
      <p:sp>
        <p:nvSpPr>
          <p:cNvPr id="18" name="TextBox 17"/>
          <p:cNvSpPr txBox="1"/>
          <p:nvPr/>
        </p:nvSpPr>
        <p:spPr>
          <a:xfrm>
            <a:off x="5129784" y="3383280"/>
            <a:ext cx="2560320" cy="457200"/>
          </a:xfrm>
          <a:prstGeom prst="rect">
            <a:avLst/>
          </a:prstGeom>
          <a:noFill/>
        </p:spPr>
        <p:txBody>
          <a:bodyPr wrap="square" lIns="0" rIns="0" tIns="0" bIns="0" anchor="ctr">
            <a:spAutoFit/>
          </a:bodyPr>
          <a:lstStyle/>
          <a:p>
            <a:pPr algn="l"/>
            <a:r>
              <a:rPr sz="1700" b="1" i="0">
                <a:solidFill>
                  <a:srgbClr val="20343D"/>
                </a:solidFill>
                <a:latin typeface="Calibri"/>
              </a:rPr>
              <a:t>One Journey</a:t>
            </a:r>
          </a:p>
        </p:txBody>
      </p:sp>
      <p:sp>
        <p:nvSpPr>
          <p:cNvPr id="19" name="TextBox 18"/>
          <p:cNvSpPr txBox="1"/>
          <p:nvPr/>
        </p:nvSpPr>
        <p:spPr>
          <a:xfrm>
            <a:off x="4535424" y="4023360"/>
            <a:ext cx="3063240" cy="1188720"/>
          </a:xfrm>
          <a:prstGeom prst="rect">
            <a:avLst/>
          </a:prstGeom>
          <a:noFill/>
        </p:spPr>
        <p:txBody>
          <a:bodyPr wrap="square" lIns="0" rIns="0" tIns="0" bIns="0" anchor="t">
            <a:spAutoFit/>
          </a:bodyPr>
          <a:lstStyle/>
          <a:p>
            <a:pPr algn="l"/>
            <a:r>
              <a:rPr sz="1400" b="0" i="0">
                <a:solidFill>
                  <a:srgbClr val="20343D"/>
                </a:solidFill>
                <a:latin typeface="Calibri"/>
              </a:rPr>
              <a:t>Stage standar inquiry → SPK → DO → aftersales, routing otomatis, SLA 15 menit dengan eskalasi, cadence follow-up.</a:t>
            </a:r>
          </a:p>
        </p:txBody>
      </p:sp>
      <p:sp>
        <p:nvSpPr>
          <p:cNvPr id="20" name="TextBox 19"/>
          <p:cNvSpPr txBox="1"/>
          <p:nvPr/>
        </p:nvSpPr>
        <p:spPr>
          <a:xfrm>
            <a:off x="4535424" y="5257800"/>
            <a:ext cx="3063240" cy="274320"/>
          </a:xfrm>
          <a:prstGeom prst="rect">
            <a:avLst/>
          </a:prstGeom>
          <a:noFill/>
        </p:spPr>
        <p:txBody>
          <a:bodyPr wrap="square" lIns="0" rIns="0" tIns="0" bIns="0" anchor="t">
            <a:spAutoFit/>
          </a:bodyPr>
          <a:lstStyle/>
          <a:p>
            <a:pPr algn="l"/>
            <a:r>
              <a:rPr sz="1000" b="1" i="0">
                <a:solidFill>
                  <a:srgbClr val="126653"/>
                </a:solidFill>
                <a:latin typeface="Calibri"/>
              </a:rPr>
              <a:t>MENYELESAIKAN</a:t>
            </a:r>
          </a:p>
        </p:txBody>
      </p:sp>
      <p:sp>
        <p:nvSpPr>
          <p:cNvPr id="21" name="TextBox 20"/>
          <p:cNvSpPr txBox="1"/>
          <p:nvPr/>
        </p:nvSpPr>
        <p:spPr>
          <a:xfrm>
            <a:off x="4535424" y="5504688"/>
            <a:ext cx="3063240" cy="594360"/>
          </a:xfrm>
          <a:prstGeom prst="rect">
            <a:avLst/>
          </a:prstGeom>
          <a:noFill/>
        </p:spPr>
        <p:txBody>
          <a:bodyPr wrap="square" lIns="0" rIns="0" tIns="0" bIns="0" anchor="t">
            <a:spAutoFit/>
          </a:bodyPr>
          <a:lstStyle/>
          <a:p>
            <a:pPr algn="l"/>
            <a:r>
              <a:rPr sz="1200" b="0" i="0">
                <a:solidFill>
                  <a:srgbClr val="5F6F74"/>
                </a:solidFill>
                <a:latin typeface="Calibri"/>
              </a:rPr>
              <a:t>30% inquiry terlambat · tidak ada standar follow-up</a:t>
            </a:r>
          </a:p>
        </p:txBody>
      </p:sp>
      <p:sp>
        <p:nvSpPr>
          <p:cNvPr id="22" name="Rounded Rectangle 21"/>
          <p:cNvSpPr/>
          <p:nvPr/>
        </p:nvSpPr>
        <p:spPr>
          <a:xfrm>
            <a:off x="8065008" y="3154680"/>
            <a:ext cx="3520440" cy="3017520"/>
          </a:xfrm>
          <a:prstGeom prst="roundRect">
            <a:avLst>
              <a:gd name="adj" fmla="val 8000"/>
            </a:avLst>
          </a:prstGeom>
          <a:solidFill>
            <a:srgbClr val="E9F4EF"/>
          </a:solidFill>
          <a:ln>
            <a:noFill/>
          </a:ln>
        </p:spPr>
        <p:txBody>
          <a:bodyPr rtlCol="0" anchor="ctr"/>
          <a:lstStyle/>
          <a:p/>
        </p:txBody>
      </p:sp>
      <p:sp>
        <p:nvSpPr>
          <p:cNvPr id="23" name="Oval 22"/>
          <p:cNvSpPr/>
          <p:nvPr/>
        </p:nvSpPr>
        <p:spPr>
          <a:xfrm>
            <a:off x="8293608" y="3383280"/>
            <a:ext cx="457200" cy="457200"/>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3</a:t>
            </a:r>
          </a:p>
        </p:txBody>
      </p:sp>
      <p:sp>
        <p:nvSpPr>
          <p:cNvPr id="24" name="TextBox 23"/>
          <p:cNvSpPr txBox="1"/>
          <p:nvPr/>
        </p:nvSpPr>
        <p:spPr>
          <a:xfrm>
            <a:off x="8887968" y="3383280"/>
            <a:ext cx="2560320" cy="457200"/>
          </a:xfrm>
          <a:prstGeom prst="rect">
            <a:avLst/>
          </a:prstGeom>
          <a:noFill/>
        </p:spPr>
        <p:txBody>
          <a:bodyPr wrap="square" lIns="0" rIns="0" tIns="0" bIns="0" anchor="ctr">
            <a:spAutoFit/>
          </a:bodyPr>
          <a:lstStyle/>
          <a:p>
            <a:pPr algn="l"/>
            <a:r>
              <a:rPr sz="1700" b="1" i="0">
                <a:solidFill>
                  <a:srgbClr val="20343D"/>
                </a:solidFill>
                <a:latin typeface="Calibri"/>
              </a:rPr>
              <a:t>Every Channel, One Truth</a:t>
            </a:r>
          </a:p>
        </p:txBody>
      </p:sp>
      <p:sp>
        <p:nvSpPr>
          <p:cNvPr id="25" name="TextBox 24"/>
          <p:cNvSpPr txBox="1"/>
          <p:nvPr/>
        </p:nvSpPr>
        <p:spPr>
          <a:xfrm>
            <a:off x="8293608" y="4023360"/>
            <a:ext cx="3063240" cy="1188720"/>
          </a:xfrm>
          <a:prstGeom prst="rect">
            <a:avLst/>
          </a:prstGeom>
          <a:noFill/>
        </p:spPr>
        <p:txBody>
          <a:bodyPr wrap="square" lIns="0" rIns="0" tIns="0" bIns="0" anchor="t">
            <a:spAutoFit/>
          </a:bodyPr>
          <a:lstStyle/>
          <a:p>
            <a:pPr algn="l"/>
            <a:r>
              <a:rPr sz="1400" b="0" i="0">
                <a:solidFill>
                  <a:srgbClr val="20343D"/>
                </a:solidFill>
                <a:latin typeface="Calibri"/>
              </a:rPr>
              <a:t>Event dari MS SQL menghentikan prospecting saat membeli; reporting mart `rpt` untuk dashboard.</a:t>
            </a:r>
          </a:p>
        </p:txBody>
      </p:sp>
      <p:sp>
        <p:nvSpPr>
          <p:cNvPr id="26" name="TextBox 25"/>
          <p:cNvSpPr txBox="1"/>
          <p:nvPr/>
        </p:nvSpPr>
        <p:spPr>
          <a:xfrm>
            <a:off x="8293608" y="5257800"/>
            <a:ext cx="3063240" cy="274320"/>
          </a:xfrm>
          <a:prstGeom prst="rect">
            <a:avLst/>
          </a:prstGeom>
          <a:noFill/>
        </p:spPr>
        <p:txBody>
          <a:bodyPr wrap="square" lIns="0" rIns="0" tIns="0" bIns="0" anchor="t">
            <a:spAutoFit/>
          </a:bodyPr>
          <a:lstStyle/>
          <a:p>
            <a:pPr algn="l"/>
            <a:r>
              <a:rPr sz="1000" b="1" i="0">
                <a:solidFill>
                  <a:srgbClr val="126653"/>
                </a:solidFill>
                <a:latin typeface="Calibri"/>
              </a:rPr>
              <a:t>MENYELESAIKAN</a:t>
            </a:r>
          </a:p>
        </p:txBody>
      </p:sp>
      <p:sp>
        <p:nvSpPr>
          <p:cNvPr id="27" name="TextBox 26"/>
          <p:cNvSpPr txBox="1"/>
          <p:nvPr/>
        </p:nvSpPr>
        <p:spPr>
          <a:xfrm>
            <a:off x="8293608" y="5504688"/>
            <a:ext cx="3063240" cy="594360"/>
          </a:xfrm>
          <a:prstGeom prst="rect">
            <a:avLst/>
          </a:prstGeom>
          <a:noFill/>
        </p:spPr>
        <p:txBody>
          <a:bodyPr wrap="square" lIns="0" rIns="0" tIns="0" bIns="0" anchor="t">
            <a:spAutoFit/>
          </a:bodyPr>
          <a:lstStyle/>
          <a:p>
            <a:pPr algn="l"/>
            <a:r>
              <a:rPr sz="1200" b="0" i="0">
                <a:solidFill>
                  <a:srgbClr val="5F6F74"/>
                </a:solidFill>
                <a:latin typeface="Calibri"/>
              </a:rPr>
              <a:t>Management tidak melihat status · pembeli tetap menerima prospecting · broadcast manual</a:t>
            </a:r>
          </a:p>
        </p:txBody>
      </p:sp>
      <p:sp>
        <p:nvSpPr>
          <p:cNvPr id="28" name="TextBox 2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29" name="TextBox 2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TARGET OUTCOME PILOT 12 MINGGU</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Keberhasilan diukur, bukan diasumsikan</a:t>
            </a:r>
          </a:p>
        </p:txBody>
      </p:sp>
      <p:sp>
        <p:nvSpPr>
          <p:cNvPr id="4" name="Rounded Rectangle 3"/>
          <p:cNvSpPr/>
          <p:nvPr/>
        </p:nvSpPr>
        <p:spPr>
          <a:xfrm>
            <a:off x="548640" y="160020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5" name="TextBox 4"/>
          <p:cNvSpPr txBox="1"/>
          <p:nvPr/>
        </p:nvSpPr>
        <p:spPr>
          <a:xfrm>
            <a:off x="822959" y="1828800"/>
            <a:ext cx="3017520" cy="777240"/>
          </a:xfrm>
          <a:prstGeom prst="rect">
            <a:avLst/>
          </a:prstGeom>
          <a:noFill/>
        </p:spPr>
        <p:txBody>
          <a:bodyPr wrap="square" lIns="0" rIns="0" tIns="0" bIns="0" anchor="t">
            <a:spAutoFit/>
          </a:bodyPr>
          <a:lstStyle/>
          <a:p>
            <a:pPr algn="l"/>
            <a:r>
              <a:rPr sz="4400" b="1" i="0">
                <a:solidFill>
                  <a:srgbClr val="177F6C"/>
                </a:solidFill>
                <a:latin typeface="Calibri"/>
              </a:rPr>
              <a:t>≥90%</a:t>
            </a:r>
          </a:p>
        </p:txBody>
      </p:sp>
      <p:sp>
        <p:nvSpPr>
          <p:cNvPr id="6" name="TextBox 5"/>
          <p:cNvSpPr txBox="1"/>
          <p:nvPr/>
        </p:nvSpPr>
        <p:spPr>
          <a:xfrm>
            <a:off x="822959" y="2624328"/>
            <a:ext cx="3017520" cy="594360"/>
          </a:xfrm>
          <a:prstGeom prst="rect">
            <a:avLst/>
          </a:prstGeom>
          <a:noFill/>
        </p:spPr>
        <p:txBody>
          <a:bodyPr wrap="square" lIns="0" rIns="0" tIns="0" bIns="0" anchor="t">
            <a:spAutoFit/>
          </a:bodyPr>
          <a:lstStyle/>
          <a:p>
            <a:pPr algn="l"/>
            <a:r>
              <a:rPr sz="1500" b="1" i="0">
                <a:solidFill>
                  <a:srgbClr val="20343D"/>
                </a:solidFill>
                <a:latin typeface="Calibri"/>
              </a:rPr>
              <a:t>inquiry mendapat respons manusia ≤15 menit</a:t>
            </a:r>
          </a:p>
        </p:txBody>
      </p:sp>
      <p:sp>
        <p:nvSpPr>
          <p:cNvPr id="7" name="TextBox 6"/>
          <p:cNvSpPr txBox="1"/>
          <p:nvPr/>
        </p:nvSpPr>
        <p:spPr>
          <a:xfrm>
            <a:off x="822959" y="3246120"/>
            <a:ext cx="3017520" cy="274320"/>
          </a:xfrm>
          <a:prstGeom prst="rect">
            <a:avLst/>
          </a:prstGeom>
          <a:noFill/>
        </p:spPr>
        <p:txBody>
          <a:bodyPr wrap="square" lIns="0" rIns="0" tIns="0" bIns="0" anchor="t">
            <a:spAutoFit/>
          </a:bodyPr>
          <a:lstStyle/>
          <a:p>
            <a:pPr algn="l"/>
            <a:r>
              <a:rPr sz="1200" b="0" i="0">
                <a:solidFill>
                  <a:srgbClr val="5F6F74"/>
                </a:solidFill>
                <a:latin typeface="Calibri"/>
              </a:rPr>
              <a:t>Baseline skenario: ±70%</a:t>
            </a:r>
          </a:p>
        </p:txBody>
      </p:sp>
      <p:sp>
        <p:nvSpPr>
          <p:cNvPr id="8" name="Rounded Rectangle 7"/>
          <p:cNvSpPr/>
          <p:nvPr/>
        </p:nvSpPr>
        <p:spPr>
          <a:xfrm>
            <a:off x="4306824" y="160020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9" name="TextBox 8"/>
          <p:cNvSpPr txBox="1"/>
          <p:nvPr/>
        </p:nvSpPr>
        <p:spPr>
          <a:xfrm>
            <a:off x="4581144" y="1828800"/>
            <a:ext cx="3017520" cy="777240"/>
          </a:xfrm>
          <a:prstGeom prst="rect">
            <a:avLst/>
          </a:prstGeom>
          <a:noFill/>
        </p:spPr>
        <p:txBody>
          <a:bodyPr wrap="square" lIns="0" rIns="0" tIns="0" bIns="0" anchor="t">
            <a:spAutoFit/>
          </a:bodyPr>
          <a:lstStyle/>
          <a:p>
            <a:pPr algn="l"/>
            <a:r>
              <a:rPr sz="4400" b="1" i="0">
                <a:solidFill>
                  <a:srgbClr val="177F6C"/>
                </a:solidFill>
                <a:latin typeface="Calibri"/>
              </a:rPr>
              <a:t>&lt;5%</a:t>
            </a:r>
          </a:p>
        </p:txBody>
      </p:sp>
      <p:sp>
        <p:nvSpPr>
          <p:cNvPr id="10" name="TextBox 9"/>
          <p:cNvSpPr txBox="1"/>
          <p:nvPr/>
        </p:nvSpPr>
        <p:spPr>
          <a:xfrm>
            <a:off x="4581144" y="2624328"/>
            <a:ext cx="3017520" cy="594360"/>
          </a:xfrm>
          <a:prstGeom prst="rect">
            <a:avLst/>
          </a:prstGeom>
          <a:noFill/>
        </p:spPr>
        <p:txBody>
          <a:bodyPr wrap="square" lIns="0" rIns="0" tIns="0" bIns="0" anchor="t">
            <a:spAutoFit/>
          </a:bodyPr>
          <a:lstStyle/>
          <a:p>
            <a:pPr algn="l"/>
            <a:r>
              <a:rPr sz="1500" b="1" i="0">
                <a:solidFill>
                  <a:srgbClr val="20343D"/>
                </a:solidFill>
                <a:latin typeface="Calibri"/>
              </a:rPr>
              <a:t>customer mengulang informasi saat pindah channel</a:t>
            </a:r>
          </a:p>
        </p:txBody>
      </p:sp>
      <p:sp>
        <p:nvSpPr>
          <p:cNvPr id="11" name="TextBox 10"/>
          <p:cNvSpPr txBox="1"/>
          <p:nvPr/>
        </p:nvSpPr>
        <p:spPr>
          <a:xfrm>
            <a:off x="4581144" y="3246120"/>
            <a:ext cx="3017520" cy="274320"/>
          </a:xfrm>
          <a:prstGeom prst="rect">
            <a:avLst/>
          </a:prstGeom>
          <a:noFill/>
        </p:spPr>
        <p:txBody>
          <a:bodyPr wrap="square" lIns="0" rIns="0" tIns="0" bIns="0" anchor="t">
            <a:spAutoFit/>
          </a:bodyPr>
          <a:lstStyle/>
          <a:p>
            <a:pPr algn="l"/>
            <a:r>
              <a:rPr sz="1200" b="0" i="0">
                <a:solidFill>
                  <a:srgbClr val="5F6F74"/>
                </a:solidFill>
                <a:latin typeface="Calibri"/>
              </a:rPr>
              <a:t>Baseline skenario: ±20%</a:t>
            </a:r>
          </a:p>
        </p:txBody>
      </p:sp>
      <p:sp>
        <p:nvSpPr>
          <p:cNvPr id="12" name="Rounded Rectangle 11"/>
          <p:cNvSpPr/>
          <p:nvPr/>
        </p:nvSpPr>
        <p:spPr>
          <a:xfrm>
            <a:off x="8065008" y="160020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13" name="TextBox 12"/>
          <p:cNvSpPr txBox="1"/>
          <p:nvPr/>
        </p:nvSpPr>
        <p:spPr>
          <a:xfrm>
            <a:off x="8339328" y="1828800"/>
            <a:ext cx="3017520" cy="777240"/>
          </a:xfrm>
          <a:prstGeom prst="rect">
            <a:avLst/>
          </a:prstGeom>
          <a:noFill/>
        </p:spPr>
        <p:txBody>
          <a:bodyPr wrap="square" lIns="0" rIns="0" tIns="0" bIns="0" anchor="t">
            <a:spAutoFit/>
          </a:bodyPr>
          <a:lstStyle/>
          <a:p>
            <a:pPr algn="l"/>
            <a:r>
              <a:rPr sz="4400" b="1" i="0">
                <a:solidFill>
                  <a:srgbClr val="177F6C"/>
                </a:solidFill>
                <a:latin typeface="Calibri"/>
              </a:rPr>
              <a:t>100%</a:t>
            </a:r>
          </a:p>
        </p:txBody>
      </p:sp>
      <p:sp>
        <p:nvSpPr>
          <p:cNvPr id="14" name="TextBox 13"/>
          <p:cNvSpPr txBox="1"/>
          <p:nvPr/>
        </p:nvSpPr>
        <p:spPr>
          <a:xfrm>
            <a:off x="8339328" y="2624328"/>
            <a:ext cx="3017520" cy="594360"/>
          </a:xfrm>
          <a:prstGeom prst="rect">
            <a:avLst/>
          </a:prstGeom>
          <a:noFill/>
        </p:spPr>
        <p:txBody>
          <a:bodyPr wrap="square" lIns="0" rIns="0" tIns="0" bIns="0" anchor="t">
            <a:spAutoFit/>
          </a:bodyPr>
          <a:lstStyle/>
          <a:p>
            <a:pPr algn="l"/>
            <a:r>
              <a:rPr sz="1500" b="1" i="0">
                <a:solidFill>
                  <a:srgbClr val="20343D"/>
                </a:solidFill>
                <a:latin typeface="Calibri"/>
              </a:rPr>
              <a:t>lead tercatat di CRM, 0 hanya di HP pribadi</a:t>
            </a:r>
          </a:p>
        </p:txBody>
      </p:sp>
      <p:sp>
        <p:nvSpPr>
          <p:cNvPr id="15" name="TextBox 14"/>
          <p:cNvSpPr txBox="1"/>
          <p:nvPr/>
        </p:nvSpPr>
        <p:spPr>
          <a:xfrm>
            <a:off x="8339328" y="3246120"/>
            <a:ext cx="3017520" cy="274320"/>
          </a:xfrm>
          <a:prstGeom prst="rect">
            <a:avLst/>
          </a:prstGeom>
          <a:noFill/>
        </p:spPr>
        <p:txBody>
          <a:bodyPr wrap="square" lIns="0" rIns="0" tIns="0" bIns="0" anchor="t">
            <a:spAutoFit/>
          </a:bodyPr>
          <a:lstStyle/>
          <a:p>
            <a:pPr algn="l"/>
            <a:r>
              <a:rPr sz="1200" b="0" i="0">
                <a:solidFill>
                  <a:srgbClr val="5F6F74"/>
                </a:solidFill>
                <a:latin typeface="Calibri"/>
              </a:rPr>
              <a:t>Baseline: diukur saat discovery</a:t>
            </a:r>
          </a:p>
        </p:txBody>
      </p:sp>
      <p:sp>
        <p:nvSpPr>
          <p:cNvPr id="16" name="Rounded Rectangle 15"/>
          <p:cNvSpPr/>
          <p:nvPr/>
        </p:nvSpPr>
        <p:spPr>
          <a:xfrm>
            <a:off x="548640" y="393192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17" name="TextBox 16"/>
          <p:cNvSpPr txBox="1"/>
          <p:nvPr/>
        </p:nvSpPr>
        <p:spPr>
          <a:xfrm>
            <a:off x="822959" y="4160520"/>
            <a:ext cx="3017520" cy="777240"/>
          </a:xfrm>
          <a:prstGeom prst="rect">
            <a:avLst/>
          </a:prstGeom>
          <a:noFill/>
        </p:spPr>
        <p:txBody>
          <a:bodyPr wrap="square" lIns="0" rIns="0" tIns="0" bIns="0" anchor="t">
            <a:spAutoFit/>
          </a:bodyPr>
          <a:lstStyle/>
          <a:p>
            <a:pPr algn="l"/>
            <a:r>
              <a:rPr sz="4400" b="1" i="0">
                <a:solidFill>
                  <a:srgbClr val="177F6C"/>
                </a:solidFill>
                <a:latin typeface="Calibri"/>
              </a:rPr>
              <a:t>0</a:t>
            </a:r>
          </a:p>
        </p:txBody>
      </p:sp>
      <p:sp>
        <p:nvSpPr>
          <p:cNvPr id="18" name="TextBox 17"/>
          <p:cNvSpPr txBox="1"/>
          <p:nvPr/>
        </p:nvSpPr>
        <p:spPr>
          <a:xfrm>
            <a:off x="822959" y="4956048"/>
            <a:ext cx="3017520" cy="594360"/>
          </a:xfrm>
          <a:prstGeom prst="rect">
            <a:avLst/>
          </a:prstGeom>
          <a:noFill/>
        </p:spPr>
        <p:txBody>
          <a:bodyPr wrap="square" lIns="0" rIns="0" tIns="0" bIns="0" anchor="t">
            <a:spAutoFit/>
          </a:bodyPr>
          <a:lstStyle/>
          <a:p>
            <a:pPr algn="l"/>
            <a:r>
              <a:rPr sz="1500" b="1" i="0">
                <a:solidFill>
                  <a:srgbClr val="20343D"/>
                </a:solidFill>
                <a:latin typeface="Calibri"/>
              </a:rPr>
              <a:t>pembeli (SPK/DO) menerima pesan prospecting</a:t>
            </a:r>
          </a:p>
        </p:txBody>
      </p:sp>
      <p:sp>
        <p:nvSpPr>
          <p:cNvPr id="19" name="TextBox 18"/>
          <p:cNvSpPr txBox="1"/>
          <p:nvPr/>
        </p:nvSpPr>
        <p:spPr>
          <a:xfrm>
            <a:off x="822959" y="5577840"/>
            <a:ext cx="3017520" cy="274320"/>
          </a:xfrm>
          <a:prstGeom prst="rect">
            <a:avLst/>
          </a:prstGeom>
          <a:noFill/>
        </p:spPr>
        <p:txBody>
          <a:bodyPr wrap="square" lIns="0" rIns="0" tIns="0" bIns="0" anchor="t">
            <a:spAutoFit/>
          </a:bodyPr>
          <a:lstStyle/>
          <a:p>
            <a:pPr algn="l"/>
            <a:r>
              <a:rPr sz="1200" b="0" i="0">
                <a:solidFill>
                  <a:srgbClr val="5F6F74"/>
                </a:solidFill>
                <a:latin typeface="Calibri"/>
              </a:rPr>
              <a:t>Diblok otomatis saat kirim</a:t>
            </a:r>
          </a:p>
        </p:txBody>
      </p:sp>
      <p:sp>
        <p:nvSpPr>
          <p:cNvPr id="20" name="Rounded Rectangle 19"/>
          <p:cNvSpPr/>
          <p:nvPr/>
        </p:nvSpPr>
        <p:spPr>
          <a:xfrm>
            <a:off x="4306824" y="393192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21" name="TextBox 20"/>
          <p:cNvSpPr txBox="1"/>
          <p:nvPr/>
        </p:nvSpPr>
        <p:spPr>
          <a:xfrm>
            <a:off x="4581144" y="4160520"/>
            <a:ext cx="3017520" cy="777240"/>
          </a:xfrm>
          <a:prstGeom prst="rect">
            <a:avLst/>
          </a:prstGeom>
          <a:noFill/>
        </p:spPr>
        <p:txBody>
          <a:bodyPr wrap="square" lIns="0" rIns="0" tIns="0" bIns="0" anchor="t">
            <a:spAutoFit/>
          </a:bodyPr>
          <a:lstStyle/>
          <a:p>
            <a:pPr algn="l"/>
            <a:r>
              <a:rPr sz="4400" b="1" i="0">
                <a:solidFill>
                  <a:srgbClr val="177F6C"/>
                </a:solidFill>
                <a:latin typeface="Calibri"/>
              </a:rPr>
              <a:t>≤15 mnt</a:t>
            </a:r>
          </a:p>
        </p:txBody>
      </p:sp>
      <p:sp>
        <p:nvSpPr>
          <p:cNvPr id="22" name="TextBox 21"/>
          <p:cNvSpPr txBox="1"/>
          <p:nvPr/>
        </p:nvSpPr>
        <p:spPr>
          <a:xfrm>
            <a:off x="4581144" y="4956048"/>
            <a:ext cx="3017520" cy="594360"/>
          </a:xfrm>
          <a:prstGeom prst="rect">
            <a:avLst/>
          </a:prstGeom>
          <a:noFill/>
        </p:spPr>
        <p:txBody>
          <a:bodyPr wrap="square" lIns="0" rIns="0" tIns="0" bIns="0" anchor="t">
            <a:spAutoFit/>
          </a:bodyPr>
          <a:lstStyle/>
          <a:p>
            <a:pPr algn="l"/>
            <a:r>
              <a:rPr sz="1500" b="1" i="0">
                <a:solidFill>
                  <a:srgbClr val="20343D"/>
                </a:solidFill>
                <a:latin typeface="Calibri"/>
              </a:rPr>
              <a:t>freshness dashboard prospect &amp; penjualan</a:t>
            </a:r>
          </a:p>
        </p:txBody>
      </p:sp>
      <p:sp>
        <p:nvSpPr>
          <p:cNvPr id="23" name="TextBox 22"/>
          <p:cNvSpPr txBox="1"/>
          <p:nvPr/>
        </p:nvSpPr>
        <p:spPr>
          <a:xfrm>
            <a:off x="4581144" y="5577840"/>
            <a:ext cx="3017520" cy="274320"/>
          </a:xfrm>
          <a:prstGeom prst="rect">
            <a:avLst/>
          </a:prstGeom>
          <a:noFill/>
        </p:spPr>
        <p:txBody>
          <a:bodyPr wrap="square" lIns="0" rIns="0" tIns="0" bIns="0" anchor="t">
            <a:spAutoFit/>
          </a:bodyPr>
          <a:lstStyle/>
          <a:p>
            <a:pPr algn="l"/>
            <a:r>
              <a:rPr sz="1200" b="0" i="0">
                <a:solidFill>
                  <a:srgbClr val="5F6F74"/>
                </a:solidFill>
                <a:latin typeface="Calibri"/>
              </a:rPr>
              <a:t>Baseline: manual / tidak ada</a:t>
            </a:r>
          </a:p>
        </p:txBody>
      </p:sp>
      <p:sp>
        <p:nvSpPr>
          <p:cNvPr id="24" name="Rounded Rectangle 23"/>
          <p:cNvSpPr/>
          <p:nvPr/>
        </p:nvSpPr>
        <p:spPr>
          <a:xfrm>
            <a:off x="8065008" y="3931920"/>
            <a:ext cx="3520440" cy="2103120"/>
          </a:xfrm>
          <a:prstGeom prst="roundRect">
            <a:avLst>
              <a:gd name="adj" fmla="val 8000"/>
            </a:avLst>
          </a:prstGeom>
          <a:solidFill>
            <a:srgbClr val="FFFFFF"/>
          </a:solidFill>
          <a:ln w="12700">
            <a:solidFill>
              <a:srgbClr val="E7EBE9"/>
            </a:solidFill>
          </a:ln>
        </p:spPr>
        <p:txBody>
          <a:bodyPr rtlCol="0" anchor="ctr"/>
          <a:lstStyle/>
          <a:p/>
        </p:txBody>
      </p:sp>
      <p:sp>
        <p:nvSpPr>
          <p:cNvPr id="25" name="TextBox 24"/>
          <p:cNvSpPr txBox="1"/>
          <p:nvPr/>
        </p:nvSpPr>
        <p:spPr>
          <a:xfrm>
            <a:off x="8339328" y="4160520"/>
            <a:ext cx="3017520" cy="777240"/>
          </a:xfrm>
          <a:prstGeom prst="rect">
            <a:avLst/>
          </a:prstGeom>
          <a:noFill/>
        </p:spPr>
        <p:txBody>
          <a:bodyPr wrap="square" lIns="0" rIns="0" tIns="0" bIns="0" anchor="t">
            <a:spAutoFit/>
          </a:bodyPr>
          <a:lstStyle/>
          <a:p>
            <a:pPr algn="l"/>
            <a:r>
              <a:rPr sz="4400" b="1" i="0">
                <a:solidFill>
                  <a:srgbClr val="177F6C"/>
                </a:solidFill>
                <a:latin typeface="Calibri"/>
              </a:rPr>
              <a:t>↑</a:t>
            </a:r>
          </a:p>
        </p:txBody>
      </p:sp>
      <p:sp>
        <p:nvSpPr>
          <p:cNvPr id="26" name="TextBox 25"/>
          <p:cNvSpPr txBox="1"/>
          <p:nvPr/>
        </p:nvSpPr>
        <p:spPr>
          <a:xfrm>
            <a:off x="8339328" y="4956048"/>
            <a:ext cx="3017520" cy="594360"/>
          </a:xfrm>
          <a:prstGeom prst="rect">
            <a:avLst/>
          </a:prstGeom>
          <a:noFill/>
        </p:spPr>
        <p:txBody>
          <a:bodyPr wrap="square" lIns="0" rIns="0" tIns="0" bIns="0" anchor="t">
            <a:spAutoFit/>
          </a:bodyPr>
          <a:lstStyle/>
          <a:p>
            <a:pPr algn="l"/>
            <a:r>
              <a:rPr sz="1500" b="1" i="0">
                <a:solidFill>
                  <a:srgbClr val="20343D"/>
                </a:solidFill>
                <a:latin typeface="Calibri"/>
              </a:rPr>
              <a:t>konversi lead → SPK dibanding baseline</a:t>
            </a:r>
          </a:p>
        </p:txBody>
      </p:sp>
      <p:sp>
        <p:nvSpPr>
          <p:cNvPr id="27" name="TextBox 26"/>
          <p:cNvSpPr txBox="1"/>
          <p:nvPr/>
        </p:nvSpPr>
        <p:spPr>
          <a:xfrm>
            <a:off x="8339328" y="5577840"/>
            <a:ext cx="3017520" cy="274320"/>
          </a:xfrm>
          <a:prstGeom prst="rect">
            <a:avLst/>
          </a:prstGeom>
          <a:noFill/>
        </p:spPr>
        <p:txBody>
          <a:bodyPr wrap="square" lIns="0" rIns="0" tIns="0" bIns="0" anchor="t">
            <a:spAutoFit/>
          </a:bodyPr>
          <a:lstStyle/>
          <a:p>
            <a:pPr algn="l"/>
            <a:r>
              <a:rPr sz="1200" b="0" i="0">
                <a:solidFill>
                  <a:srgbClr val="5F6F74"/>
                </a:solidFill>
                <a:latin typeface="Calibri"/>
              </a:rPr>
              <a:t>Angka target ditetapkan setelah baseline</a:t>
            </a:r>
          </a:p>
        </p:txBody>
      </p:sp>
      <p:sp>
        <p:nvSpPr>
          <p:cNvPr id="28" name="TextBox 2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29" name="TextBox 2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1 · PROBLEM DIAGNOSIS</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Tujuh gejala, satu pola: WhatsApp dipakai sebagai chat pribadi</a:t>
            </a:r>
          </a:p>
        </p:txBody>
      </p:sp>
      <p:sp>
        <p:nvSpPr>
          <p:cNvPr id="4" name="Rounded Rectangle 3"/>
          <p:cNvSpPr/>
          <p:nvPr/>
        </p:nvSpPr>
        <p:spPr>
          <a:xfrm>
            <a:off x="548640" y="1554480"/>
            <a:ext cx="3520440" cy="1874519"/>
          </a:xfrm>
          <a:prstGeom prst="roundRect">
            <a:avLst>
              <a:gd name="adj" fmla="val 8000"/>
            </a:avLst>
          </a:prstGeom>
          <a:solidFill>
            <a:srgbClr val="152D36"/>
          </a:solidFill>
          <a:ln>
            <a:noFill/>
          </a:ln>
        </p:spPr>
        <p:txBody>
          <a:bodyPr rtlCol="0" anchor="ctr"/>
          <a:lstStyle/>
          <a:p/>
        </p:txBody>
      </p:sp>
      <p:sp>
        <p:nvSpPr>
          <p:cNvPr id="5" name="TextBox 4"/>
          <p:cNvSpPr txBox="1"/>
          <p:nvPr/>
        </p:nvSpPr>
        <p:spPr>
          <a:xfrm>
            <a:off x="822959" y="1719072"/>
            <a:ext cx="3017520" cy="868680"/>
          </a:xfrm>
          <a:prstGeom prst="rect">
            <a:avLst/>
          </a:prstGeom>
          <a:noFill/>
        </p:spPr>
        <p:txBody>
          <a:bodyPr wrap="square" lIns="0" rIns="0" tIns="0" bIns="0" anchor="t">
            <a:spAutoFit/>
          </a:bodyPr>
          <a:lstStyle/>
          <a:p>
            <a:pPr algn="l"/>
            <a:r>
              <a:rPr sz="5400" b="1" i="0">
                <a:solidFill>
                  <a:srgbClr val="A8D3B5"/>
                </a:solidFill>
                <a:latin typeface="Calibri"/>
              </a:rPr>
              <a:t>10.000</a:t>
            </a:r>
          </a:p>
        </p:txBody>
      </p:sp>
      <p:sp>
        <p:nvSpPr>
          <p:cNvPr id="6" name="TextBox 5"/>
          <p:cNvSpPr txBox="1"/>
          <p:nvPr/>
        </p:nvSpPr>
        <p:spPr>
          <a:xfrm>
            <a:off x="822959" y="2651760"/>
            <a:ext cx="3017520" cy="640080"/>
          </a:xfrm>
          <a:prstGeom prst="rect">
            <a:avLst/>
          </a:prstGeom>
          <a:noFill/>
        </p:spPr>
        <p:txBody>
          <a:bodyPr wrap="square" lIns="0" rIns="0" tIns="0" bIns="0" anchor="t">
            <a:spAutoFit/>
          </a:bodyPr>
          <a:lstStyle/>
          <a:p>
            <a:pPr algn="l"/>
            <a:r>
              <a:rPr sz="1500" b="0" i="0">
                <a:solidFill>
                  <a:srgbClr val="FFFFFF"/>
                </a:solidFill>
                <a:latin typeface="Calibri"/>
              </a:rPr>
              <a:t>inquiry WhatsApp per bulan</a:t>
            </a:r>
          </a:p>
        </p:txBody>
      </p:sp>
      <p:sp>
        <p:nvSpPr>
          <p:cNvPr id="7" name="Rounded Rectangle 6"/>
          <p:cNvSpPr/>
          <p:nvPr/>
        </p:nvSpPr>
        <p:spPr>
          <a:xfrm>
            <a:off x="4306824" y="1554480"/>
            <a:ext cx="3520440" cy="1874519"/>
          </a:xfrm>
          <a:prstGeom prst="roundRect">
            <a:avLst>
              <a:gd name="adj" fmla="val 8000"/>
            </a:avLst>
          </a:prstGeom>
          <a:solidFill>
            <a:srgbClr val="FBF3E6"/>
          </a:solidFill>
          <a:ln>
            <a:noFill/>
          </a:ln>
        </p:spPr>
        <p:txBody>
          <a:bodyPr rtlCol="0" anchor="ctr"/>
          <a:lstStyle/>
          <a:p/>
        </p:txBody>
      </p:sp>
      <p:sp>
        <p:nvSpPr>
          <p:cNvPr id="8" name="TextBox 7"/>
          <p:cNvSpPr txBox="1"/>
          <p:nvPr/>
        </p:nvSpPr>
        <p:spPr>
          <a:xfrm>
            <a:off x="4581144" y="1719072"/>
            <a:ext cx="3017520" cy="868680"/>
          </a:xfrm>
          <a:prstGeom prst="rect">
            <a:avLst/>
          </a:prstGeom>
          <a:noFill/>
        </p:spPr>
        <p:txBody>
          <a:bodyPr wrap="square" lIns="0" rIns="0" tIns="0" bIns="0" anchor="t">
            <a:spAutoFit/>
          </a:bodyPr>
          <a:lstStyle/>
          <a:p>
            <a:pPr algn="l"/>
            <a:r>
              <a:rPr sz="5400" b="1" i="0">
                <a:solidFill>
                  <a:srgbClr val="B58235"/>
                </a:solidFill>
                <a:latin typeface="Calibri"/>
              </a:rPr>
              <a:t>3.000</a:t>
            </a:r>
          </a:p>
        </p:txBody>
      </p:sp>
      <p:sp>
        <p:nvSpPr>
          <p:cNvPr id="9" name="TextBox 8"/>
          <p:cNvSpPr txBox="1"/>
          <p:nvPr/>
        </p:nvSpPr>
        <p:spPr>
          <a:xfrm>
            <a:off x="4581144" y="2651760"/>
            <a:ext cx="3017520" cy="640080"/>
          </a:xfrm>
          <a:prstGeom prst="rect">
            <a:avLst/>
          </a:prstGeom>
          <a:noFill/>
        </p:spPr>
        <p:txBody>
          <a:bodyPr wrap="square" lIns="0" rIns="0" tIns="0" bIns="0" anchor="t">
            <a:spAutoFit/>
          </a:bodyPr>
          <a:lstStyle/>
          <a:p>
            <a:pPr algn="l"/>
            <a:r>
              <a:rPr sz="1500" b="0" i="0">
                <a:solidFill>
                  <a:srgbClr val="20343D"/>
                </a:solidFill>
                <a:latin typeface="Calibri"/>
              </a:rPr>
              <a:t>inquiry (30%) tidak di-follow-up tepat waktu</a:t>
            </a:r>
          </a:p>
        </p:txBody>
      </p:sp>
      <p:sp>
        <p:nvSpPr>
          <p:cNvPr id="10" name="Rounded Rectangle 9"/>
          <p:cNvSpPr/>
          <p:nvPr/>
        </p:nvSpPr>
        <p:spPr>
          <a:xfrm>
            <a:off x="8065008" y="1554480"/>
            <a:ext cx="3520440" cy="1874519"/>
          </a:xfrm>
          <a:prstGeom prst="roundRect">
            <a:avLst>
              <a:gd name="adj" fmla="val 8000"/>
            </a:avLst>
          </a:prstGeom>
          <a:solidFill>
            <a:srgbClr val="FBF3E6"/>
          </a:solidFill>
          <a:ln>
            <a:noFill/>
          </a:ln>
        </p:spPr>
        <p:txBody>
          <a:bodyPr rtlCol="0" anchor="ctr"/>
          <a:lstStyle/>
          <a:p/>
        </p:txBody>
      </p:sp>
      <p:sp>
        <p:nvSpPr>
          <p:cNvPr id="11" name="TextBox 10"/>
          <p:cNvSpPr txBox="1"/>
          <p:nvPr/>
        </p:nvSpPr>
        <p:spPr>
          <a:xfrm>
            <a:off x="8339328" y="1719072"/>
            <a:ext cx="3017520" cy="868680"/>
          </a:xfrm>
          <a:prstGeom prst="rect">
            <a:avLst/>
          </a:prstGeom>
          <a:noFill/>
        </p:spPr>
        <p:txBody>
          <a:bodyPr wrap="square" lIns="0" rIns="0" tIns="0" bIns="0" anchor="t">
            <a:spAutoFit/>
          </a:bodyPr>
          <a:lstStyle/>
          <a:p>
            <a:pPr algn="l"/>
            <a:r>
              <a:rPr sz="5400" b="1" i="0">
                <a:solidFill>
                  <a:srgbClr val="B58235"/>
                </a:solidFill>
                <a:latin typeface="Calibri"/>
              </a:rPr>
              <a:t>2.000</a:t>
            </a:r>
          </a:p>
        </p:txBody>
      </p:sp>
      <p:sp>
        <p:nvSpPr>
          <p:cNvPr id="12" name="TextBox 11"/>
          <p:cNvSpPr txBox="1"/>
          <p:nvPr/>
        </p:nvSpPr>
        <p:spPr>
          <a:xfrm>
            <a:off x="8339328" y="2651760"/>
            <a:ext cx="3017520" cy="640080"/>
          </a:xfrm>
          <a:prstGeom prst="rect">
            <a:avLst/>
          </a:prstGeom>
          <a:noFill/>
        </p:spPr>
        <p:txBody>
          <a:bodyPr wrap="square" lIns="0" rIns="0" tIns="0" bIns="0" anchor="t">
            <a:spAutoFit/>
          </a:bodyPr>
          <a:lstStyle/>
          <a:p>
            <a:pPr algn="l"/>
            <a:r>
              <a:rPr sz="1500" b="0" i="0">
                <a:solidFill>
                  <a:srgbClr val="20343D"/>
                </a:solidFill>
                <a:latin typeface="Calibri"/>
              </a:rPr>
              <a:t>inquiry (20%) mengulang informasi saat pindah channel</a:t>
            </a:r>
          </a:p>
        </p:txBody>
      </p:sp>
      <p:sp>
        <p:nvSpPr>
          <p:cNvPr id="13" name="Rounded Rectangle 12"/>
          <p:cNvSpPr/>
          <p:nvPr/>
        </p:nvSpPr>
        <p:spPr>
          <a:xfrm>
            <a:off x="548640" y="3703320"/>
            <a:ext cx="2103120" cy="1737360"/>
          </a:xfrm>
          <a:prstGeom prst="roundRect">
            <a:avLst>
              <a:gd name="adj" fmla="val 8000"/>
            </a:avLst>
          </a:prstGeom>
          <a:solidFill>
            <a:srgbClr val="F6F8F6"/>
          </a:solidFill>
          <a:ln>
            <a:noFill/>
          </a:ln>
        </p:spPr>
        <p:txBody>
          <a:bodyPr rtlCol="0" anchor="ctr"/>
          <a:lstStyle/>
          <a:p/>
        </p:txBody>
      </p:sp>
      <p:sp>
        <p:nvSpPr>
          <p:cNvPr id="14" name="Oval 13"/>
          <p:cNvSpPr/>
          <p:nvPr/>
        </p:nvSpPr>
        <p:spPr>
          <a:xfrm>
            <a:off x="731520" y="3886200"/>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3</a:t>
            </a:r>
          </a:p>
        </p:txBody>
      </p:sp>
      <p:sp>
        <p:nvSpPr>
          <p:cNvPr id="15" name="TextBox 14"/>
          <p:cNvSpPr txBox="1"/>
          <p:nvPr/>
        </p:nvSpPr>
        <p:spPr>
          <a:xfrm>
            <a:off x="731520" y="4407408"/>
            <a:ext cx="1783080" cy="960120"/>
          </a:xfrm>
          <a:prstGeom prst="rect">
            <a:avLst/>
          </a:prstGeom>
          <a:noFill/>
        </p:spPr>
        <p:txBody>
          <a:bodyPr wrap="square" lIns="0" rIns="0" tIns="0" bIns="0" anchor="t">
            <a:spAutoFit/>
          </a:bodyPr>
          <a:lstStyle/>
          <a:p>
            <a:pPr algn="l"/>
            <a:r>
              <a:rPr sz="1300" b="0" i="0">
                <a:solidFill>
                  <a:srgbClr val="20343D"/>
                </a:solidFill>
                <a:latin typeface="Calibri"/>
              </a:rPr>
              <a:t>Management tidak melihat status prospect secara real-time</a:t>
            </a:r>
          </a:p>
        </p:txBody>
      </p:sp>
      <p:sp>
        <p:nvSpPr>
          <p:cNvPr id="16" name="Rounded Rectangle 15"/>
          <p:cNvSpPr/>
          <p:nvPr/>
        </p:nvSpPr>
        <p:spPr>
          <a:xfrm>
            <a:off x="2807208" y="3703320"/>
            <a:ext cx="2103120" cy="1737360"/>
          </a:xfrm>
          <a:prstGeom prst="roundRect">
            <a:avLst>
              <a:gd name="adj" fmla="val 8000"/>
            </a:avLst>
          </a:prstGeom>
          <a:solidFill>
            <a:srgbClr val="F6F8F6"/>
          </a:solidFill>
          <a:ln>
            <a:noFill/>
          </a:ln>
        </p:spPr>
        <p:txBody>
          <a:bodyPr rtlCol="0" anchor="ctr"/>
          <a:lstStyle/>
          <a:p/>
        </p:txBody>
      </p:sp>
      <p:sp>
        <p:nvSpPr>
          <p:cNvPr id="17" name="Oval 16"/>
          <p:cNvSpPr/>
          <p:nvPr/>
        </p:nvSpPr>
        <p:spPr>
          <a:xfrm>
            <a:off x="2990088" y="3886200"/>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4</a:t>
            </a:r>
          </a:p>
        </p:txBody>
      </p:sp>
      <p:sp>
        <p:nvSpPr>
          <p:cNvPr id="18" name="TextBox 17"/>
          <p:cNvSpPr txBox="1"/>
          <p:nvPr/>
        </p:nvSpPr>
        <p:spPr>
          <a:xfrm>
            <a:off x="2990088" y="4407408"/>
            <a:ext cx="1783080" cy="960120"/>
          </a:xfrm>
          <a:prstGeom prst="rect">
            <a:avLst/>
          </a:prstGeom>
          <a:noFill/>
        </p:spPr>
        <p:txBody>
          <a:bodyPr wrap="square" lIns="0" rIns="0" tIns="0" bIns="0" anchor="t">
            <a:spAutoFit/>
          </a:bodyPr>
          <a:lstStyle/>
          <a:p>
            <a:pPr algn="l"/>
            <a:r>
              <a:rPr sz="1300" b="0" i="0">
                <a:solidFill>
                  <a:srgbClr val="20343D"/>
                </a:solidFill>
                <a:latin typeface="Calibri"/>
              </a:rPr>
              <a:t>Sebagian sales menyimpan customer hanya di HP pribadi</a:t>
            </a:r>
          </a:p>
        </p:txBody>
      </p:sp>
      <p:sp>
        <p:nvSpPr>
          <p:cNvPr id="19" name="Rounded Rectangle 18"/>
          <p:cNvSpPr/>
          <p:nvPr/>
        </p:nvSpPr>
        <p:spPr>
          <a:xfrm>
            <a:off x="5065776" y="3703320"/>
            <a:ext cx="2103120" cy="1737360"/>
          </a:xfrm>
          <a:prstGeom prst="roundRect">
            <a:avLst>
              <a:gd name="adj" fmla="val 8000"/>
            </a:avLst>
          </a:prstGeom>
          <a:solidFill>
            <a:srgbClr val="F6F8F6"/>
          </a:solidFill>
          <a:ln>
            <a:noFill/>
          </a:ln>
        </p:spPr>
        <p:txBody>
          <a:bodyPr rtlCol="0" anchor="ctr"/>
          <a:lstStyle/>
          <a:p/>
        </p:txBody>
      </p:sp>
      <p:sp>
        <p:nvSpPr>
          <p:cNvPr id="20" name="Oval 19"/>
          <p:cNvSpPr/>
          <p:nvPr/>
        </p:nvSpPr>
        <p:spPr>
          <a:xfrm>
            <a:off x="5248656" y="3886200"/>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5</a:t>
            </a:r>
          </a:p>
        </p:txBody>
      </p:sp>
      <p:sp>
        <p:nvSpPr>
          <p:cNvPr id="21" name="TextBox 20"/>
          <p:cNvSpPr txBox="1"/>
          <p:nvPr/>
        </p:nvSpPr>
        <p:spPr>
          <a:xfrm>
            <a:off x="5248656" y="4407408"/>
            <a:ext cx="1783080" cy="960120"/>
          </a:xfrm>
          <a:prstGeom prst="rect">
            <a:avLst/>
          </a:prstGeom>
          <a:noFill/>
        </p:spPr>
        <p:txBody>
          <a:bodyPr wrap="square" lIns="0" rIns="0" tIns="0" bIns="0" anchor="t">
            <a:spAutoFit/>
          </a:bodyPr>
          <a:lstStyle/>
          <a:p>
            <a:pPr algn="l"/>
            <a:r>
              <a:rPr sz="1300" b="0" i="0">
                <a:solidFill>
                  <a:srgbClr val="20343D"/>
                </a:solidFill>
                <a:latin typeface="Calibri"/>
              </a:rPr>
              <a:t>Tidak ada standard follow-up journey</a:t>
            </a:r>
          </a:p>
        </p:txBody>
      </p:sp>
      <p:sp>
        <p:nvSpPr>
          <p:cNvPr id="22" name="Rounded Rectangle 21"/>
          <p:cNvSpPr/>
          <p:nvPr/>
        </p:nvSpPr>
        <p:spPr>
          <a:xfrm>
            <a:off x="7324344" y="3703320"/>
            <a:ext cx="2103120" cy="1737360"/>
          </a:xfrm>
          <a:prstGeom prst="roundRect">
            <a:avLst>
              <a:gd name="adj" fmla="val 8000"/>
            </a:avLst>
          </a:prstGeom>
          <a:solidFill>
            <a:srgbClr val="F6F8F6"/>
          </a:solidFill>
          <a:ln>
            <a:noFill/>
          </a:ln>
        </p:spPr>
        <p:txBody>
          <a:bodyPr rtlCol="0" anchor="ctr"/>
          <a:lstStyle/>
          <a:p/>
        </p:txBody>
      </p:sp>
      <p:sp>
        <p:nvSpPr>
          <p:cNvPr id="23" name="Oval 22"/>
          <p:cNvSpPr/>
          <p:nvPr/>
        </p:nvSpPr>
        <p:spPr>
          <a:xfrm>
            <a:off x="7507223" y="3886200"/>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6</a:t>
            </a:r>
          </a:p>
        </p:txBody>
      </p:sp>
      <p:sp>
        <p:nvSpPr>
          <p:cNvPr id="24" name="TextBox 23"/>
          <p:cNvSpPr txBox="1"/>
          <p:nvPr/>
        </p:nvSpPr>
        <p:spPr>
          <a:xfrm>
            <a:off x="7507223" y="4407408"/>
            <a:ext cx="1783080" cy="960120"/>
          </a:xfrm>
          <a:prstGeom prst="rect">
            <a:avLst/>
          </a:prstGeom>
          <a:noFill/>
        </p:spPr>
        <p:txBody>
          <a:bodyPr wrap="square" lIns="0" rIns="0" tIns="0" bIns="0" anchor="t">
            <a:spAutoFit/>
          </a:bodyPr>
          <a:lstStyle/>
          <a:p>
            <a:pPr algn="l"/>
            <a:r>
              <a:rPr sz="1300" b="0" i="0">
                <a:solidFill>
                  <a:srgbClr val="20343D"/>
                </a:solidFill>
                <a:latin typeface="Calibri"/>
              </a:rPr>
              <a:t>Broadcast marketing dilakukan manual</a:t>
            </a:r>
          </a:p>
        </p:txBody>
      </p:sp>
      <p:sp>
        <p:nvSpPr>
          <p:cNvPr id="25" name="Rounded Rectangle 24"/>
          <p:cNvSpPr/>
          <p:nvPr/>
        </p:nvSpPr>
        <p:spPr>
          <a:xfrm>
            <a:off x="9582912" y="3703320"/>
            <a:ext cx="2103120" cy="1737360"/>
          </a:xfrm>
          <a:prstGeom prst="roundRect">
            <a:avLst>
              <a:gd name="adj" fmla="val 8000"/>
            </a:avLst>
          </a:prstGeom>
          <a:solidFill>
            <a:srgbClr val="F6F8F6"/>
          </a:solidFill>
          <a:ln>
            <a:noFill/>
          </a:ln>
        </p:spPr>
        <p:txBody>
          <a:bodyPr rtlCol="0" anchor="ctr"/>
          <a:lstStyle/>
          <a:p/>
        </p:txBody>
      </p:sp>
      <p:sp>
        <p:nvSpPr>
          <p:cNvPr id="26" name="Oval 25"/>
          <p:cNvSpPr/>
          <p:nvPr/>
        </p:nvSpPr>
        <p:spPr>
          <a:xfrm>
            <a:off x="9765792" y="3886200"/>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7</a:t>
            </a:r>
          </a:p>
        </p:txBody>
      </p:sp>
      <p:sp>
        <p:nvSpPr>
          <p:cNvPr id="27" name="TextBox 26"/>
          <p:cNvSpPr txBox="1"/>
          <p:nvPr/>
        </p:nvSpPr>
        <p:spPr>
          <a:xfrm>
            <a:off x="9765792" y="4407408"/>
            <a:ext cx="1783080" cy="960120"/>
          </a:xfrm>
          <a:prstGeom prst="rect">
            <a:avLst/>
          </a:prstGeom>
          <a:noFill/>
        </p:spPr>
        <p:txBody>
          <a:bodyPr wrap="square" lIns="0" rIns="0" tIns="0" bIns="0" anchor="t">
            <a:spAutoFit/>
          </a:bodyPr>
          <a:lstStyle/>
          <a:p>
            <a:pPr algn="l"/>
            <a:r>
              <a:rPr sz="1300" b="0" i="0">
                <a:solidFill>
                  <a:srgbClr val="20343D"/>
                </a:solidFill>
                <a:latin typeface="Calibri"/>
              </a:rPr>
              <a:t>Pembeli masih menerima prospecting yang tidak relevan</a:t>
            </a:r>
          </a:p>
        </p:txBody>
      </p:sp>
      <p:sp>
        <p:nvSpPr>
          <p:cNvPr id="28" name="Rounded Rectangle 27"/>
          <p:cNvSpPr/>
          <p:nvPr/>
        </p:nvSpPr>
        <p:spPr>
          <a:xfrm>
            <a:off x="548640" y="5641848"/>
            <a:ext cx="11091672" cy="548640"/>
          </a:xfrm>
          <a:prstGeom prst="roundRect">
            <a:avLst>
              <a:gd name="adj" fmla="val 30000"/>
            </a:avLst>
          </a:prstGeom>
          <a:solidFill>
            <a:srgbClr val="E9F4EF"/>
          </a:solidFill>
          <a:ln>
            <a:noFill/>
          </a:ln>
        </p:spPr>
        <p:txBody>
          <a:bodyPr rtlCol="0" anchor="ctr"/>
          <a:lstStyle/>
          <a:p/>
        </p:txBody>
      </p:sp>
      <p:sp>
        <p:nvSpPr>
          <p:cNvPr id="29" name="TextBox 28"/>
          <p:cNvSpPr txBox="1"/>
          <p:nvPr/>
        </p:nvSpPr>
        <p:spPr>
          <a:xfrm>
            <a:off x="777240" y="5641848"/>
            <a:ext cx="10698480" cy="548640"/>
          </a:xfrm>
          <a:prstGeom prst="rect">
            <a:avLst/>
          </a:prstGeom>
          <a:noFill/>
        </p:spPr>
        <p:txBody>
          <a:bodyPr wrap="square" lIns="0" rIns="0" tIns="0" bIns="0" anchor="ctr">
            <a:spAutoFit/>
          </a:bodyPr>
          <a:lstStyle/>
          <a:p>
            <a:pPr algn="l"/>
            <a:r>
              <a:rPr sz="1500" b="1" i="0">
                <a:solidFill>
                  <a:srgbClr val="126653"/>
                </a:solidFill>
                <a:latin typeface="Calibri"/>
              </a:rPr>
              <a:t>Diagnosis: </a:t>
            </a:r>
            <a:r>
              <a:rPr sz="1500" b="0" i="0">
                <a:solidFill>
                  <a:srgbClr val="20343D"/>
                </a:solidFill>
                <a:latin typeface="Calibri"/>
              </a:rPr>
              <a:t>tidak ada pemilik data, tidak ada proses terukur, dan tidak ada sambungan antara percakapan dengan status penjualan.</a:t>
            </a:r>
          </a:p>
        </p:txBody>
      </p:sp>
      <p:sp>
        <p:nvSpPr>
          <p:cNvPr id="30" name="TextBox 2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31" name="TextBox 3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1 · AKAR MASALAH</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Enam akar masalah di balik tujuh gejala</a:t>
            </a:r>
          </a:p>
        </p:txBody>
      </p:sp>
      <p:sp>
        <p:nvSpPr>
          <p:cNvPr id="4" name="Rounded Rectangle 3"/>
          <p:cNvSpPr/>
          <p:nvPr/>
        </p:nvSpPr>
        <p:spPr>
          <a:xfrm>
            <a:off x="548640" y="1554480"/>
            <a:ext cx="3520440" cy="2194560"/>
          </a:xfrm>
          <a:prstGeom prst="roundRect">
            <a:avLst>
              <a:gd name="adj" fmla="val 8000"/>
            </a:avLst>
          </a:prstGeom>
          <a:solidFill>
            <a:srgbClr val="E9F4EF"/>
          </a:solidFill>
          <a:ln>
            <a:noFill/>
          </a:ln>
        </p:spPr>
        <p:txBody>
          <a:bodyPr rtlCol="0" anchor="ctr"/>
          <a:lstStyle/>
          <a:p/>
        </p:txBody>
      </p:sp>
      <p:sp>
        <p:nvSpPr>
          <p:cNvPr id="5" name="Oval 4"/>
          <p:cNvSpPr/>
          <p:nvPr/>
        </p:nvSpPr>
        <p:spPr>
          <a:xfrm>
            <a:off x="777240" y="1783080"/>
            <a:ext cx="438912" cy="438912"/>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A</a:t>
            </a:r>
          </a:p>
        </p:txBody>
      </p:sp>
      <p:sp>
        <p:nvSpPr>
          <p:cNvPr id="6" name="TextBox 5"/>
          <p:cNvSpPr txBox="1"/>
          <p:nvPr/>
        </p:nvSpPr>
        <p:spPr>
          <a:xfrm>
            <a:off x="1371600" y="1783080"/>
            <a:ext cx="2560320" cy="438912"/>
          </a:xfrm>
          <a:prstGeom prst="rect">
            <a:avLst/>
          </a:prstGeom>
          <a:noFill/>
        </p:spPr>
        <p:txBody>
          <a:bodyPr wrap="square" lIns="0" rIns="0" tIns="0" bIns="0" anchor="ctr">
            <a:spAutoFit/>
          </a:bodyPr>
          <a:lstStyle/>
          <a:p>
            <a:pPr algn="l"/>
            <a:r>
              <a:rPr sz="1600" b="1" i="0">
                <a:solidFill>
                  <a:srgbClr val="20343D"/>
                </a:solidFill>
                <a:latin typeface="Calibri"/>
              </a:rPr>
              <a:t>Tidak ada system of record</a:t>
            </a:r>
          </a:p>
        </p:txBody>
      </p:sp>
      <p:sp>
        <p:nvSpPr>
          <p:cNvPr id="7" name="TextBox 6"/>
          <p:cNvSpPr txBox="1"/>
          <p:nvPr/>
        </p:nvSpPr>
        <p:spPr>
          <a:xfrm>
            <a:off x="777240" y="2377440"/>
            <a:ext cx="3063240" cy="822960"/>
          </a:xfrm>
          <a:prstGeom prst="rect">
            <a:avLst/>
          </a:prstGeom>
          <a:noFill/>
        </p:spPr>
        <p:txBody>
          <a:bodyPr wrap="square" lIns="0" rIns="0" tIns="0" bIns="0" anchor="t">
            <a:spAutoFit/>
          </a:bodyPr>
          <a:lstStyle/>
          <a:p>
            <a:pPr algn="l"/>
            <a:r>
              <a:rPr sz="1300" b="0" i="0">
                <a:solidFill>
                  <a:srgbClr val="20343D"/>
                </a:solidFill>
                <a:latin typeface="Calibri"/>
              </a:rPr>
              <a:t>Customer “milik” sales, bukan perusahaan; tidak ada kebijakan ownership data.</a:t>
            </a:r>
          </a:p>
        </p:txBody>
      </p:sp>
      <p:sp>
        <p:nvSpPr>
          <p:cNvPr id="8" name="TextBox 7"/>
          <p:cNvSpPr txBox="1"/>
          <p:nvPr/>
        </p:nvSpPr>
        <p:spPr>
          <a:xfrm>
            <a:off x="777240" y="3291839"/>
            <a:ext cx="2011680" cy="274320"/>
          </a:xfrm>
          <a:prstGeom prst="rect">
            <a:avLst/>
          </a:prstGeom>
          <a:noFill/>
        </p:spPr>
        <p:txBody>
          <a:bodyPr wrap="square" lIns="0" rIns="0" tIns="0" bIns="0" anchor="t">
            <a:spAutoFit/>
          </a:bodyPr>
          <a:lstStyle/>
          <a:p>
            <a:pPr algn="l"/>
            <a:r>
              <a:rPr sz="1100" b="0" i="0">
                <a:solidFill>
                  <a:srgbClr val="5F6F74"/>
                </a:solidFill>
                <a:latin typeface="Calibri"/>
              </a:rPr>
              <a:t>Governance · Technology</a:t>
            </a:r>
          </a:p>
        </p:txBody>
      </p:sp>
      <p:sp>
        <p:nvSpPr>
          <p:cNvPr id="9" name="Rounded Rectangle 8"/>
          <p:cNvSpPr/>
          <p:nvPr/>
        </p:nvSpPr>
        <p:spPr>
          <a:xfrm>
            <a:off x="2880360" y="3246120"/>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3, 4</a:t>
            </a:r>
          </a:p>
        </p:txBody>
      </p:sp>
      <p:sp>
        <p:nvSpPr>
          <p:cNvPr id="10" name="Rounded Rectangle 9"/>
          <p:cNvSpPr/>
          <p:nvPr/>
        </p:nvSpPr>
        <p:spPr>
          <a:xfrm>
            <a:off x="4306824" y="1554480"/>
            <a:ext cx="3520440" cy="2194560"/>
          </a:xfrm>
          <a:prstGeom prst="roundRect">
            <a:avLst>
              <a:gd name="adj" fmla="val 8000"/>
            </a:avLst>
          </a:prstGeom>
          <a:solidFill>
            <a:srgbClr val="E9F4EF"/>
          </a:solidFill>
          <a:ln>
            <a:noFill/>
          </a:ln>
        </p:spPr>
        <p:txBody>
          <a:bodyPr rtlCol="0" anchor="ctr"/>
          <a:lstStyle/>
          <a:p/>
        </p:txBody>
      </p:sp>
      <p:sp>
        <p:nvSpPr>
          <p:cNvPr id="11" name="Oval 10"/>
          <p:cNvSpPr/>
          <p:nvPr/>
        </p:nvSpPr>
        <p:spPr>
          <a:xfrm>
            <a:off x="4535424" y="1783080"/>
            <a:ext cx="438912" cy="438912"/>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B</a:t>
            </a:r>
          </a:p>
        </p:txBody>
      </p:sp>
      <p:sp>
        <p:nvSpPr>
          <p:cNvPr id="12" name="TextBox 11"/>
          <p:cNvSpPr txBox="1"/>
          <p:nvPr/>
        </p:nvSpPr>
        <p:spPr>
          <a:xfrm>
            <a:off x="5129784" y="1783080"/>
            <a:ext cx="2560320" cy="438912"/>
          </a:xfrm>
          <a:prstGeom prst="rect">
            <a:avLst/>
          </a:prstGeom>
          <a:noFill/>
        </p:spPr>
        <p:txBody>
          <a:bodyPr wrap="square" lIns="0" rIns="0" tIns="0" bIns="0" anchor="ctr">
            <a:spAutoFit/>
          </a:bodyPr>
          <a:lstStyle/>
          <a:p>
            <a:pPr algn="l"/>
            <a:r>
              <a:rPr sz="1600" b="1" i="0">
                <a:solidFill>
                  <a:srgbClr val="20343D"/>
                </a:solidFill>
                <a:latin typeface="Calibri"/>
              </a:rPr>
              <a:t>Tidak ada lead management</a:t>
            </a:r>
          </a:p>
        </p:txBody>
      </p:sp>
      <p:sp>
        <p:nvSpPr>
          <p:cNvPr id="13" name="TextBox 12"/>
          <p:cNvSpPr txBox="1"/>
          <p:nvPr/>
        </p:nvSpPr>
        <p:spPr>
          <a:xfrm>
            <a:off x="4535424" y="2377440"/>
            <a:ext cx="3063240" cy="822960"/>
          </a:xfrm>
          <a:prstGeom prst="rect">
            <a:avLst/>
          </a:prstGeom>
          <a:noFill/>
        </p:spPr>
        <p:txBody>
          <a:bodyPr wrap="square" lIns="0" rIns="0" tIns="0" bIns="0" anchor="t">
            <a:spAutoFit/>
          </a:bodyPr>
          <a:lstStyle/>
          <a:p>
            <a:pPr algn="l"/>
            <a:r>
              <a:rPr sz="1300" b="0" i="0">
                <a:solidFill>
                  <a:srgbClr val="20343D"/>
                </a:solidFill>
                <a:latin typeface="Calibri"/>
              </a:rPr>
              <a:t>Tanpa routing, SLA timer, eskalasi, dan pengaturan kapasitas; after-hours tidak tertangani.</a:t>
            </a:r>
          </a:p>
        </p:txBody>
      </p:sp>
      <p:sp>
        <p:nvSpPr>
          <p:cNvPr id="14" name="TextBox 13"/>
          <p:cNvSpPr txBox="1"/>
          <p:nvPr/>
        </p:nvSpPr>
        <p:spPr>
          <a:xfrm>
            <a:off x="4535424" y="3291839"/>
            <a:ext cx="2011680" cy="274320"/>
          </a:xfrm>
          <a:prstGeom prst="rect">
            <a:avLst/>
          </a:prstGeom>
          <a:noFill/>
        </p:spPr>
        <p:txBody>
          <a:bodyPr wrap="square" lIns="0" rIns="0" tIns="0" bIns="0" anchor="t">
            <a:spAutoFit/>
          </a:bodyPr>
          <a:lstStyle/>
          <a:p>
            <a:pPr algn="l"/>
            <a:r>
              <a:rPr sz="1100" b="0" i="0">
                <a:solidFill>
                  <a:srgbClr val="5F6F74"/>
                </a:solidFill>
                <a:latin typeface="Calibri"/>
              </a:rPr>
              <a:t>Process · People</a:t>
            </a:r>
          </a:p>
        </p:txBody>
      </p:sp>
      <p:sp>
        <p:nvSpPr>
          <p:cNvPr id="15" name="Rounded Rectangle 14"/>
          <p:cNvSpPr/>
          <p:nvPr/>
        </p:nvSpPr>
        <p:spPr>
          <a:xfrm>
            <a:off x="6638544" y="3246120"/>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1</a:t>
            </a:r>
          </a:p>
        </p:txBody>
      </p:sp>
      <p:sp>
        <p:nvSpPr>
          <p:cNvPr id="16" name="Rounded Rectangle 15"/>
          <p:cNvSpPr/>
          <p:nvPr/>
        </p:nvSpPr>
        <p:spPr>
          <a:xfrm>
            <a:off x="8065008" y="1554480"/>
            <a:ext cx="3520440" cy="2194560"/>
          </a:xfrm>
          <a:prstGeom prst="roundRect">
            <a:avLst>
              <a:gd name="adj" fmla="val 8000"/>
            </a:avLst>
          </a:prstGeom>
          <a:solidFill>
            <a:srgbClr val="E9F4EF"/>
          </a:solidFill>
          <a:ln>
            <a:noFill/>
          </a:ln>
        </p:spPr>
        <p:txBody>
          <a:bodyPr rtlCol="0" anchor="ctr"/>
          <a:lstStyle/>
          <a:p/>
        </p:txBody>
      </p:sp>
      <p:sp>
        <p:nvSpPr>
          <p:cNvPr id="17" name="Oval 16"/>
          <p:cNvSpPr/>
          <p:nvPr/>
        </p:nvSpPr>
        <p:spPr>
          <a:xfrm>
            <a:off x="8293608" y="1783080"/>
            <a:ext cx="438912" cy="438912"/>
          </a:xfrm>
          <a:prstGeom prst="ellipse">
            <a:avLst/>
          </a:prstGeom>
          <a:solidFill>
            <a:srgbClr val="177F6C"/>
          </a:solidFill>
          <a:ln>
            <a:noFill/>
          </a:ln>
        </p:spPr>
        <p:txBody>
          <a:bodyPr rtlCol="0" anchor="ctr" lIns="0" rIns="0" tIns="0" bIns="0"/>
          <a:lstStyle/>
          <a:p>
            <a:pPr algn="ctr"/>
            <a:r>
              <a:rPr sz="1600" b="1">
                <a:solidFill>
                  <a:srgbClr val="FFFFFF"/>
                </a:solidFill>
                <a:latin typeface="Calibri"/>
              </a:rPr>
              <a:t>C</a:t>
            </a:r>
          </a:p>
        </p:txBody>
      </p:sp>
      <p:sp>
        <p:nvSpPr>
          <p:cNvPr id="18" name="TextBox 17"/>
          <p:cNvSpPr txBox="1"/>
          <p:nvPr/>
        </p:nvSpPr>
        <p:spPr>
          <a:xfrm>
            <a:off x="8887968" y="1783080"/>
            <a:ext cx="2560320" cy="438912"/>
          </a:xfrm>
          <a:prstGeom prst="rect">
            <a:avLst/>
          </a:prstGeom>
          <a:noFill/>
        </p:spPr>
        <p:txBody>
          <a:bodyPr wrap="square" lIns="0" rIns="0" tIns="0" bIns="0" anchor="ctr">
            <a:spAutoFit/>
          </a:bodyPr>
          <a:lstStyle/>
          <a:p>
            <a:pPr algn="l"/>
            <a:r>
              <a:rPr sz="1600" b="1" i="0">
                <a:solidFill>
                  <a:srgbClr val="20343D"/>
                </a:solidFill>
                <a:latin typeface="Calibri"/>
              </a:rPr>
              <a:t>Identitas terfragmentasi</a:t>
            </a:r>
          </a:p>
        </p:txBody>
      </p:sp>
      <p:sp>
        <p:nvSpPr>
          <p:cNvPr id="19" name="TextBox 18"/>
          <p:cNvSpPr txBox="1"/>
          <p:nvPr/>
        </p:nvSpPr>
        <p:spPr>
          <a:xfrm>
            <a:off x="8293608" y="2377440"/>
            <a:ext cx="3063240" cy="822960"/>
          </a:xfrm>
          <a:prstGeom prst="rect">
            <a:avLst/>
          </a:prstGeom>
          <a:noFill/>
        </p:spPr>
        <p:txBody>
          <a:bodyPr wrap="square" lIns="0" rIns="0" tIns="0" bIns="0" anchor="t">
            <a:spAutoFit/>
          </a:bodyPr>
          <a:lstStyle/>
          <a:p>
            <a:pPr algn="l"/>
            <a:r>
              <a:rPr sz="1300" b="0" i="0">
                <a:solidFill>
                  <a:srgbClr val="20343D"/>
                </a:solidFill>
                <a:latin typeface="Calibri"/>
              </a:rPr>
              <a:t>Setiap channel dan setiap HP adalah silo; tidak ada histori percakapan bersama.</a:t>
            </a:r>
          </a:p>
        </p:txBody>
      </p:sp>
      <p:sp>
        <p:nvSpPr>
          <p:cNvPr id="20" name="TextBox 19"/>
          <p:cNvSpPr txBox="1"/>
          <p:nvPr/>
        </p:nvSpPr>
        <p:spPr>
          <a:xfrm>
            <a:off x="8293608" y="3291839"/>
            <a:ext cx="2011680" cy="274320"/>
          </a:xfrm>
          <a:prstGeom prst="rect">
            <a:avLst/>
          </a:prstGeom>
          <a:noFill/>
        </p:spPr>
        <p:txBody>
          <a:bodyPr wrap="square" lIns="0" rIns="0" tIns="0" bIns="0" anchor="t">
            <a:spAutoFit/>
          </a:bodyPr>
          <a:lstStyle/>
          <a:p>
            <a:pPr algn="l"/>
            <a:r>
              <a:rPr sz="1100" b="0" i="0">
                <a:solidFill>
                  <a:srgbClr val="5F6F74"/>
                </a:solidFill>
                <a:latin typeface="Calibri"/>
              </a:rPr>
              <a:t>Data · Technology</a:t>
            </a:r>
          </a:p>
        </p:txBody>
      </p:sp>
      <p:sp>
        <p:nvSpPr>
          <p:cNvPr id="21" name="Rounded Rectangle 20"/>
          <p:cNvSpPr/>
          <p:nvPr/>
        </p:nvSpPr>
        <p:spPr>
          <a:xfrm>
            <a:off x="10396728" y="3246120"/>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2</a:t>
            </a:r>
          </a:p>
        </p:txBody>
      </p:sp>
      <p:sp>
        <p:nvSpPr>
          <p:cNvPr id="22" name="Rounded Rectangle 21"/>
          <p:cNvSpPr/>
          <p:nvPr/>
        </p:nvSpPr>
        <p:spPr>
          <a:xfrm>
            <a:off x="548640" y="3950208"/>
            <a:ext cx="3520440" cy="2194560"/>
          </a:xfrm>
          <a:prstGeom prst="roundRect">
            <a:avLst>
              <a:gd name="adj" fmla="val 8000"/>
            </a:avLst>
          </a:prstGeom>
          <a:solidFill>
            <a:srgbClr val="F6F8F6"/>
          </a:solidFill>
          <a:ln>
            <a:noFill/>
          </a:ln>
        </p:spPr>
        <p:txBody>
          <a:bodyPr rtlCol="0" anchor="ctr"/>
          <a:lstStyle/>
          <a:p/>
        </p:txBody>
      </p:sp>
      <p:sp>
        <p:nvSpPr>
          <p:cNvPr id="23" name="Oval 22"/>
          <p:cNvSpPr/>
          <p:nvPr/>
        </p:nvSpPr>
        <p:spPr>
          <a:xfrm>
            <a:off x="777240" y="4178808"/>
            <a:ext cx="438912" cy="438912"/>
          </a:xfrm>
          <a:prstGeom prst="ellipse">
            <a:avLst/>
          </a:prstGeom>
          <a:solidFill>
            <a:srgbClr val="24414C"/>
          </a:solidFill>
          <a:ln>
            <a:noFill/>
          </a:ln>
        </p:spPr>
        <p:txBody>
          <a:bodyPr rtlCol="0" anchor="ctr" lIns="0" rIns="0" tIns="0" bIns="0"/>
          <a:lstStyle/>
          <a:p>
            <a:pPr algn="ctr"/>
            <a:r>
              <a:rPr sz="1600" b="1">
                <a:solidFill>
                  <a:srgbClr val="FFFFFF"/>
                </a:solidFill>
                <a:latin typeface="Calibri"/>
              </a:rPr>
              <a:t>D</a:t>
            </a:r>
          </a:p>
        </p:txBody>
      </p:sp>
      <p:sp>
        <p:nvSpPr>
          <p:cNvPr id="24" name="TextBox 23"/>
          <p:cNvSpPr txBox="1"/>
          <p:nvPr/>
        </p:nvSpPr>
        <p:spPr>
          <a:xfrm>
            <a:off x="1371600" y="4178808"/>
            <a:ext cx="2560320" cy="438912"/>
          </a:xfrm>
          <a:prstGeom prst="rect">
            <a:avLst/>
          </a:prstGeom>
          <a:noFill/>
        </p:spPr>
        <p:txBody>
          <a:bodyPr wrap="square" lIns="0" rIns="0" tIns="0" bIns="0" anchor="ctr">
            <a:spAutoFit/>
          </a:bodyPr>
          <a:lstStyle/>
          <a:p>
            <a:pPr algn="l"/>
            <a:r>
              <a:rPr sz="1600" b="1" i="0">
                <a:solidFill>
                  <a:srgbClr val="20343D"/>
                </a:solidFill>
                <a:latin typeface="Calibri"/>
              </a:rPr>
              <a:t>Tidak ada journey standar</a:t>
            </a:r>
          </a:p>
        </p:txBody>
      </p:sp>
      <p:sp>
        <p:nvSpPr>
          <p:cNvPr id="25" name="TextBox 24"/>
          <p:cNvSpPr txBox="1"/>
          <p:nvPr/>
        </p:nvSpPr>
        <p:spPr>
          <a:xfrm>
            <a:off x="777240" y="4773168"/>
            <a:ext cx="3063240" cy="822960"/>
          </a:xfrm>
          <a:prstGeom prst="rect">
            <a:avLst/>
          </a:prstGeom>
          <a:noFill/>
        </p:spPr>
        <p:txBody>
          <a:bodyPr wrap="square" lIns="0" rIns="0" tIns="0" bIns="0" anchor="t">
            <a:spAutoFit/>
          </a:bodyPr>
          <a:lstStyle/>
          <a:p>
            <a:pPr algn="l"/>
            <a:r>
              <a:rPr sz="1300" b="0" i="0">
                <a:solidFill>
                  <a:srgbClr val="20343D"/>
                </a:solidFill>
                <a:latin typeface="Calibri"/>
              </a:rPr>
              <a:t>Stage, cadence, dan exit criteria tidak didefinisikan; kualitas bergantung individu.</a:t>
            </a:r>
          </a:p>
        </p:txBody>
      </p:sp>
      <p:sp>
        <p:nvSpPr>
          <p:cNvPr id="26" name="TextBox 25"/>
          <p:cNvSpPr txBox="1"/>
          <p:nvPr/>
        </p:nvSpPr>
        <p:spPr>
          <a:xfrm>
            <a:off x="777240" y="5687568"/>
            <a:ext cx="2011680" cy="274320"/>
          </a:xfrm>
          <a:prstGeom prst="rect">
            <a:avLst/>
          </a:prstGeom>
          <a:noFill/>
        </p:spPr>
        <p:txBody>
          <a:bodyPr wrap="square" lIns="0" rIns="0" tIns="0" bIns="0" anchor="t">
            <a:spAutoFit/>
          </a:bodyPr>
          <a:lstStyle/>
          <a:p>
            <a:pPr algn="l"/>
            <a:r>
              <a:rPr sz="1100" b="0" i="0">
                <a:solidFill>
                  <a:srgbClr val="5F6F74"/>
                </a:solidFill>
                <a:latin typeface="Calibri"/>
              </a:rPr>
              <a:t>Process</a:t>
            </a:r>
          </a:p>
        </p:txBody>
      </p:sp>
      <p:sp>
        <p:nvSpPr>
          <p:cNvPr id="27" name="Rounded Rectangle 26"/>
          <p:cNvSpPr/>
          <p:nvPr/>
        </p:nvSpPr>
        <p:spPr>
          <a:xfrm>
            <a:off x="2880360" y="5641848"/>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5</a:t>
            </a:r>
          </a:p>
        </p:txBody>
      </p:sp>
      <p:sp>
        <p:nvSpPr>
          <p:cNvPr id="28" name="Rounded Rectangle 27"/>
          <p:cNvSpPr/>
          <p:nvPr/>
        </p:nvSpPr>
        <p:spPr>
          <a:xfrm>
            <a:off x="4306824" y="3950208"/>
            <a:ext cx="3520440" cy="2194560"/>
          </a:xfrm>
          <a:prstGeom prst="roundRect">
            <a:avLst>
              <a:gd name="adj" fmla="val 8000"/>
            </a:avLst>
          </a:prstGeom>
          <a:solidFill>
            <a:srgbClr val="F6F8F6"/>
          </a:solidFill>
          <a:ln>
            <a:noFill/>
          </a:ln>
        </p:spPr>
        <p:txBody>
          <a:bodyPr rtlCol="0" anchor="ctr"/>
          <a:lstStyle/>
          <a:p/>
        </p:txBody>
      </p:sp>
      <p:sp>
        <p:nvSpPr>
          <p:cNvPr id="29" name="Oval 28"/>
          <p:cNvSpPr/>
          <p:nvPr/>
        </p:nvSpPr>
        <p:spPr>
          <a:xfrm>
            <a:off x="4535424" y="4178808"/>
            <a:ext cx="438912" cy="438912"/>
          </a:xfrm>
          <a:prstGeom prst="ellipse">
            <a:avLst/>
          </a:prstGeom>
          <a:solidFill>
            <a:srgbClr val="24414C"/>
          </a:solidFill>
          <a:ln>
            <a:noFill/>
          </a:ln>
        </p:spPr>
        <p:txBody>
          <a:bodyPr rtlCol="0" anchor="ctr" lIns="0" rIns="0" tIns="0" bIns="0"/>
          <a:lstStyle/>
          <a:p>
            <a:pPr algn="ctr"/>
            <a:r>
              <a:rPr sz="1600" b="1">
                <a:solidFill>
                  <a:srgbClr val="FFFFFF"/>
                </a:solidFill>
                <a:latin typeface="Calibri"/>
              </a:rPr>
              <a:t>E</a:t>
            </a:r>
          </a:p>
        </p:txBody>
      </p:sp>
      <p:sp>
        <p:nvSpPr>
          <p:cNvPr id="30" name="TextBox 29"/>
          <p:cNvSpPr txBox="1"/>
          <p:nvPr/>
        </p:nvSpPr>
        <p:spPr>
          <a:xfrm>
            <a:off x="5129784" y="4178808"/>
            <a:ext cx="2560320" cy="438912"/>
          </a:xfrm>
          <a:prstGeom prst="rect">
            <a:avLst/>
          </a:prstGeom>
          <a:noFill/>
        </p:spPr>
        <p:txBody>
          <a:bodyPr wrap="square" lIns="0" rIns="0" tIns="0" bIns="0" anchor="ctr">
            <a:spAutoFit/>
          </a:bodyPr>
          <a:lstStyle/>
          <a:p>
            <a:pPr algn="l"/>
            <a:r>
              <a:rPr sz="1600" b="1" i="0">
                <a:solidFill>
                  <a:srgbClr val="20343D"/>
                </a:solidFill>
                <a:latin typeface="Calibri"/>
              </a:rPr>
              <a:t>Marketing lepas dari penjualan</a:t>
            </a:r>
          </a:p>
        </p:txBody>
      </p:sp>
      <p:sp>
        <p:nvSpPr>
          <p:cNvPr id="31" name="TextBox 30"/>
          <p:cNvSpPr txBox="1"/>
          <p:nvPr/>
        </p:nvSpPr>
        <p:spPr>
          <a:xfrm>
            <a:off x="4535424" y="4773168"/>
            <a:ext cx="3063240" cy="822960"/>
          </a:xfrm>
          <a:prstGeom prst="rect">
            <a:avLst/>
          </a:prstGeom>
          <a:noFill/>
        </p:spPr>
        <p:txBody>
          <a:bodyPr wrap="square" lIns="0" rIns="0" tIns="0" bIns="0" anchor="t">
            <a:spAutoFit/>
          </a:bodyPr>
          <a:lstStyle/>
          <a:p>
            <a:pPr algn="l"/>
            <a:r>
              <a:rPr sz="1300" b="0" i="0">
                <a:solidFill>
                  <a:srgbClr val="20343D"/>
                </a:solidFill>
                <a:latin typeface="Calibri"/>
              </a:rPr>
              <a:t>Tidak ada consent, segmentasi, dan suppression berbasis status SPK/DO.</a:t>
            </a:r>
          </a:p>
        </p:txBody>
      </p:sp>
      <p:sp>
        <p:nvSpPr>
          <p:cNvPr id="32" name="TextBox 31"/>
          <p:cNvSpPr txBox="1"/>
          <p:nvPr/>
        </p:nvSpPr>
        <p:spPr>
          <a:xfrm>
            <a:off x="4535424" y="5687568"/>
            <a:ext cx="2011680" cy="274320"/>
          </a:xfrm>
          <a:prstGeom prst="rect">
            <a:avLst/>
          </a:prstGeom>
          <a:noFill/>
        </p:spPr>
        <p:txBody>
          <a:bodyPr wrap="square" lIns="0" rIns="0" tIns="0" bIns="0" anchor="t">
            <a:spAutoFit/>
          </a:bodyPr>
          <a:lstStyle/>
          <a:p>
            <a:pPr algn="l"/>
            <a:r>
              <a:rPr sz="1100" b="0" i="0">
                <a:solidFill>
                  <a:srgbClr val="5F6F74"/>
                </a:solidFill>
                <a:latin typeface="Calibri"/>
              </a:rPr>
              <a:t>Process · Data · Governance</a:t>
            </a:r>
          </a:p>
        </p:txBody>
      </p:sp>
      <p:sp>
        <p:nvSpPr>
          <p:cNvPr id="33" name="Rounded Rectangle 32"/>
          <p:cNvSpPr/>
          <p:nvPr/>
        </p:nvSpPr>
        <p:spPr>
          <a:xfrm>
            <a:off x="6638544" y="5641848"/>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6, 7</a:t>
            </a:r>
          </a:p>
        </p:txBody>
      </p:sp>
      <p:sp>
        <p:nvSpPr>
          <p:cNvPr id="34" name="Rounded Rectangle 33"/>
          <p:cNvSpPr/>
          <p:nvPr/>
        </p:nvSpPr>
        <p:spPr>
          <a:xfrm>
            <a:off x="8065008" y="3950208"/>
            <a:ext cx="3520440" cy="2194560"/>
          </a:xfrm>
          <a:prstGeom prst="roundRect">
            <a:avLst>
              <a:gd name="adj" fmla="val 8000"/>
            </a:avLst>
          </a:prstGeom>
          <a:solidFill>
            <a:srgbClr val="F6F8F6"/>
          </a:solidFill>
          <a:ln>
            <a:noFill/>
          </a:ln>
        </p:spPr>
        <p:txBody>
          <a:bodyPr rtlCol="0" anchor="ctr"/>
          <a:lstStyle/>
          <a:p/>
        </p:txBody>
      </p:sp>
      <p:sp>
        <p:nvSpPr>
          <p:cNvPr id="35" name="Oval 34"/>
          <p:cNvSpPr/>
          <p:nvPr/>
        </p:nvSpPr>
        <p:spPr>
          <a:xfrm>
            <a:off x="8293608" y="4178808"/>
            <a:ext cx="438912" cy="438912"/>
          </a:xfrm>
          <a:prstGeom prst="ellipse">
            <a:avLst/>
          </a:prstGeom>
          <a:solidFill>
            <a:srgbClr val="24414C"/>
          </a:solidFill>
          <a:ln>
            <a:noFill/>
          </a:ln>
        </p:spPr>
        <p:txBody>
          <a:bodyPr rtlCol="0" anchor="ctr" lIns="0" rIns="0" tIns="0" bIns="0"/>
          <a:lstStyle/>
          <a:p>
            <a:pPr algn="ctr"/>
            <a:r>
              <a:rPr sz="1600" b="1">
                <a:solidFill>
                  <a:srgbClr val="FFFFFF"/>
                </a:solidFill>
                <a:latin typeface="Calibri"/>
              </a:rPr>
              <a:t>F</a:t>
            </a:r>
          </a:p>
        </p:txBody>
      </p:sp>
      <p:sp>
        <p:nvSpPr>
          <p:cNvPr id="36" name="TextBox 35"/>
          <p:cNvSpPr txBox="1"/>
          <p:nvPr/>
        </p:nvSpPr>
        <p:spPr>
          <a:xfrm>
            <a:off x="8887968" y="4178808"/>
            <a:ext cx="2560320" cy="438912"/>
          </a:xfrm>
          <a:prstGeom prst="rect">
            <a:avLst/>
          </a:prstGeom>
          <a:noFill/>
        </p:spPr>
        <p:txBody>
          <a:bodyPr wrap="square" lIns="0" rIns="0" tIns="0" bIns="0" anchor="ctr">
            <a:spAutoFit/>
          </a:bodyPr>
          <a:lstStyle/>
          <a:p>
            <a:pPr algn="l"/>
            <a:r>
              <a:rPr sz="1600" b="1" i="0">
                <a:solidFill>
                  <a:srgbClr val="20343D"/>
                </a:solidFill>
                <a:latin typeface="Calibri"/>
              </a:rPr>
              <a:t>Tidak ada lapisan KPI</a:t>
            </a:r>
          </a:p>
        </p:txBody>
      </p:sp>
      <p:sp>
        <p:nvSpPr>
          <p:cNvPr id="37" name="TextBox 36"/>
          <p:cNvSpPr txBox="1"/>
          <p:nvPr/>
        </p:nvSpPr>
        <p:spPr>
          <a:xfrm>
            <a:off x="8293608" y="4773168"/>
            <a:ext cx="3063240" cy="822960"/>
          </a:xfrm>
          <a:prstGeom prst="rect">
            <a:avLst/>
          </a:prstGeom>
          <a:noFill/>
        </p:spPr>
        <p:txBody>
          <a:bodyPr wrap="square" lIns="0" rIns="0" tIns="0" bIns="0" anchor="t">
            <a:spAutoFit/>
          </a:bodyPr>
          <a:lstStyle/>
          <a:p>
            <a:pPr algn="l"/>
            <a:r>
              <a:rPr sz="1300" b="0" i="0">
                <a:solidFill>
                  <a:srgbClr val="20343D"/>
                </a:solidFill>
                <a:latin typeface="Calibri"/>
              </a:rPr>
              <a:t>Definisi metrik dan data segar tidak tersedia untuk management.</a:t>
            </a:r>
          </a:p>
        </p:txBody>
      </p:sp>
      <p:sp>
        <p:nvSpPr>
          <p:cNvPr id="38" name="TextBox 37"/>
          <p:cNvSpPr txBox="1"/>
          <p:nvPr/>
        </p:nvSpPr>
        <p:spPr>
          <a:xfrm>
            <a:off x="8293608" y="5687568"/>
            <a:ext cx="2011680" cy="274320"/>
          </a:xfrm>
          <a:prstGeom prst="rect">
            <a:avLst/>
          </a:prstGeom>
          <a:noFill/>
        </p:spPr>
        <p:txBody>
          <a:bodyPr wrap="square" lIns="0" rIns="0" tIns="0" bIns="0" anchor="t">
            <a:spAutoFit/>
          </a:bodyPr>
          <a:lstStyle/>
          <a:p>
            <a:pPr algn="l"/>
            <a:r>
              <a:rPr sz="1100" b="0" i="0">
                <a:solidFill>
                  <a:srgbClr val="5F6F74"/>
                </a:solidFill>
                <a:latin typeface="Calibri"/>
              </a:rPr>
              <a:t>Data</a:t>
            </a:r>
          </a:p>
        </p:txBody>
      </p:sp>
      <p:sp>
        <p:nvSpPr>
          <p:cNvPr id="39" name="Rounded Rectangle 38"/>
          <p:cNvSpPr/>
          <p:nvPr/>
        </p:nvSpPr>
        <p:spPr>
          <a:xfrm>
            <a:off x="10396728" y="5641848"/>
            <a:ext cx="1005840" cy="310896"/>
          </a:xfrm>
          <a:prstGeom prst="roundRect">
            <a:avLst>
              <a:gd name="adj" fmla="val 25000"/>
            </a:avLst>
          </a:prstGeom>
          <a:solidFill>
            <a:srgbClr val="FFFFFF"/>
          </a:solidFill>
          <a:ln>
            <a:noFill/>
          </a:ln>
        </p:spPr>
        <p:txBody>
          <a:bodyPr rtlCol="0" anchor="ctr" wrap="square" lIns="73152" rIns="73152" tIns="27432" bIns="27432"/>
          <a:lstStyle/>
          <a:p>
            <a:pPr algn="ctr"/>
            <a:r>
              <a:rPr sz="1100" b="1">
                <a:solidFill>
                  <a:srgbClr val="20343D"/>
                </a:solidFill>
                <a:latin typeface="Calibri"/>
              </a:rPr>
              <a:t>Gejala 3</a:t>
            </a:r>
          </a:p>
        </p:txBody>
      </p:sp>
      <p:sp>
        <p:nvSpPr>
          <p:cNvPr id="40" name="TextBox 3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41" name="TextBox 4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1 · GEJALA → SOLUSI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Setiap gejala punya solusi yang dapat diukur</a:t>
            </a:r>
          </a:p>
        </p:txBody>
      </p:sp>
      <p:graphicFrame>
        <p:nvGraphicFramePr>
          <p:cNvPr id="4" name="Table 3"/>
          <p:cNvGraphicFramePr>
            <a:graphicFrameLocks noGrp="1"/>
          </p:cNvGraphicFramePr>
          <p:nvPr/>
        </p:nvGraphicFramePr>
        <p:xfrm>
          <a:off x="548640" y="1554480"/>
          <a:ext cx="11091672" cy="4389120"/>
        </p:xfrm>
        <a:graphic>
          <a:graphicData uri="http://schemas.openxmlformats.org/drawingml/2006/table">
            <a:tbl>
              <a:tblPr firstRow="1">
                <a:tableStyleId>{5C22544A-7EE6-4342-B048-85BDC9FD1C3A}</a:tableStyleId>
              </a:tblPr>
              <a:tblGrid>
                <a:gridCol w="457200"/>
                <a:gridCol w="3108960"/>
                <a:gridCol w="3108960"/>
                <a:gridCol w="4416552"/>
              </a:tblGrid>
              <a:tr h="548640">
                <a:tc>
                  <a:txBody>
                    <a:bodyPr wrap="square"/>
                    <a:lstStyle/>
                    <a:p>
                      <a:r>
                        <a:rPr sz="1300" b="1">
                          <a:solidFill>
                            <a:srgbClr val="FFFFFF"/>
                          </a:solidFill>
                          <a:latin typeface="Calibri"/>
                        </a:rPr>
                        <a:t>#</a:t>
                      </a:r>
                    </a:p>
                  </a:txBody>
                  <a:tcPr marL="73152" marR="73152" marT="36576" marB="36576" anchor="ctr">
                    <a:solidFill>
                      <a:srgbClr val="152D36"/>
                    </a:solidFill>
                  </a:tcPr>
                </a:tc>
                <a:tc>
                  <a:txBody>
                    <a:bodyPr wrap="square"/>
                    <a:lstStyle/>
                    <a:p>
                      <a:r>
                        <a:rPr sz="1300" b="1">
                          <a:solidFill>
                            <a:srgbClr val="FFFFFF"/>
                          </a:solidFill>
                          <a:latin typeface="Calibri"/>
                        </a:rPr>
                        <a:t>Gejala</a:t>
                      </a:r>
                    </a:p>
                  </a:txBody>
                  <a:tcPr marL="73152" marR="73152" marT="36576" marB="36576" anchor="ctr">
                    <a:solidFill>
                      <a:srgbClr val="152D36"/>
                    </a:solidFill>
                  </a:tcPr>
                </a:tc>
                <a:tc>
                  <a:txBody>
                    <a:bodyPr wrap="square"/>
                    <a:lstStyle/>
                    <a:p>
                      <a:r>
                        <a:rPr sz="1300" b="1">
                          <a:solidFill>
                            <a:srgbClr val="FFFFFF"/>
                          </a:solidFill>
                          <a:latin typeface="Calibri"/>
                        </a:rPr>
                        <a:t>Akar masalah</a:t>
                      </a:r>
                    </a:p>
                  </a:txBody>
                  <a:tcPr marL="73152" marR="73152" marT="36576" marB="36576" anchor="ctr">
                    <a:solidFill>
                      <a:srgbClr val="152D36"/>
                    </a:solidFill>
                  </a:tcPr>
                </a:tc>
                <a:tc>
                  <a:txBody>
                    <a:bodyPr wrap="square"/>
                    <a:lstStyle/>
                    <a:p>
                      <a:r>
                        <a:rPr sz="1300" b="1">
                          <a:solidFill>
                            <a:srgbClr val="FFFFFF"/>
                          </a:solidFill>
                          <a:latin typeface="Calibri"/>
                        </a:rPr>
                        <a:t>Solusi OneCRM</a:t>
                      </a:r>
                    </a:p>
                  </a:txBody>
                  <a:tcPr marL="73152" marR="73152" marT="36576" marB="36576" anchor="ctr">
                    <a:solidFill>
                      <a:srgbClr val="152D36"/>
                    </a:solidFill>
                  </a:tcPr>
                </a:tc>
              </a:tr>
              <a:tr h="548640">
                <a:tc>
                  <a:txBody>
                    <a:bodyPr wrap="square"/>
                    <a:lstStyle/>
                    <a:p>
                      <a:r>
                        <a:rPr sz="1300" b="1">
                          <a:solidFill>
                            <a:srgbClr val="20343D"/>
                          </a:solidFill>
                          <a:latin typeface="Calibri"/>
                        </a:rPr>
                        <a:t>1</a:t>
                      </a:r>
                    </a:p>
                  </a:txBody>
                  <a:tcPr marL="73152" marR="73152" marT="36576" marB="36576" anchor="ctr">
                    <a:solidFill>
                      <a:srgbClr val="FFFFFF"/>
                    </a:solidFill>
                  </a:tcPr>
                </a:tc>
                <a:tc>
                  <a:txBody>
                    <a:bodyPr wrap="square"/>
                    <a:lstStyle/>
                    <a:p>
                      <a:r>
                        <a:rPr sz="1300" b="0">
                          <a:solidFill>
                            <a:srgbClr val="20343D"/>
                          </a:solidFill>
                          <a:latin typeface="Calibri"/>
                        </a:rPr>
                        <a:t>30% inquiry terlambat di-follow-up</a:t>
                      </a:r>
                    </a:p>
                  </a:txBody>
                  <a:tcPr marL="73152" marR="73152" marT="36576" marB="36576" anchor="ctr">
                    <a:solidFill>
                      <a:srgbClr val="FFFFFF"/>
                    </a:solidFill>
                  </a:tcPr>
                </a:tc>
                <a:tc>
                  <a:txBody>
                    <a:bodyPr wrap="square"/>
                    <a:lstStyle/>
                    <a:p>
                      <a:r>
                        <a:rPr sz="1300" b="0">
                          <a:solidFill>
                            <a:srgbClr val="20343D"/>
                          </a:solidFill>
                          <a:latin typeface="Calibri"/>
                        </a:rPr>
                        <a:t>Tanpa routing, SLA, eskalasi</a:t>
                      </a:r>
                    </a:p>
                  </a:txBody>
                  <a:tcPr marL="73152" marR="73152" marT="36576" marB="36576" anchor="ctr">
                    <a:solidFill>
                      <a:srgbClr val="FFFFFF"/>
                    </a:solidFill>
                  </a:tcPr>
                </a:tc>
                <a:tc>
                  <a:txBody>
                    <a:bodyPr wrap="square"/>
                    <a:lstStyle/>
                    <a:p>
                      <a:r>
                        <a:rPr sz="1300" b="0">
                          <a:solidFill>
                            <a:srgbClr val="20343D"/>
                          </a:solidFill>
                          <a:latin typeface="Calibri"/>
                        </a:rPr>
                        <a:t>Auto-ack &lt;1 menit, routing, SLA 15 menit + eskalasi, bot after-hours</a:t>
                      </a:r>
                    </a:p>
                  </a:txBody>
                  <a:tcPr marL="73152" marR="73152" marT="36576" marB="36576" anchor="ctr">
                    <a:solidFill>
                      <a:srgbClr val="FFFFFF"/>
                    </a:solidFill>
                  </a:tcPr>
                </a:tc>
              </a:tr>
              <a:tr h="548640">
                <a:tc>
                  <a:txBody>
                    <a:bodyPr wrap="square"/>
                    <a:lstStyle/>
                    <a:p>
                      <a:r>
                        <a:rPr sz="1300" b="1">
                          <a:solidFill>
                            <a:srgbClr val="20343D"/>
                          </a:solidFill>
                          <a:latin typeface="Calibri"/>
                        </a:rPr>
                        <a:t>2</a:t>
                      </a:r>
                    </a:p>
                  </a:txBody>
                  <a:tcPr marL="73152" marR="73152" marT="36576" marB="36576" anchor="ctr">
                    <a:solidFill>
                      <a:srgbClr val="F6F8F6"/>
                    </a:solidFill>
                  </a:tcPr>
                </a:tc>
                <a:tc>
                  <a:txBody>
                    <a:bodyPr wrap="square"/>
                    <a:lstStyle/>
                    <a:p>
                      <a:r>
                        <a:rPr sz="1300" b="0">
                          <a:solidFill>
                            <a:srgbClr val="20343D"/>
                          </a:solidFill>
                          <a:latin typeface="Calibri"/>
                        </a:rPr>
                        <a:t>20% customer mengulang informasi</a:t>
                      </a:r>
                    </a:p>
                  </a:txBody>
                  <a:tcPr marL="73152" marR="73152" marT="36576" marB="36576" anchor="ctr">
                    <a:solidFill>
                      <a:srgbClr val="F6F8F6"/>
                    </a:solidFill>
                  </a:tcPr>
                </a:tc>
                <a:tc>
                  <a:txBody>
                    <a:bodyPr wrap="square"/>
                    <a:lstStyle/>
                    <a:p>
                      <a:r>
                        <a:rPr sz="1300" b="0">
                          <a:solidFill>
                            <a:srgbClr val="20343D"/>
                          </a:solidFill>
                          <a:latin typeface="Calibri"/>
                        </a:rPr>
                        <a:t>Identitas terfragmentasi</a:t>
                      </a:r>
                    </a:p>
                  </a:txBody>
                  <a:tcPr marL="73152" marR="73152" marT="36576" marB="36576" anchor="ctr">
                    <a:solidFill>
                      <a:srgbClr val="F6F8F6"/>
                    </a:solidFill>
                  </a:tcPr>
                </a:tc>
                <a:tc>
                  <a:txBody>
                    <a:bodyPr wrap="square"/>
                    <a:lstStyle/>
                    <a:p>
                      <a:r>
                        <a:rPr sz="1300" b="0">
                          <a:solidFill>
                            <a:srgbClr val="20343D"/>
                          </a:solidFill>
                          <a:latin typeface="Calibri"/>
                        </a:rPr>
                        <a:t>Identity resolution, timeline lintas channel, ringkasan saat handover</a:t>
                      </a:r>
                    </a:p>
                  </a:txBody>
                  <a:tcPr marL="73152" marR="73152" marT="36576" marB="36576" anchor="ctr">
                    <a:solidFill>
                      <a:srgbClr val="F6F8F6"/>
                    </a:solidFill>
                  </a:tcPr>
                </a:tc>
              </a:tr>
              <a:tr h="548640">
                <a:tc>
                  <a:txBody>
                    <a:bodyPr wrap="square"/>
                    <a:lstStyle/>
                    <a:p>
                      <a:r>
                        <a:rPr sz="1300" b="1">
                          <a:solidFill>
                            <a:srgbClr val="20343D"/>
                          </a:solidFill>
                          <a:latin typeface="Calibri"/>
                        </a:rPr>
                        <a:t>3</a:t>
                      </a:r>
                    </a:p>
                  </a:txBody>
                  <a:tcPr marL="73152" marR="73152" marT="36576" marB="36576" anchor="ctr">
                    <a:solidFill>
                      <a:srgbClr val="FFFFFF"/>
                    </a:solidFill>
                  </a:tcPr>
                </a:tc>
                <a:tc>
                  <a:txBody>
                    <a:bodyPr wrap="square"/>
                    <a:lstStyle/>
                    <a:p>
                      <a:r>
                        <a:rPr sz="1300" b="0">
                          <a:solidFill>
                            <a:srgbClr val="20343D"/>
                          </a:solidFill>
                          <a:latin typeface="Calibri"/>
                        </a:rPr>
                        <a:t>Status prospect tidak terlihat</a:t>
                      </a:r>
                    </a:p>
                  </a:txBody>
                  <a:tcPr marL="73152" marR="73152" marT="36576" marB="36576" anchor="ctr">
                    <a:solidFill>
                      <a:srgbClr val="FFFFFF"/>
                    </a:solidFill>
                  </a:tcPr>
                </a:tc>
                <a:tc>
                  <a:txBody>
                    <a:bodyPr wrap="square"/>
                    <a:lstStyle/>
                    <a:p>
                      <a:r>
                        <a:rPr sz="1300" b="0">
                          <a:solidFill>
                            <a:srgbClr val="20343D"/>
                          </a:solidFill>
                          <a:latin typeface="Calibri"/>
                        </a:rPr>
                        <a:t>Tidak ada system of record &amp; KPI</a:t>
                      </a:r>
                    </a:p>
                  </a:txBody>
                  <a:tcPr marL="73152" marR="73152" marT="36576" marB="36576" anchor="ctr">
                    <a:solidFill>
                      <a:srgbClr val="FFFFFF"/>
                    </a:solidFill>
                  </a:tcPr>
                </a:tc>
                <a:tc>
                  <a:txBody>
                    <a:bodyPr wrap="square"/>
                    <a:lstStyle/>
                    <a:p>
                      <a:r>
                        <a:rPr sz="1300" b="0">
                          <a:solidFill>
                            <a:srgbClr val="20343D"/>
                          </a:solidFill>
                          <a:latin typeface="Calibri"/>
                        </a:rPr>
                        <a:t>Pipeline stage standar, dashboard CRM + penjualan MS SQL</a:t>
                      </a:r>
                    </a:p>
                  </a:txBody>
                  <a:tcPr marL="73152" marR="73152" marT="36576" marB="36576" anchor="ctr">
                    <a:solidFill>
                      <a:srgbClr val="FFFFFF"/>
                    </a:solidFill>
                  </a:tcPr>
                </a:tc>
              </a:tr>
              <a:tr h="548640">
                <a:tc>
                  <a:txBody>
                    <a:bodyPr wrap="square"/>
                    <a:lstStyle/>
                    <a:p>
                      <a:r>
                        <a:rPr sz="1300" b="1">
                          <a:solidFill>
                            <a:srgbClr val="20343D"/>
                          </a:solidFill>
                          <a:latin typeface="Calibri"/>
                        </a:rPr>
                        <a:t>4</a:t>
                      </a:r>
                    </a:p>
                  </a:txBody>
                  <a:tcPr marL="73152" marR="73152" marT="36576" marB="36576" anchor="ctr">
                    <a:solidFill>
                      <a:srgbClr val="F6F8F6"/>
                    </a:solidFill>
                  </a:tcPr>
                </a:tc>
                <a:tc>
                  <a:txBody>
                    <a:bodyPr wrap="square"/>
                    <a:lstStyle/>
                    <a:p>
                      <a:r>
                        <a:rPr sz="1300" b="0">
                          <a:solidFill>
                            <a:srgbClr val="20343D"/>
                          </a:solidFill>
                          <a:latin typeface="Calibri"/>
                        </a:rPr>
                        <a:t>Customer hanya di HP pribadi</a:t>
                      </a:r>
                    </a:p>
                  </a:txBody>
                  <a:tcPr marL="73152" marR="73152" marT="36576" marB="36576" anchor="ctr">
                    <a:solidFill>
                      <a:srgbClr val="F6F8F6"/>
                    </a:solidFill>
                  </a:tcPr>
                </a:tc>
                <a:tc>
                  <a:txBody>
                    <a:bodyPr wrap="square"/>
                    <a:lstStyle/>
                    <a:p>
                      <a:r>
                        <a:rPr sz="1300" b="0">
                          <a:solidFill>
                            <a:srgbClr val="20343D"/>
                          </a:solidFill>
                          <a:latin typeface="Calibri"/>
                        </a:rPr>
                        <a:t>Nomor &amp; akun milik pribadi</a:t>
                      </a:r>
                    </a:p>
                  </a:txBody>
                  <a:tcPr marL="73152" marR="73152" marT="36576" marB="36576" anchor="ctr">
                    <a:solidFill>
                      <a:srgbClr val="F6F8F6"/>
                    </a:solidFill>
                  </a:tcPr>
                </a:tc>
                <a:tc>
                  <a:txBody>
                    <a:bodyPr wrap="square"/>
                    <a:lstStyle/>
                    <a:p>
                      <a:r>
                        <a:rPr sz="1300" b="0">
                          <a:solidFill>
                            <a:srgbClr val="20343D"/>
                          </a:solidFill>
                          <a:latin typeface="Calibri"/>
                        </a:rPr>
                        <a:t>Nomor WA perusahaan, shared inbox di PWA, bulk reassign</a:t>
                      </a:r>
                    </a:p>
                  </a:txBody>
                  <a:tcPr marL="73152" marR="73152" marT="36576" marB="36576" anchor="ctr">
                    <a:solidFill>
                      <a:srgbClr val="F6F8F6"/>
                    </a:solidFill>
                  </a:tcPr>
                </a:tc>
              </a:tr>
              <a:tr h="548640">
                <a:tc>
                  <a:txBody>
                    <a:bodyPr wrap="square"/>
                    <a:lstStyle/>
                    <a:p>
                      <a:r>
                        <a:rPr sz="1300" b="1">
                          <a:solidFill>
                            <a:srgbClr val="20343D"/>
                          </a:solidFill>
                          <a:latin typeface="Calibri"/>
                        </a:rPr>
                        <a:t>5</a:t>
                      </a:r>
                    </a:p>
                  </a:txBody>
                  <a:tcPr marL="73152" marR="73152" marT="36576" marB="36576" anchor="ctr">
                    <a:solidFill>
                      <a:srgbClr val="FFFFFF"/>
                    </a:solidFill>
                  </a:tcPr>
                </a:tc>
                <a:tc>
                  <a:txBody>
                    <a:bodyPr wrap="square"/>
                    <a:lstStyle/>
                    <a:p>
                      <a:r>
                        <a:rPr sz="1300" b="0">
                          <a:solidFill>
                            <a:srgbClr val="20343D"/>
                          </a:solidFill>
                          <a:latin typeface="Calibri"/>
                        </a:rPr>
                        <a:t>Tidak ada standar follow-up</a:t>
                      </a:r>
                    </a:p>
                  </a:txBody>
                  <a:tcPr marL="73152" marR="73152" marT="36576" marB="36576" anchor="ctr">
                    <a:solidFill>
                      <a:srgbClr val="FFFFFF"/>
                    </a:solidFill>
                  </a:tcPr>
                </a:tc>
                <a:tc>
                  <a:txBody>
                    <a:bodyPr wrap="square"/>
                    <a:lstStyle/>
                    <a:p>
                      <a:r>
                        <a:rPr sz="1300" b="0">
                          <a:solidFill>
                            <a:srgbClr val="20343D"/>
                          </a:solidFill>
                          <a:latin typeface="Calibri"/>
                        </a:rPr>
                        <a:t>Tidak ada playbook &amp; cadence</a:t>
                      </a:r>
                    </a:p>
                  </a:txBody>
                  <a:tcPr marL="73152" marR="73152" marT="36576" marB="36576" anchor="ctr">
                    <a:solidFill>
                      <a:srgbClr val="FFFFFF"/>
                    </a:solidFill>
                  </a:tcPr>
                </a:tc>
                <a:tc>
                  <a:txBody>
                    <a:bodyPr wrap="square"/>
                    <a:lstStyle/>
                    <a:p>
                      <a:r>
                        <a:rPr sz="1300" b="0">
                          <a:solidFill>
                            <a:srgbClr val="20343D"/>
                          </a:solidFill>
                          <a:latin typeface="Calibri"/>
                        </a:rPr>
                        <a:t>Journey 9 tahap, cadence H+0/1/3/7/14, task otomatis</a:t>
                      </a:r>
                    </a:p>
                  </a:txBody>
                  <a:tcPr marL="73152" marR="73152" marT="36576" marB="36576" anchor="ctr">
                    <a:solidFill>
                      <a:srgbClr val="FFFFFF"/>
                    </a:solidFill>
                  </a:tcPr>
                </a:tc>
              </a:tr>
              <a:tr h="548640">
                <a:tc>
                  <a:txBody>
                    <a:bodyPr wrap="square"/>
                    <a:lstStyle/>
                    <a:p>
                      <a:r>
                        <a:rPr sz="1300" b="1">
                          <a:solidFill>
                            <a:srgbClr val="20343D"/>
                          </a:solidFill>
                          <a:latin typeface="Calibri"/>
                        </a:rPr>
                        <a:t>6</a:t>
                      </a:r>
                    </a:p>
                  </a:txBody>
                  <a:tcPr marL="73152" marR="73152" marT="36576" marB="36576" anchor="ctr">
                    <a:solidFill>
                      <a:srgbClr val="F6F8F6"/>
                    </a:solidFill>
                  </a:tcPr>
                </a:tc>
                <a:tc>
                  <a:txBody>
                    <a:bodyPr wrap="square"/>
                    <a:lstStyle/>
                    <a:p>
                      <a:r>
                        <a:rPr sz="1300" b="0">
                          <a:solidFill>
                            <a:srgbClr val="20343D"/>
                          </a:solidFill>
                          <a:latin typeface="Calibri"/>
                        </a:rPr>
                        <a:t>Broadcast manual</a:t>
                      </a:r>
                    </a:p>
                  </a:txBody>
                  <a:tcPr marL="73152" marR="73152" marT="36576" marB="36576" anchor="ctr">
                    <a:solidFill>
                      <a:srgbClr val="F6F8F6"/>
                    </a:solidFill>
                  </a:tcPr>
                </a:tc>
                <a:tc>
                  <a:txBody>
                    <a:bodyPr wrap="square"/>
                    <a:lstStyle/>
                    <a:p>
                      <a:r>
                        <a:rPr sz="1300" b="0">
                          <a:solidFill>
                            <a:srgbClr val="20343D"/>
                          </a:solidFill>
                          <a:latin typeface="Calibri"/>
                        </a:rPr>
                        <a:t>Tidak ada campaign tool &amp; consent</a:t>
                      </a:r>
                    </a:p>
                  </a:txBody>
                  <a:tcPr marL="73152" marR="73152" marT="36576" marB="36576" anchor="ctr">
                    <a:solidFill>
                      <a:srgbClr val="F6F8F6"/>
                    </a:solidFill>
                  </a:tcPr>
                </a:tc>
                <a:tc>
                  <a:txBody>
                    <a:bodyPr wrap="square"/>
                    <a:lstStyle/>
                    <a:p>
                      <a:r>
                        <a:rPr sz="1300" b="0">
                          <a:solidFill>
                            <a:srgbClr val="20343D"/>
                          </a:solidFill>
                          <a:latin typeface="Calibri"/>
                        </a:rPr>
                        <a:t>Campaign studio: segmen, template disetujui, frequency cap</a:t>
                      </a:r>
                    </a:p>
                  </a:txBody>
                  <a:tcPr marL="73152" marR="73152" marT="36576" marB="36576" anchor="ctr">
                    <a:solidFill>
                      <a:srgbClr val="F6F8F6"/>
                    </a:solidFill>
                  </a:tcPr>
                </a:tc>
              </a:tr>
              <a:tr h="548640">
                <a:tc>
                  <a:txBody>
                    <a:bodyPr wrap="square"/>
                    <a:lstStyle/>
                    <a:p>
                      <a:r>
                        <a:rPr sz="1300" b="1">
                          <a:solidFill>
                            <a:srgbClr val="20343D"/>
                          </a:solidFill>
                          <a:latin typeface="Calibri"/>
                        </a:rPr>
                        <a:t>7</a:t>
                      </a:r>
                    </a:p>
                  </a:txBody>
                  <a:tcPr marL="73152" marR="73152" marT="36576" marB="36576" anchor="ctr">
                    <a:solidFill>
                      <a:srgbClr val="FFFFFF"/>
                    </a:solidFill>
                  </a:tcPr>
                </a:tc>
                <a:tc>
                  <a:txBody>
                    <a:bodyPr wrap="square"/>
                    <a:lstStyle/>
                    <a:p>
                      <a:r>
                        <a:rPr sz="1300" b="0">
                          <a:solidFill>
                            <a:srgbClr val="20343D"/>
                          </a:solidFill>
                          <a:latin typeface="Calibri"/>
                        </a:rPr>
                        <a:t>Pembeli menerima prospecting</a:t>
                      </a:r>
                    </a:p>
                  </a:txBody>
                  <a:tcPr marL="73152" marR="73152" marT="36576" marB="36576" anchor="ctr">
                    <a:solidFill>
                      <a:srgbClr val="FFFFFF"/>
                    </a:solidFill>
                  </a:tcPr>
                </a:tc>
                <a:tc>
                  <a:txBody>
                    <a:bodyPr wrap="square"/>
                    <a:lstStyle/>
                    <a:p>
                      <a:r>
                        <a:rPr sz="1300" b="0">
                          <a:solidFill>
                            <a:srgbClr val="20343D"/>
                          </a:solidFill>
                          <a:latin typeface="Calibri"/>
                        </a:rPr>
                        <a:t>Marketing tidak terhubung ke SPK/DO</a:t>
                      </a:r>
                    </a:p>
                  </a:txBody>
                  <a:tcPr marL="73152" marR="73152" marT="36576" marB="36576" anchor="ctr">
                    <a:solidFill>
                      <a:srgbClr val="FFFFFF"/>
                    </a:solidFill>
                  </a:tcPr>
                </a:tc>
                <a:tc>
                  <a:txBody>
                    <a:bodyPr wrap="square"/>
                    <a:lstStyle/>
                    <a:p>
                      <a:r>
                        <a:rPr sz="1300" b="0">
                          <a:solidFill>
                            <a:srgbClr val="20343D"/>
                          </a:solidFill>
                          <a:latin typeface="Calibri"/>
                        </a:rPr>
                        <a:t>Event MS SQL → Order/Won → suppression + send-time check</a:t>
                      </a:r>
                    </a:p>
                  </a:txBody>
                  <a:tcPr marL="73152" marR="73152" marT="36576" marB="36576" anchor="ctr">
                    <a:solidFill>
                      <a:srgbClr val="FFFFFF"/>
                    </a:solidFill>
                  </a:tcPr>
                </a:tc>
              </a:tr>
            </a:tbl>
          </a:graphicData>
        </a:graphic>
      </p:graphicFrame>
      <p:sp>
        <p:nvSpPr>
          <p:cNvPr id="5" name="TextBox 4"/>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6" name="TextBox 5"/>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1 · DAMPAK &amp; PRIORITAS</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Follow-up terlambat: ±30 SPK berpotensi hilang tiap bulan</a:t>
            </a:r>
          </a:p>
        </p:txBody>
      </p:sp>
      <p:sp>
        <p:nvSpPr>
          <p:cNvPr id="4" name="Rounded Rectangle 3"/>
          <p:cNvSpPr/>
          <p:nvPr/>
        </p:nvSpPr>
        <p:spPr>
          <a:xfrm>
            <a:off x="548640" y="1554480"/>
            <a:ext cx="6035040" cy="658368"/>
          </a:xfrm>
          <a:prstGeom prst="roundRect">
            <a:avLst>
              <a:gd name="adj" fmla="val 8000"/>
            </a:avLst>
          </a:prstGeom>
          <a:solidFill>
            <a:srgbClr val="E9F4EF"/>
          </a:solidFill>
          <a:ln>
            <a:noFill/>
          </a:ln>
        </p:spPr>
        <p:txBody>
          <a:bodyPr rtlCol="0" anchor="ctr"/>
          <a:lstStyle/>
          <a:p/>
        </p:txBody>
      </p:sp>
      <p:sp>
        <p:nvSpPr>
          <p:cNvPr id="5" name="TextBox 4"/>
          <p:cNvSpPr txBox="1"/>
          <p:nvPr/>
        </p:nvSpPr>
        <p:spPr>
          <a:xfrm>
            <a:off x="777240" y="1554480"/>
            <a:ext cx="1600200" cy="658368"/>
          </a:xfrm>
          <a:prstGeom prst="rect">
            <a:avLst/>
          </a:prstGeom>
          <a:noFill/>
        </p:spPr>
        <p:txBody>
          <a:bodyPr wrap="square" lIns="0" rIns="0" tIns="0" bIns="0" anchor="ctr">
            <a:spAutoFit/>
          </a:bodyPr>
          <a:lstStyle/>
          <a:p>
            <a:pPr algn="l"/>
            <a:r>
              <a:rPr sz="2000" b="1" i="0">
                <a:solidFill>
                  <a:srgbClr val="126653"/>
                </a:solidFill>
                <a:latin typeface="Calibri"/>
              </a:rPr>
              <a:t>10.000</a:t>
            </a:r>
          </a:p>
        </p:txBody>
      </p:sp>
      <p:sp>
        <p:nvSpPr>
          <p:cNvPr id="6" name="TextBox 5"/>
          <p:cNvSpPr txBox="1"/>
          <p:nvPr/>
        </p:nvSpPr>
        <p:spPr>
          <a:xfrm>
            <a:off x="2423160" y="1554480"/>
            <a:ext cx="3108960" cy="658368"/>
          </a:xfrm>
          <a:prstGeom prst="rect">
            <a:avLst/>
          </a:prstGeom>
          <a:noFill/>
        </p:spPr>
        <p:txBody>
          <a:bodyPr wrap="square" lIns="0" rIns="0" tIns="0" bIns="0" anchor="ctr">
            <a:spAutoFit/>
          </a:bodyPr>
          <a:lstStyle/>
          <a:p>
            <a:pPr algn="l"/>
            <a:r>
              <a:rPr sz="1300" b="0" i="0">
                <a:solidFill>
                  <a:srgbClr val="20343D"/>
                </a:solidFill>
                <a:latin typeface="Calibri"/>
              </a:rPr>
              <a:t>inquiry WhatsApp per bulan</a:t>
            </a:r>
          </a:p>
        </p:txBody>
      </p:sp>
      <p:sp>
        <p:nvSpPr>
          <p:cNvPr id="7" name="Rounded Rectangle 6"/>
          <p:cNvSpPr/>
          <p:nvPr/>
        </p:nvSpPr>
        <p:spPr>
          <a:xfrm>
            <a:off x="5486400" y="1737360"/>
            <a:ext cx="914400" cy="292608"/>
          </a:xfrm>
          <a:prstGeom prst="roundRect">
            <a:avLst>
              <a:gd name="adj" fmla="val 25000"/>
            </a:avLst>
          </a:prstGeom>
          <a:solidFill>
            <a:srgbClr val="FFFFFF"/>
          </a:solidFill>
          <a:ln>
            <a:noFill/>
          </a:ln>
        </p:spPr>
        <p:txBody>
          <a:bodyPr rtlCol="0" anchor="ctr" wrap="square" lIns="73152" rIns="73152" tIns="27432" bIns="27432"/>
          <a:lstStyle/>
          <a:p>
            <a:pPr algn="ctr"/>
            <a:r>
              <a:rPr sz="1000" b="1">
                <a:solidFill>
                  <a:srgbClr val="126653"/>
                </a:solidFill>
                <a:latin typeface="Calibri"/>
              </a:rPr>
              <a:t>skenario</a:t>
            </a:r>
          </a:p>
        </p:txBody>
      </p:sp>
      <p:sp>
        <p:nvSpPr>
          <p:cNvPr id="8" name="Rounded Rectangle 7"/>
          <p:cNvSpPr/>
          <p:nvPr/>
        </p:nvSpPr>
        <p:spPr>
          <a:xfrm>
            <a:off x="548640" y="2340864"/>
            <a:ext cx="6035040" cy="658368"/>
          </a:xfrm>
          <a:prstGeom prst="roundRect">
            <a:avLst>
              <a:gd name="adj" fmla="val 8000"/>
            </a:avLst>
          </a:prstGeom>
          <a:solidFill>
            <a:srgbClr val="F6F8F6"/>
          </a:solidFill>
          <a:ln>
            <a:noFill/>
          </a:ln>
        </p:spPr>
        <p:txBody>
          <a:bodyPr rtlCol="0" anchor="ctr"/>
          <a:lstStyle/>
          <a:p/>
        </p:txBody>
      </p:sp>
      <p:sp>
        <p:nvSpPr>
          <p:cNvPr id="9" name="TextBox 8"/>
          <p:cNvSpPr txBox="1"/>
          <p:nvPr/>
        </p:nvSpPr>
        <p:spPr>
          <a:xfrm>
            <a:off x="777240" y="2340864"/>
            <a:ext cx="1600200" cy="658368"/>
          </a:xfrm>
          <a:prstGeom prst="rect">
            <a:avLst/>
          </a:prstGeom>
          <a:noFill/>
        </p:spPr>
        <p:txBody>
          <a:bodyPr wrap="square" lIns="0" rIns="0" tIns="0" bIns="0" anchor="ctr">
            <a:spAutoFit/>
          </a:bodyPr>
          <a:lstStyle/>
          <a:p>
            <a:pPr algn="l"/>
            <a:r>
              <a:rPr sz="2000" b="1" i="0">
                <a:solidFill>
                  <a:srgbClr val="126653"/>
                </a:solidFill>
                <a:latin typeface="Calibri"/>
              </a:rPr>
              <a:t>±4.000</a:t>
            </a:r>
          </a:p>
        </p:txBody>
      </p:sp>
      <p:sp>
        <p:nvSpPr>
          <p:cNvPr id="10" name="TextBox 9"/>
          <p:cNvSpPr txBox="1"/>
          <p:nvPr/>
        </p:nvSpPr>
        <p:spPr>
          <a:xfrm>
            <a:off x="2423160" y="2340864"/>
            <a:ext cx="3108960" cy="658368"/>
          </a:xfrm>
          <a:prstGeom prst="rect">
            <a:avLst/>
          </a:prstGeom>
          <a:noFill/>
        </p:spPr>
        <p:txBody>
          <a:bodyPr wrap="square" lIns="0" rIns="0" tIns="0" bIns="0" anchor="ctr">
            <a:spAutoFit/>
          </a:bodyPr>
          <a:lstStyle/>
          <a:p>
            <a:pPr algn="l"/>
            <a:r>
              <a:rPr sz="1300" b="0" i="0">
                <a:solidFill>
                  <a:srgbClr val="20343D"/>
                </a:solidFill>
                <a:latin typeface="Calibri"/>
              </a:rPr>
              <a:t>lead unik  (÷ 2,5 inquiry per lead)</a:t>
            </a:r>
          </a:p>
        </p:txBody>
      </p:sp>
      <p:sp>
        <p:nvSpPr>
          <p:cNvPr id="11" name="Rounded Rectangle 10"/>
          <p:cNvSpPr/>
          <p:nvPr/>
        </p:nvSpPr>
        <p:spPr>
          <a:xfrm>
            <a:off x="5486400" y="2523744"/>
            <a:ext cx="914400" cy="292608"/>
          </a:xfrm>
          <a:prstGeom prst="roundRect">
            <a:avLst>
              <a:gd name="adj" fmla="val 25000"/>
            </a:avLst>
          </a:prstGeom>
          <a:solidFill>
            <a:srgbClr val="FFFFFF"/>
          </a:solidFill>
          <a:ln>
            <a:noFill/>
          </a:ln>
        </p:spPr>
        <p:txBody>
          <a:bodyPr rtlCol="0" anchor="ctr" wrap="square" lIns="73152" rIns="73152" tIns="27432" bIns="27432"/>
          <a:lstStyle/>
          <a:p>
            <a:pPr algn="ctr"/>
            <a:r>
              <a:rPr sz="1000" b="1">
                <a:solidFill>
                  <a:srgbClr val="B58235"/>
                </a:solidFill>
                <a:latin typeface="Calibri"/>
              </a:rPr>
              <a:t>asumsi</a:t>
            </a:r>
          </a:p>
        </p:txBody>
      </p:sp>
      <p:sp>
        <p:nvSpPr>
          <p:cNvPr id="12" name="Rounded Rectangle 11"/>
          <p:cNvSpPr/>
          <p:nvPr/>
        </p:nvSpPr>
        <p:spPr>
          <a:xfrm>
            <a:off x="548640" y="3127248"/>
            <a:ext cx="6035040" cy="658368"/>
          </a:xfrm>
          <a:prstGeom prst="roundRect">
            <a:avLst>
              <a:gd name="adj" fmla="val 8000"/>
            </a:avLst>
          </a:prstGeom>
          <a:solidFill>
            <a:srgbClr val="E9F4EF"/>
          </a:solidFill>
          <a:ln>
            <a:noFill/>
          </a:ln>
        </p:spPr>
        <p:txBody>
          <a:bodyPr rtlCol="0" anchor="ctr"/>
          <a:lstStyle/>
          <a:p/>
        </p:txBody>
      </p:sp>
      <p:sp>
        <p:nvSpPr>
          <p:cNvPr id="13" name="TextBox 12"/>
          <p:cNvSpPr txBox="1"/>
          <p:nvPr/>
        </p:nvSpPr>
        <p:spPr>
          <a:xfrm>
            <a:off x="777240" y="3127248"/>
            <a:ext cx="1600200" cy="658368"/>
          </a:xfrm>
          <a:prstGeom prst="rect">
            <a:avLst/>
          </a:prstGeom>
          <a:noFill/>
        </p:spPr>
        <p:txBody>
          <a:bodyPr wrap="square" lIns="0" rIns="0" tIns="0" bIns="0" anchor="ctr">
            <a:spAutoFit/>
          </a:bodyPr>
          <a:lstStyle/>
          <a:p>
            <a:pPr algn="l"/>
            <a:r>
              <a:rPr sz="2000" b="1" i="0">
                <a:solidFill>
                  <a:srgbClr val="126653"/>
                </a:solidFill>
                <a:latin typeface="Calibri"/>
              </a:rPr>
              <a:t>±1.200</a:t>
            </a:r>
          </a:p>
        </p:txBody>
      </p:sp>
      <p:sp>
        <p:nvSpPr>
          <p:cNvPr id="14" name="TextBox 13"/>
          <p:cNvSpPr txBox="1"/>
          <p:nvPr/>
        </p:nvSpPr>
        <p:spPr>
          <a:xfrm>
            <a:off x="2423160" y="3127248"/>
            <a:ext cx="3108960" cy="658368"/>
          </a:xfrm>
          <a:prstGeom prst="rect">
            <a:avLst/>
          </a:prstGeom>
          <a:noFill/>
        </p:spPr>
        <p:txBody>
          <a:bodyPr wrap="square" lIns="0" rIns="0" tIns="0" bIns="0" anchor="ctr">
            <a:spAutoFit/>
          </a:bodyPr>
          <a:lstStyle/>
          <a:p>
            <a:pPr algn="l"/>
            <a:r>
              <a:rPr sz="1300" b="0" i="0">
                <a:solidFill>
                  <a:srgbClr val="20343D"/>
                </a:solidFill>
                <a:latin typeface="Calibri"/>
              </a:rPr>
              <a:t>lead terlambat  (× 30%)</a:t>
            </a:r>
          </a:p>
        </p:txBody>
      </p:sp>
      <p:sp>
        <p:nvSpPr>
          <p:cNvPr id="15" name="Rounded Rectangle 14"/>
          <p:cNvSpPr/>
          <p:nvPr/>
        </p:nvSpPr>
        <p:spPr>
          <a:xfrm>
            <a:off x="5486400" y="3310128"/>
            <a:ext cx="914400" cy="292608"/>
          </a:xfrm>
          <a:prstGeom prst="roundRect">
            <a:avLst>
              <a:gd name="adj" fmla="val 25000"/>
            </a:avLst>
          </a:prstGeom>
          <a:solidFill>
            <a:srgbClr val="FFFFFF"/>
          </a:solidFill>
          <a:ln>
            <a:noFill/>
          </a:ln>
        </p:spPr>
        <p:txBody>
          <a:bodyPr rtlCol="0" anchor="ctr" wrap="square" lIns="73152" rIns="73152" tIns="27432" bIns="27432"/>
          <a:lstStyle/>
          <a:p>
            <a:pPr algn="ctr"/>
            <a:r>
              <a:rPr sz="1000" b="1">
                <a:solidFill>
                  <a:srgbClr val="126653"/>
                </a:solidFill>
                <a:latin typeface="Calibri"/>
              </a:rPr>
              <a:t>skenario</a:t>
            </a:r>
          </a:p>
        </p:txBody>
      </p:sp>
      <p:sp>
        <p:nvSpPr>
          <p:cNvPr id="16" name="Rounded Rectangle 15"/>
          <p:cNvSpPr/>
          <p:nvPr/>
        </p:nvSpPr>
        <p:spPr>
          <a:xfrm>
            <a:off x="548640" y="3913632"/>
            <a:ext cx="6035040" cy="658368"/>
          </a:xfrm>
          <a:prstGeom prst="roundRect">
            <a:avLst>
              <a:gd name="adj" fmla="val 8000"/>
            </a:avLst>
          </a:prstGeom>
          <a:solidFill>
            <a:srgbClr val="F6F8F6"/>
          </a:solidFill>
          <a:ln>
            <a:noFill/>
          </a:ln>
        </p:spPr>
        <p:txBody>
          <a:bodyPr rtlCol="0" anchor="ctr"/>
          <a:lstStyle/>
          <a:p/>
        </p:txBody>
      </p:sp>
      <p:sp>
        <p:nvSpPr>
          <p:cNvPr id="17" name="TextBox 16"/>
          <p:cNvSpPr txBox="1"/>
          <p:nvPr/>
        </p:nvSpPr>
        <p:spPr>
          <a:xfrm>
            <a:off x="777240" y="3913632"/>
            <a:ext cx="1600200" cy="658368"/>
          </a:xfrm>
          <a:prstGeom prst="rect">
            <a:avLst/>
          </a:prstGeom>
          <a:noFill/>
        </p:spPr>
        <p:txBody>
          <a:bodyPr wrap="square" lIns="0" rIns="0" tIns="0" bIns="0" anchor="ctr">
            <a:spAutoFit/>
          </a:bodyPr>
          <a:lstStyle/>
          <a:p>
            <a:pPr algn="l"/>
            <a:r>
              <a:rPr sz="2000" b="1" i="0">
                <a:solidFill>
                  <a:srgbClr val="126653"/>
                </a:solidFill>
                <a:latin typeface="Calibri"/>
              </a:rPr>
              <a:t>±30 SPK</a:t>
            </a:r>
          </a:p>
        </p:txBody>
      </p:sp>
      <p:sp>
        <p:nvSpPr>
          <p:cNvPr id="18" name="TextBox 17"/>
          <p:cNvSpPr txBox="1"/>
          <p:nvPr/>
        </p:nvSpPr>
        <p:spPr>
          <a:xfrm>
            <a:off x="2423160" y="3913632"/>
            <a:ext cx="3108960" cy="658368"/>
          </a:xfrm>
          <a:prstGeom prst="rect">
            <a:avLst/>
          </a:prstGeom>
          <a:noFill/>
        </p:spPr>
        <p:txBody>
          <a:bodyPr wrap="square" lIns="0" rIns="0" tIns="0" bIns="0" anchor="ctr">
            <a:spAutoFit/>
          </a:bodyPr>
          <a:lstStyle/>
          <a:p>
            <a:pPr algn="l"/>
            <a:r>
              <a:rPr sz="1300" b="0" i="0">
                <a:solidFill>
                  <a:srgbClr val="20343D"/>
                </a:solidFill>
                <a:latin typeface="Calibri"/>
              </a:rPr>
              <a:t>hilang per bulan  (× selisih konversi 2,5 pp)</a:t>
            </a:r>
          </a:p>
        </p:txBody>
      </p:sp>
      <p:sp>
        <p:nvSpPr>
          <p:cNvPr id="19" name="Rounded Rectangle 18"/>
          <p:cNvSpPr/>
          <p:nvPr/>
        </p:nvSpPr>
        <p:spPr>
          <a:xfrm>
            <a:off x="5486400" y="4096512"/>
            <a:ext cx="914400" cy="292608"/>
          </a:xfrm>
          <a:prstGeom prst="roundRect">
            <a:avLst>
              <a:gd name="adj" fmla="val 25000"/>
            </a:avLst>
          </a:prstGeom>
          <a:solidFill>
            <a:srgbClr val="FFFFFF"/>
          </a:solidFill>
          <a:ln>
            <a:noFill/>
          </a:ln>
        </p:spPr>
        <p:txBody>
          <a:bodyPr rtlCol="0" anchor="ctr" wrap="square" lIns="73152" rIns="73152" tIns="27432" bIns="27432"/>
          <a:lstStyle/>
          <a:p>
            <a:pPr algn="ctr"/>
            <a:r>
              <a:rPr sz="1000" b="1">
                <a:solidFill>
                  <a:srgbClr val="B58235"/>
                </a:solidFill>
                <a:latin typeface="Calibri"/>
              </a:rPr>
              <a:t>asumsi</a:t>
            </a:r>
          </a:p>
        </p:txBody>
      </p:sp>
      <p:sp>
        <p:nvSpPr>
          <p:cNvPr id="20" name="Rounded Rectangle 19"/>
          <p:cNvSpPr/>
          <p:nvPr/>
        </p:nvSpPr>
        <p:spPr>
          <a:xfrm>
            <a:off x="548640" y="4700016"/>
            <a:ext cx="6035040" cy="658368"/>
          </a:xfrm>
          <a:prstGeom prst="roundRect">
            <a:avLst>
              <a:gd name="adj" fmla="val 8000"/>
            </a:avLst>
          </a:prstGeom>
          <a:solidFill>
            <a:srgbClr val="152D36"/>
          </a:solidFill>
          <a:ln>
            <a:noFill/>
          </a:ln>
        </p:spPr>
        <p:txBody>
          <a:bodyPr rtlCol="0" anchor="ctr"/>
          <a:lstStyle/>
          <a:p/>
        </p:txBody>
      </p:sp>
      <p:sp>
        <p:nvSpPr>
          <p:cNvPr id="21" name="TextBox 20"/>
          <p:cNvSpPr txBox="1"/>
          <p:nvPr/>
        </p:nvSpPr>
        <p:spPr>
          <a:xfrm>
            <a:off x="777240" y="4700016"/>
            <a:ext cx="1600200" cy="658368"/>
          </a:xfrm>
          <a:prstGeom prst="rect">
            <a:avLst/>
          </a:prstGeom>
          <a:noFill/>
        </p:spPr>
        <p:txBody>
          <a:bodyPr wrap="square" lIns="0" rIns="0" tIns="0" bIns="0" anchor="ctr">
            <a:spAutoFit/>
          </a:bodyPr>
          <a:lstStyle/>
          <a:p>
            <a:pPr algn="l"/>
            <a:r>
              <a:rPr sz="2000" b="1" i="0">
                <a:solidFill>
                  <a:srgbClr val="A8D3B5"/>
                </a:solidFill>
                <a:latin typeface="Calibri"/>
              </a:rPr>
              <a:t>±Rp3,9 M</a:t>
            </a:r>
          </a:p>
        </p:txBody>
      </p:sp>
      <p:sp>
        <p:nvSpPr>
          <p:cNvPr id="22" name="TextBox 21"/>
          <p:cNvSpPr txBox="1"/>
          <p:nvPr/>
        </p:nvSpPr>
        <p:spPr>
          <a:xfrm>
            <a:off x="2423160" y="4700016"/>
            <a:ext cx="3108960" cy="658368"/>
          </a:xfrm>
          <a:prstGeom prst="rect">
            <a:avLst/>
          </a:prstGeom>
          <a:noFill/>
        </p:spPr>
        <p:txBody>
          <a:bodyPr wrap="square" lIns="0" rIns="0" tIns="0" bIns="0" anchor="ctr">
            <a:spAutoFit/>
          </a:bodyPr>
          <a:lstStyle/>
          <a:p>
            <a:pPr algn="l"/>
            <a:r>
              <a:rPr sz="1300" b="0" i="0">
                <a:solidFill>
                  <a:srgbClr val="FFFFFF"/>
                </a:solidFill>
                <a:latin typeface="Calibri"/>
              </a:rPr>
              <a:t>nilai penjualan/bulan  (× Rp130 juta/unit)</a:t>
            </a:r>
          </a:p>
        </p:txBody>
      </p:sp>
      <p:sp>
        <p:nvSpPr>
          <p:cNvPr id="23" name="Rounded Rectangle 22"/>
          <p:cNvSpPr/>
          <p:nvPr/>
        </p:nvSpPr>
        <p:spPr>
          <a:xfrm>
            <a:off x="5486400" y="4882896"/>
            <a:ext cx="914400" cy="292608"/>
          </a:xfrm>
          <a:prstGeom prst="roundRect">
            <a:avLst>
              <a:gd name="adj" fmla="val 25000"/>
            </a:avLst>
          </a:prstGeom>
          <a:solidFill>
            <a:srgbClr val="24414C"/>
          </a:solidFill>
          <a:ln>
            <a:noFill/>
          </a:ln>
        </p:spPr>
        <p:txBody>
          <a:bodyPr rtlCol="0" anchor="ctr" wrap="square" lIns="73152" rIns="73152" tIns="27432" bIns="27432"/>
          <a:lstStyle/>
          <a:p>
            <a:pPr algn="ctr"/>
            <a:r>
              <a:rPr sz="1000" b="1">
                <a:solidFill>
                  <a:srgbClr val="B58235"/>
                </a:solidFill>
                <a:latin typeface="Calibri"/>
              </a:rPr>
              <a:t>asumsi</a:t>
            </a:r>
          </a:p>
        </p:txBody>
      </p:sp>
      <p:sp>
        <p:nvSpPr>
          <p:cNvPr id="24" name="TextBox 23"/>
          <p:cNvSpPr txBox="1"/>
          <p:nvPr/>
        </p:nvSpPr>
        <p:spPr>
          <a:xfrm>
            <a:off x="548640" y="5596128"/>
            <a:ext cx="6035040" cy="640080"/>
          </a:xfrm>
          <a:prstGeom prst="rect">
            <a:avLst/>
          </a:prstGeom>
          <a:noFill/>
        </p:spPr>
        <p:txBody>
          <a:bodyPr wrap="square" lIns="0" rIns="0" tIns="0" bIns="0" anchor="t">
            <a:spAutoFit/>
          </a:bodyPr>
          <a:lstStyle/>
          <a:p>
            <a:pPr algn="l"/>
            <a:r>
              <a:rPr sz="1200" b="0" i="0">
                <a:solidFill>
                  <a:srgbClr val="5F6F74"/>
                </a:solidFill>
                <a:latin typeface="Calibri"/>
              </a:rPr>
              <a:t>Asumsi untuk divalidasi saat discovery. Nilai penjualan, bukan margin. Tambahan ±100 jam kerja sales/bulan hilang untuk menanyakan ulang informasi.</a:t>
            </a:r>
          </a:p>
        </p:txBody>
      </p:sp>
      <p:sp>
        <p:nvSpPr>
          <p:cNvPr id="25" name="TextBox 24"/>
          <p:cNvSpPr txBox="1"/>
          <p:nvPr/>
        </p:nvSpPr>
        <p:spPr>
          <a:xfrm>
            <a:off x="6995160" y="1554480"/>
            <a:ext cx="4572000" cy="274320"/>
          </a:xfrm>
          <a:prstGeom prst="rect">
            <a:avLst/>
          </a:prstGeom>
          <a:noFill/>
        </p:spPr>
        <p:txBody>
          <a:bodyPr wrap="square" lIns="0" rIns="0" tIns="0" bIns="0" anchor="t">
            <a:spAutoFit/>
          </a:bodyPr>
          <a:lstStyle/>
          <a:p>
            <a:pPr algn="l"/>
            <a:r>
              <a:rPr sz="1100" b="1" i="0">
                <a:solidFill>
                  <a:srgbClr val="5F6F74"/>
                </a:solidFill>
                <a:latin typeface="Calibri"/>
              </a:rPr>
              <a:t>PRIORITAS: IMPACT × EFFORT</a:t>
            </a:r>
          </a:p>
        </p:txBody>
      </p:sp>
      <p:sp>
        <p:nvSpPr>
          <p:cNvPr id="26" name="Rounded Rectangle 25"/>
          <p:cNvSpPr/>
          <p:nvPr/>
        </p:nvSpPr>
        <p:spPr>
          <a:xfrm>
            <a:off x="7498079" y="1874519"/>
            <a:ext cx="2057400" cy="1828800"/>
          </a:xfrm>
          <a:prstGeom prst="roundRect">
            <a:avLst>
              <a:gd name="adj" fmla="val 6000"/>
            </a:avLst>
          </a:prstGeom>
          <a:solidFill>
            <a:srgbClr val="177F6C"/>
          </a:solidFill>
          <a:ln>
            <a:noFill/>
          </a:ln>
        </p:spPr>
        <p:txBody>
          <a:bodyPr rtlCol="0" anchor="ctr"/>
          <a:lstStyle/>
          <a:p/>
        </p:txBody>
      </p:sp>
      <p:sp>
        <p:nvSpPr>
          <p:cNvPr id="27" name="TextBox 26"/>
          <p:cNvSpPr txBox="1"/>
          <p:nvPr/>
        </p:nvSpPr>
        <p:spPr>
          <a:xfrm>
            <a:off x="7662671" y="2011679"/>
            <a:ext cx="1783080" cy="320040"/>
          </a:xfrm>
          <a:prstGeom prst="rect">
            <a:avLst/>
          </a:prstGeom>
          <a:noFill/>
        </p:spPr>
        <p:txBody>
          <a:bodyPr wrap="square" lIns="0" rIns="0" tIns="0" bIns="0" anchor="t">
            <a:spAutoFit/>
          </a:bodyPr>
          <a:lstStyle/>
          <a:p>
            <a:pPr algn="l"/>
            <a:r>
              <a:rPr sz="1400" b="1" i="0">
                <a:solidFill>
                  <a:srgbClr val="FFFFFF"/>
                </a:solidFill>
                <a:latin typeface="Calibri"/>
              </a:rPr>
              <a:t>Quick wins</a:t>
            </a:r>
          </a:p>
        </p:txBody>
      </p:sp>
      <p:sp>
        <p:nvSpPr>
          <p:cNvPr id="28" name="TextBox 27"/>
          <p:cNvSpPr txBox="1"/>
          <p:nvPr/>
        </p:nvSpPr>
        <p:spPr>
          <a:xfrm>
            <a:off x="7662671" y="2377439"/>
            <a:ext cx="1783080" cy="1234440"/>
          </a:xfrm>
          <a:prstGeom prst="rect">
            <a:avLst/>
          </a:prstGeom>
          <a:noFill/>
        </p:spPr>
        <p:txBody>
          <a:bodyPr wrap="square" lIns="0" rIns="0" tIns="0" bIns="0" anchor="t">
            <a:spAutoFit/>
          </a:bodyPr>
          <a:lstStyle/>
          <a:p>
            <a:pPr algn="l"/>
            <a:r>
              <a:rPr sz="1200" b="0" i="0">
                <a:solidFill>
                  <a:srgbClr val="FFFFFF"/>
                </a:solidFill>
                <a:latin typeface="Calibri"/>
              </a:rPr>
              <a:t>Nomor WA perusahaan + shared inbox, auto-ack, routing &amp; SLA, suppression pembeli</a:t>
            </a:r>
          </a:p>
        </p:txBody>
      </p:sp>
      <p:sp>
        <p:nvSpPr>
          <p:cNvPr id="29" name="Rounded Rectangle 28"/>
          <p:cNvSpPr/>
          <p:nvPr/>
        </p:nvSpPr>
        <p:spPr>
          <a:xfrm>
            <a:off x="9665208" y="1874519"/>
            <a:ext cx="2057400" cy="1828800"/>
          </a:xfrm>
          <a:prstGeom prst="roundRect">
            <a:avLst>
              <a:gd name="adj" fmla="val 6000"/>
            </a:avLst>
          </a:prstGeom>
          <a:solidFill>
            <a:srgbClr val="152D36"/>
          </a:solidFill>
          <a:ln>
            <a:noFill/>
          </a:ln>
        </p:spPr>
        <p:txBody>
          <a:bodyPr rtlCol="0" anchor="ctr"/>
          <a:lstStyle/>
          <a:p/>
        </p:txBody>
      </p:sp>
      <p:sp>
        <p:nvSpPr>
          <p:cNvPr id="30" name="TextBox 29"/>
          <p:cNvSpPr txBox="1"/>
          <p:nvPr/>
        </p:nvSpPr>
        <p:spPr>
          <a:xfrm>
            <a:off x="9829800" y="2011679"/>
            <a:ext cx="1783080" cy="320040"/>
          </a:xfrm>
          <a:prstGeom prst="rect">
            <a:avLst/>
          </a:prstGeom>
          <a:noFill/>
        </p:spPr>
        <p:txBody>
          <a:bodyPr wrap="square" lIns="0" rIns="0" tIns="0" bIns="0" anchor="t">
            <a:spAutoFit/>
          </a:bodyPr>
          <a:lstStyle/>
          <a:p>
            <a:pPr algn="l"/>
            <a:r>
              <a:rPr sz="1400" b="1" i="0">
                <a:solidFill>
                  <a:srgbClr val="FFFFFF"/>
                </a:solidFill>
                <a:latin typeface="Calibri"/>
              </a:rPr>
              <a:t>Strategic</a:t>
            </a:r>
          </a:p>
        </p:txBody>
      </p:sp>
      <p:sp>
        <p:nvSpPr>
          <p:cNvPr id="31" name="TextBox 30"/>
          <p:cNvSpPr txBox="1"/>
          <p:nvPr/>
        </p:nvSpPr>
        <p:spPr>
          <a:xfrm>
            <a:off x="9829800" y="2377439"/>
            <a:ext cx="1783080" cy="1234440"/>
          </a:xfrm>
          <a:prstGeom prst="rect">
            <a:avLst/>
          </a:prstGeom>
          <a:noFill/>
        </p:spPr>
        <p:txBody>
          <a:bodyPr wrap="square" lIns="0" rIns="0" tIns="0" bIns="0" anchor="t">
            <a:spAutoFit/>
          </a:bodyPr>
          <a:lstStyle/>
          <a:p>
            <a:pPr algn="l"/>
            <a:r>
              <a:rPr sz="1200" b="0" i="0">
                <a:solidFill>
                  <a:srgbClr val="FFFFFF"/>
                </a:solidFill>
                <a:latin typeface="Calibri"/>
              </a:rPr>
              <a:t>Identity resolution, event MS SQL, dashboard penjualan</a:t>
            </a:r>
          </a:p>
        </p:txBody>
      </p:sp>
      <p:sp>
        <p:nvSpPr>
          <p:cNvPr id="32" name="Rounded Rectangle 31"/>
          <p:cNvSpPr/>
          <p:nvPr/>
        </p:nvSpPr>
        <p:spPr>
          <a:xfrm>
            <a:off x="7498079" y="3813048"/>
            <a:ext cx="2057400" cy="1828800"/>
          </a:xfrm>
          <a:prstGeom prst="roundRect">
            <a:avLst>
              <a:gd name="adj" fmla="val 6000"/>
            </a:avLst>
          </a:prstGeom>
          <a:solidFill>
            <a:srgbClr val="E9F4EF"/>
          </a:solidFill>
          <a:ln>
            <a:noFill/>
          </a:ln>
        </p:spPr>
        <p:txBody>
          <a:bodyPr rtlCol="0" anchor="ctr"/>
          <a:lstStyle/>
          <a:p/>
        </p:txBody>
      </p:sp>
      <p:sp>
        <p:nvSpPr>
          <p:cNvPr id="33" name="TextBox 32"/>
          <p:cNvSpPr txBox="1"/>
          <p:nvPr/>
        </p:nvSpPr>
        <p:spPr>
          <a:xfrm>
            <a:off x="7662671" y="3950208"/>
            <a:ext cx="1783080" cy="320040"/>
          </a:xfrm>
          <a:prstGeom prst="rect">
            <a:avLst/>
          </a:prstGeom>
          <a:noFill/>
        </p:spPr>
        <p:txBody>
          <a:bodyPr wrap="square" lIns="0" rIns="0" tIns="0" bIns="0" anchor="t">
            <a:spAutoFit/>
          </a:bodyPr>
          <a:lstStyle/>
          <a:p>
            <a:pPr algn="l"/>
            <a:r>
              <a:rPr sz="1400" b="1" i="0">
                <a:solidFill>
                  <a:srgbClr val="20343D"/>
                </a:solidFill>
                <a:latin typeface="Calibri"/>
              </a:rPr>
              <a:t>Fill-ins</a:t>
            </a:r>
          </a:p>
        </p:txBody>
      </p:sp>
      <p:sp>
        <p:nvSpPr>
          <p:cNvPr id="34" name="TextBox 33"/>
          <p:cNvSpPr txBox="1"/>
          <p:nvPr/>
        </p:nvSpPr>
        <p:spPr>
          <a:xfrm>
            <a:off x="7662671" y="4315968"/>
            <a:ext cx="1783080" cy="1234440"/>
          </a:xfrm>
          <a:prstGeom prst="rect">
            <a:avLst/>
          </a:prstGeom>
          <a:noFill/>
        </p:spPr>
        <p:txBody>
          <a:bodyPr wrap="square" lIns="0" rIns="0" tIns="0" bIns="0" anchor="t">
            <a:spAutoFit/>
          </a:bodyPr>
          <a:lstStyle/>
          <a:p>
            <a:pPr algn="l"/>
            <a:r>
              <a:rPr sz="1200" b="0" i="0">
                <a:solidFill>
                  <a:srgbClr val="20343D"/>
                </a:solidFill>
                <a:latin typeface="Calibri"/>
              </a:rPr>
              <a:t>Template follow-up standar, opt-out keyword</a:t>
            </a:r>
          </a:p>
        </p:txBody>
      </p:sp>
      <p:sp>
        <p:nvSpPr>
          <p:cNvPr id="35" name="Rounded Rectangle 34"/>
          <p:cNvSpPr/>
          <p:nvPr/>
        </p:nvSpPr>
        <p:spPr>
          <a:xfrm>
            <a:off x="9665208" y="3813048"/>
            <a:ext cx="2057400" cy="1828800"/>
          </a:xfrm>
          <a:prstGeom prst="roundRect">
            <a:avLst>
              <a:gd name="adj" fmla="val 6000"/>
            </a:avLst>
          </a:prstGeom>
          <a:solidFill>
            <a:srgbClr val="F6F8F6"/>
          </a:solidFill>
          <a:ln>
            <a:noFill/>
          </a:ln>
        </p:spPr>
        <p:txBody>
          <a:bodyPr rtlCol="0" anchor="ctr"/>
          <a:lstStyle/>
          <a:p/>
        </p:txBody>
      </p:sp>
      <p:sp>
        <p:nvSpPr>
          <p:cNvPr id="36" name="TextBox 35"/>
          <p:cNvSpPr txBox="1"/>
          <p:nvPr/>
        </p:nvSpPr>
        <p:spPr>
          <a:xfrm>
            <a:off x="9829800" y="3950208"/>
            <a:ext cx="1783080" cy="320040"/>
          </a:xfrm>
          <a:prstGeom prst="rect">
            <a:avLst/>
          </a:prstGeom>
          <a:noFill/>
        </p:spPr>
        <p:txBody>
          <a:bodyPr wrap="square" lIns="0" rIns="0" tIns="0" bIns="0" anchor="t">
            <a:spAutoFit/>
          </a:bodyPr>
          <a:lstStyle/>
          <a:p>
            <a:pPr algn="l"/>
            <a:r>
              <a:rPr sz="1400" b="1" i="0">
                <a:solidFill>
                  <a:srgbClr val="20343D"/>
                </a:solidFill>
                <a:latin typeface="Calibri"/>
              </a:rPr>
              <a:t>Fase lanjut</a:t>
            </a:r>
          </a:p>
        </p:txBody>
      </p:sp>
      <p:sp>
        <p:nvSpPr>
          <p:cNvPr id="37" name="TextBox 36"/>
          <p:cNvSpPr txBox="1"/>
          <p:nvPr/>
        </p:nvSpPr>
        <p:spPr>
          <a:xfrm>
            <a:off x="9829800" y="4315968"/>
            <a:ext cx="1783080" cy="1234440"/>
          </a:xfrm>
          <a:prstGeom prst="rect">
            <a:avLst/>
          </a:prstGeom>
          <a:noFill/>
        </p:spPr>
        <p:txBody>
          <a:bodyPr wrap="square" lIns="0" rIns="0" tIns="0" bIns="0" anchor="t">
            <a:spAutoFit/>
          </a:bodyPr>
          <a:lstStyle/>
          <a:p>
            <a:pPr algn="l"/>
            <a:r>
              <a:rPr sz="1200" b="0" i="0">
                <a:solidFill>
                  <a:srgbClr val="20343D"/>
                </a:solidFill>
                <a:latin typeface="Calibri"/>
              </a:rPr>
              <a:t>AI ringkasan &amp; scoring, IG/FB/TikTok penuh</a:t>
            </a:r>
          </a:p>
        </p:txBody>
      </p:sp>
      <p:sp>
        <p:nvSpPr>
          <p:cNvPr id="38" name="TextBox 37"/>
          <p:cNvSpPr txBox="1"/>
          <p:nvPr/>
        </p:nvSpPr>
        <p:spPr>
          <a:xfrm>
            <a:off x="6995160" y="2057400"/>
            <a:ext cx="411480" cy="1828800"/>
          </a:xfrm>
          <a:prstGeom prst="rect">
            <a:avLst/>
          </a:prstGeom>
          <a:noFill/>
        </p:spPr>
        <p:txBody>
          <a:bodyPr wrap="square" lIns="0" rIns="0" tIns="0" bIns="0" anchor="t">
            <a:spAutoFit/>
          </a:bodyPr>
          <a:lstStyle/>
          <a:p>
            <a:pPr algn="l"/>
            <a:r>
              <a:rPr sz="1000" b="0" i="0">
                <a:solidFill>
                  <a:srgbClr val="5F6F74"/>
                </a:solidFill>
                <a:latin typeface="Calibri"/>
              </a:rPr>
              <a:t>Impact tinggi</a:t>
            </a:r>
          </a:p>
        </p:txBody>
      </p:sp>
      <p:sp>
        <p:nvSpPr>
          <p:cNvPr id="39" name="TextBox 38"/>
          <p:cNvSpPr txBox="1"/>
          <p:nvPr/>
        </p:nvSpPr>
        <p:spPr>
          <a:xfrm>
            <a:off x="6995160" y="3995928"/>
            <a:ext cx="411480" cy="1828800"/>
          </a:xfrm>
          <a:prstGeom prst="rect">
            <a:avLst/>
          </a:prstGeom>
          <a:noFill/>
        </p:spPr>
        <p:txBody>
          <a:bodyPr wrap="square" lIns="0" rIns="0" tIns="0" bIns="0" anchor="t">
            <a:spAutoFit/>
          </a:bodyPr>
          <a:lstStyle/>
          <a:p>
            <a:pPr algn="l"/>
            <a:r>
              <a:rPr sz="1000" b="0" i="0">
                <a:solidFill>
                  <a:srgbClr val="5F6F74"/>
                </a:solidFill>
                <a:latin typeface="Calibri"/>
              </a:rPr>
              <a:t>Impact sedang</a:t>
            </a:r>
          </a:p>
        </p:txBody>
      </p:sp>
      <p:sp>
        <p:nvSpPr>
          <p:cNvPr id="40" name="TextBox 39"/>
          <p:cNvSpPr txBox="1"/>
          <p:nvPr/>
        </p:nvSpPr>
        <p:spPr>
          <a:xfrm>
            <a:off x="7498079" y="5806440"/>
            <a:ext cx="2057400" cy="274320"/>
          </a:xfrm>
          <a:prstGeom prst="rect">
            <a:avLst/>
          </a:prstGeom>
          <a:noFill/>
        </p:spPr>
        <p:txBody>
          <a:bodyPr wrap="square" lIns="0" rIns="0" tIns="0" bIns="0" anchor="t">
            <a:spAutoFit/>
          </a:bodyPr>
          <a:lstStyle/>
          <a:p>
            <a:pPr algn="ctr"/>
            <a:r>
              <a:rPr sz="1000" b="0" i="0">
                <a:solidFill>
                  <a:srgbClr val="5F6F74"/>
                </a:solidFill>
                <a:latin typeface="Calibri"/>
              </a:rPr>
              <a:t>Effort rendah</a:t>
            </a:r>
          </a:p>
        </p:txBody>
      </p:sp>
      <p:sp>
        <p:nvSpPr>
          <p:cNvPr id="41" name="TextBox 40"/>
          <p:cNvSpPr txBox="1"/>
          <p:nvPr/>
        </p:nvSpPr>
        <p:spPr>
          <a:xfrm>
            <a:off x="9665207" y="5806440"/>
            <a:ext cx="2057400" cy="274320"/>
          </a:xfrm>
          <a:prstGeom prst="rect">
            <a:avLst/>
          </a:prstGeom>
          <a:noFill/>
        </p:spPr>
        <p:txBody>
          <a:bodyPr wrap="square" lIns="0" rIns="0" tIns="0" bIns="0" anchor="t">
            <a:spAutoFit/>
          </a:bodyPr>
          <a:lstStyle/>
          <a:p>
            <a:pPr algn="ctr"/>
            <a:r>
              <a:rPr sz="1000" b="0" i="0">
                <a:solidFill>
                  <a:srgbClr val="5F6F74"/>
                </a:solidFill>
                <a:latin typeface="Calibri"/>
              </a:rPr>
              <a:t>Effort tinggi</a:t>
            </a:r>
          </a:p>
        </p:txBody>
      </p:sp>
      <p:sp>
        <p:nvSpPr>
          <p:cNvPr id="42" name="TextBox 41"/>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43" name="TextBox 42"/>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2 · CUSTOMER JOURNEY</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Satu journey standar dari iklan sampai aftersales</a:t>
            </a:r>
          </a:p>
        </p:txBody>
      </p:sp>
      <p:sp>
        <p:nvSpPr>
          <p:cNvPr id="4" name="TextBox 3"/>
          <p:cNvSpPr txBox="1"/>
          <p:nvPr/>
        </p:nvSpPr>
        <p:spPr>
          <a:xfrm>
            <a:off x="548640" y="1481328"/>
            <a:ext cx="5486400" cy="274320"/>
          </a:xfrm>
          <a:prstGeom prst="rect">
            <a:avLst/>
          </a:prstGeom>
          <a:noFill/>
        </p:spPr>
        <p:txBody>
          <a:bodyPr wrap="square" lIns="0" rIns="0" tIns="0" bIns="0" anchor="t">
            <a:spAutoFit/>
          </a:bodyPr>
          <a:lstStyle/>
          <a:p>
            <a:pPr algn="l"/>
            <a:r>
              <a:rPr sz="1100" b="1" i="0">
                <a:solidFill>
                  <a:srgbClr val="177F6C"/>
                </a:solidFill>
                <a:latin typeface="Calibri"/>
              </a:rPr>
              <a:t>PROSPECTING</a:t>
            </a:r>
          </a:p>
        </p:txBody>
      </p:sp>
      <p:sp>
        <p:nvSpPr>
          <p:cNvPr id="5" name="Rounded Rectangle 4"/>
          <p:cNvSpPr/>
          <p:nvPr/>
        </p:nvSpPr>
        <p:spPr>
          <a:xfrm>
            <a:off x="548640" y="1783080"/>
            <a:ext cx="2057400" cy="1691640"/>
          </a:xfrm>
          <a:prstGeom prst="roundRect">
            <a:avLst>
              <a:gd name="adj" fmla="val 8000"/>
            </a:avLst>
          </a:prstGeom>
          <a:solidFill>
            <a:srgbClr val="E9F4EF"/>
          </a:solidFill>
          <a:ln>
            <a:noFill/>
          </a:ln>
        </p:spPr>
        <p:txBody>
          <a:bodyPr rtlCol="0" anchor="ctr"/>
          <a:lstStyle/>
          <a:p/>
        </p:txBody>
      </p:sp>
      <p:sp>
        <p:nvSpPr>
          <p:cNvPr id="6" name="Oval 5"/>
          <p:cNvSpPr/>
          <p:nvPr/>
        </p:nvSpPr>
        <p:spPr>
          <a:xfrm>
            <a:off x="713232" y="193852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0</a:t>
            </a:r>
          </a:p>
        </p:txBody>
      </p:sp>
      <p:sp>
        <p:nvSpPr>
          <p:cNvPr id="7" name="TextBox 6"/>
          <p:cNvSpPr txBox="1"/>
          <p:nvPr/>
        </p:nvSpPr>
        <p:spPr>
          <a:xfrm>
            <a:off x="1188719" y="1901952"/>
            <a:ext cx="1325880" cy="475488"/>
          </a:xfrm>
          <a:prstGeom prst="rect">
            <a:avLst/>
          </a:prstGeom>
          <a:noFill/>
        </p:spPr>
        <p:txBody>
          <a:bodyPr wrap="square" lIns="0" rIns="0" tIns="0" bIns="0" anchor="ctr">
            <a:spAutoFit/>
          </a:bodyPr>
          <a:lstStyle/>
          <a:p>
            <a:pPr algn="l"/>
            <a:r>
              <a:rPr sz="1400" b="1" i="0">
                <a:solidFill>
                  <a:srgbClr val="20343D"/>
                </a:solidFill>
                <a:latin typeface="Calibri"/>
              </a:rPr>
              <a:t>Awareness</a:t>
            </a:r>
          </a:p>
        </p:txBody>
      </p:sp>
      <p:sp>
        <p:nvSpPr>
          <p:cNvPr id="8" name="TextBox 7"/>
          <p:cNvSpPr txBox="1"/>
          <p:nvPr/>
        </p:nvSpPr>
        <p:spPr>
          <a:xfrm>
            <a:off x="713232" y="2487168"/>
            <a:ext cx="1755648" cy="914400"/>
          </a:xfrm>
          <a:prstGeom prst="rect">
            <a:avLst/>
          </a:prstGeom>
          <a:noFill/>
        </p:spPr>
        <p:txBody>
          <a:bodyPr wrap="square" lIns="0" rIns="0" tIns="0" bIns="0" anchor="t">
            <a:spAutoFit/>
          </a:bodyPr>
          <a:lstStyle/>
          <a:p>
            <a:pPr algn="l"/>
            <a:r>
              <a:rPr sz="1200" b="0" i="0">
                <a:solidFill>
                  <a:srgbClr val="20343D"/>
                </a:solidFill>
                <a:latin typeface="Calibri"/>
              </a:rPr>
              <a:t>UTM &amp; ad ID ditempel ke link dan form</a:t>
            </a:r>
          </a:p>
        </p:txBody>
      </p:sp>
      <p:cxnSp>
        <p:nvCxnSpPr>
          <p:cNvPr id="9" name="Connector 8"/>
          <p:cNvCxnSpPr/>
          <p:nvPr/>
        </p:nvCxnSpPr>
        <p:spPr>
          <a:xfrm>
            <a:off x="2624328" y="2624328"/>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07208" y="1783080"/>
            <a:ext cx="2057400" cy="1691640"/>
          </a:xfrm>
          <a:prstGeom prst="roundRect">
            <a:avLst>
              <a:gd name="adj" fmla="val 8000"/>
            </a:avLst>
          </a:prstGeom>
          <a:solidFill>
            <a:srgbClr val="E9F4EF"/>
          </a:solidFill>
          <a:ln>
            <a:noFill/>
          </a:ln>
        </p:spPr>
        <p:txBody>
          <a:bodyPr rtlCol="0" anchor="ctr"/>
          <a:lstStyle/>
          <a:p/>
        </p:txBody>
      </p:sp>
      <p:sp>
        <p:nvSpPr>
          <p:cNvPr id="11" name="Oval 10"/>
          <p:cNvSpPr/>
          <p:nvPr/>
        </p:nvSpPr>
        <p:spPr>
          <a:xfrm>
            <a:off x="2971800" y="193852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1</a:t>
            </a:r>
          </a:p>
        </p:txBody>
      </p:sp>
      <p:sp>
        <p:nvSpPr>
          <p:cNvPr id="12" name="TextBox 11"/>
          <p:cNvSpPr txBox="1"/>
          <p:nvPr/>
        </p:nvSpPr>
        <p:spPr>
          <a:xfrm>
            <a:off x="3447288" y="1901952"/>
            <a:ext cx="1325880" cy="475488"/>
          </a:xfrm>
          <a:prstGeom prst="rect">
            <a:avLst/>
          </a:prstGeom>
          <a:noFill/>
        </p:spPr>
        <p:txBody>
          <a:bodyPr wrap="square" lIns="0" rIns="0" tIns="0" bIns="0" anchor="ctr">
            <a:spAutoFit/>
          </a:bodyPr>
          <a:lstStyle/>
          <a:p>
            <a:pPr algn="l"/>
            <a:r>
              <a:rPr sz="1400" b="1" i="0">
                <a:solidFill>
                  <a:srgbClr val="20343D"/>
                </a:solidFill>
                <a:latin typeface="Calibri"/>
              </a:rPr>
              <a:t>Inquiry &amp; capture</a:t>
            </a:r>
          </a:p>
        </p:txBody>
      </p:sp>
      <p:sp>
        <p:nvSpPr>
          <p:cNvPr id="13" name="TextBox 12"/>
          <p:cNvSpPr txBox="1"/>
          <p:nvPr/>
        </p:nvSpPr>
        <p:spPr>
          <a:xfrm>
            <a:off x="2971800" y="2487168"/>
            <a:ext cx="1755648" cy="914400"/>
          </a:xfrm>
          <a:prstGeom prst="rect">
            <a:avLst/>
          </a:prstGeom>
          <a:noFill/>
        </p:spPr>
        <p:txBody>
          <a:bodyPr wrap="square" lIns="0" rIns="0" tIns="0" bIns="0" anchor="t">
            <a:spAutoFit/>
          </a:bodyPr>
          <a:lstStyle/>
          <a:p>
            <a:pPr algn="l"/>
            <a:r>
              <a:rPr sz="1200" b="0" i="0">
                <a:solidFill>
                  <a:srgbClr val="20343D"/>
                </a:solidFill>
                <a:latin typeface="Calibri"/>
              </a:rPr>
              <a:t>Auto-ack &lt;1 menit, consent, identity resolution</a:t>
            </a:r>
          </a:p>
        </p:txBody>
      </p:sp>
      <p:cxnSp>
        <p:nvCxnSpPr>
          <p:cNvPr id="14" name="Connector 13"/>
          <p:cNvCxnSpPr/>
          <p:nvPr/>
        </p:nvCxnSpPr>
        <p:spPr>
          <a:xfrm>
            <a:off x="4882896" y="2624328"/>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65776" y="1783080"/>
            <a:ext cx="2057400" cy="1691640"/>
          </a:xfrm>
          <a:prstGeom prst="roundRect">
            <a:avLst>
              <a:gd name="adj" fmla="val 8000"/>
            </a:avLst>
          </a:prstGeom>
          <a:solidFill>
            <a:srgbClr val="E9F4EF"/>
          </a:solidFill>
          <a:ln>
            <a:noFill/>
          </a:ln>
        </p:spPr>
        <p:txBody>
          <a:bodyPr rtlCol="0" anchor="ctr"/>
          <a:lstStyle/>
          <a:p/>
        </p:txBody>
      </p:sp>
      <p:sp>
        <p:nvSpPr>
          <p:cNvPr id="16" name="Oval 15"/>
          <p:cNvSpPr/>
          <p:nvPr/>
        </p:nvSpPr>
        <p:spPr>
          <a:xfrm>
            <a:off x="5230368" y="193852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2</a:t>
            </a:r>
          </a:p>
        </p:txBody>
      </p:sp>
      <p:sp>
        <p:nvSpPr>
          <p:cNvPr id="17" name="TextBox 16"/>
          <p:cNvSpPr txBox="1"/>
          <p:nvPr/>
        </p:nvSpPr>
        <p:spPr>
          <a:xfrm>
            <a:off x="5705856" y="1901952"/>
            <a:ext cx="1325880" cy="475488"/>
          </a:xfrm>
          <a:prstGeom prst="rect">
            <a:avLst/>
          </a:prstGeom>
          <a:noFill/>
        </p:spPr>
        <p:txBody>
          <a:bodyPr wrap="square" lIns="0" rIns="0" tIns="0" bIns="0" anchor="ctr">
            <a:spAutoFit/>
          </a:bodyPr>
          <a:lstStyle/>
          <a:p>
            <a:pPr algn="l"/>
            <a:r>
              <a:rPr sz="1400" b="1" i="0">
                <a:solidFill>
                  <a:srgbClr val="20343D"/>
                </a:solidFill>
                <a:latin typeface="Calibri"/>
              </a:rPr>
              <a:t>Kualifikasi</a:t>
            </a:r>
          </a:p>
        </p:txBody>
      </p:sp>
      <p:sp>
        <p:nvSpPr>
          <p:cNvPr id="18" name="TextBox 17"/>
          <p:cNvSpPr txBox="1"/>
          <p:nvPr/>
        </p:nvSpPr>
        <p:spPr>
          <a:xfrm>
            <a:off x="5230368" y="2487168"/>
            <a:ext cx="1755648" cy="914400"/>
          </a:xfrm>
          <a:prstGeom prst="rect">
            <a:avLst/>
          </a:prstGeom>
          <a:noFill/>
        </p:spPr>
        <p:txBody>
          <a:bodyPr wrap="square" lIns="0" rIns="0" tIns="0" bIns="0" anchor="t">
            <a:spAutoFit/>
          </a:bodyPr>
          <a:lstStyle/>
          <a:p>
            <a:pPr algn="l"/>
            <a:r>
              <a:rPr sz="1200" b="0" i="0">
                <a:solidFill>
                  <a:srgbClr val="20343D"/>
                </a:solidFill>
                <a:latin typeface="Calibri"/>
              </a:rPr>
              <a:t>Respons manusia ≤15 menit; bot after-hours; Hot/Warm/Cold</a:t>
            </a:r>
          </a:p>
        </p:txBody>
      </p:sp>
      <p:cxnSp>
        <p:nvCxnSpPr>
          <p:cNvPr id="19" name="Connector 18"/>
          <p:cNvCxnSpPr/>
          <p:nvPr/>
        </p:nvCxnSpPr>
        <p:spPr>
          <a:xfrm>
            <a:off x="7141464" y="2624328"/>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24344" y="1783080"/>
            <a:ext cx="2057400" cy="1691640"/>
          </a:xfrm>
          <a:prstGeom prst="roundRect">
            <a:avLst>
              <a:gd name="adj" fmla="val 8000"/>
            </a:avLst>
          </a:prstGeom>
          <a:solidFill>
            <a:srgbClr val="E9F4EF"/>
          </a:solidFill>
          <a:ln>
            <a:noFill/>
          </a:ln>
        </p:spPr>
        <p:txBody>
          <a:bodyPr rtlCol="0" anchor="ctr"/>
          <a:lstStyle/>
          <a:p/>
        </p:txBody>
      </p:sp>
      <p:sp>
        <p:nvSpPr>
          <p:cNvPr id="21" name="Oval 20"/>
          <p:cNvSpPr/>
          <p:nvPr/>
        </p:nvSpPr>
        <p:spPr>
          <a:xfrm>
            <a:off x="7488936" y="193852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3</a:t>
            </a:r>
          </a:p>
        </p:txBody>
      </p:sp>
      <p:sp>
        <p:nvSpPr>
          <p:cNvPr id="22" name="TextBox 21"/>
          <p:cNvSpPr txBox="1"/>
          <p:nvPr/>
        </p:nvSpPr>
        <p:spPr>
          <a:xfrm>
            <a:off x="7964423" y="1901952"/>
            <a:ext cx="1325880" cy="475488"/>
          </a:xfrm>
          <a:prstGeom prst="rect">
            <a:avLst/>
          </a:prstGeom>
          <a:noFill/>
        </p:spPr>
        <p:txBody>
          <a:bodyPr wrap="square" lIns="0" rIns="0" tIns="0" bIns="0" anchor="ctr">
            <a:spAutoFit/>
          </a:bodyPr>
          <a:lstStyle/>
          <a:p>
            <a:pPr algn="l"/>
            <a:r>
              <a:rPr sz="1400" b="1" i="0">
                <a:solidFill>
                  <a:srgbClr val="20343D"/>
                </a:solidFill>
                <a:latin typeface="Calibri"/>
              </a:rPr>
              <a:t>Assignment &amp; konsultasi</a:t>
            </a:r>
          </a:p>
        </p:txBody>
      </p:sp>
      <p:sp>
        <p:nvSpPr>
          <p:cNvPr id="23" name="TextBox 22"/>
          <p:cNvSpPr txBox="1"/>
          <p:nvPr/>
        </p:nvSpPr>
        <p:spPr>
          <a:xfrm>
            <a:off x="7488936" y="2487168"/>
            <a:ext cx="1755648" cy="914400"/>
          </a:xfrm>
          <a:prstGeom prst="rect">
            <a:avLst/>
          </a:prstGeom>
          <a:noFill/>
        </p:spPr>
        <p:txBody>
          <a:bodyPr wrap="square" lIns="0" rIns="0" tIns="0" bIns="0" anchor="t">
            <a:spAutoFit/>
          </a:bodyPr>
          <a:lstStyle/>
          <a:p>
            <a:pPr algn="l"/>
            <a:r>
              <a:rPr sz="1200" b="0" i="0">
                <a:solidFill>
                  <a:srgbClr val="20343D"/>
                </a:solidFill>
                <a:latin typeface="Calibri"/>
              </a:rPr>
              <a:t>Routing per cabang, produk, kapasitas</a:t>
            </a:r>
          </a:p>
        </p:txBody>
      </p:sp>
      <p:cxnSp>
        <p:nvCxnSpPr>
          <p:cNvPr id="24" name="Connector 23"/>
          <p:cNvCxnSpPr/>
          <p:nvPr/>
        </p:nvCxnSpPr>
        <p:spPr>
          <a:xfrm>
            <a:off x="9400032" y="2624328"/>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82912" y="1783080"/>
            <a:ext cx="2057400" cy="1691640"/>
          </a:xfrm>
          <a:prstGeom prst="roundRect">
            <a:avLst>
              <a:gd name="adj" fmla="val 8000"/>
            </a:avLst>
          </a:prstGeom>
          <a:solidFill>
            <a:srgbClr val="E9F4EF"/>
          </a:solidFill>
          <a:ln>
            <a:noFill/>
          </a:ln>
        </p:spPr>
        <p:txBody>
          <a:bodyPr rtlCol="0" anchor="ctr"/>
          <a:lstStyle/>
          <a:p/>
        </p:txBody>
      </p:sp>
      <p:sp>
        <p:nvSpPr>
          <p:cNvPr id="26" name="Oval 25"/>
          <p:cNvSpPr/>
          <p:nvPr/>
        </p:nvSpPr>
        <p:spPr>
          <a:xfrm>
            <a:off x="9747504" y="193852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4</a:t>
            </a:r>
          </a:p>
        </p:txBody>
      </p:sp>
      <p:sp>
        <p:nvSpPr>
          <p:cNvPr id="27" name="TextBox 26"/>
          <p:cNvSpPr txBox="1"/>
          <p:nvPr/>
        </p:nvSpPr>
        <p:spPr>
          <a:xfrm>
            <a:off x="10222992" y="1901952"/>
            <a:ext cx="1325880" cy="475488"/>
          </a:xfrm>
          <a:prstGeom prst="rect">
            <a:avLst/>
          </a:prstGeom>
          <a:noFill/>
        </p:spPr>
        <p:txBody>
          <a:bodyPr wrap="square" lIns="0" rIns="0" tIns="0" bIns="0" anchor="ctr">
            <a:spAutoFit/>
          </a:bodyPr>
          <a:lstStyle/>
          <a:p>
            <a:pPr algn="l"/>
            <a:r>
              <a:rPr sz="1400" b="1" i="0">
                <a:solidFill>
                  <a:srgbClr val="20343D"/>
                </a:solidFill>
                <a:latin typeface="Calibri"/>
              </a:rPr>
              <a:t>Test drive / kunjungan</a:t>
            </a:r>
          </a:p>
        </p:txBody>
      </p:sp>
      <p:sp>
        <p:nvSpPr>
          <p:cNvPr id="28" name="TextBox 27"/>
          <p:cNvSpPr txBox="1"/>
          <p:nvPr/>
        </p:nvSpPr>
        <p:spPr>
          <a:xfrm>
            <a:off x="9747504" y="2487168"/>
            <a:ext cx="1755648" cy="914400"/>
          </a:xfrm>
          <a:prstGeom prst="rect">
            <a:avLst/>
          </a:prstGeom>
          <a:noFill/>
        </p:spPr>
        <p:txBody>
          <a:bodyPr wrap="square" lIns="0" rIns="0" tIns="0" bIns="0" anchor="t">
            <a:spAutoFit/>
          </a:bodyPr>
          <a:lstStyle/>
          <a:p>
            <a:pPr algn="l"/>
            <a:r>
              <a:rPr sz="1200" b="0" i="0">
                <a:solidFill>
                  <a:srgbClr val="20343D"/>
                </a:solidFill>
                <a:latin typeface="Calibri"/>
              </a:rPr>
              <a:t>Booking, reminder H-1 &amp; 2 jam, no-show task</a:t>
            </a:r>
          </a:p>
        </p:txBody>
      </p:sp>
      <p:sp>
        <p:nvSpPr>
          <p:cNvPr id="29" name="TextBox 28"/>
          <p:cNvSpPr txBox="1"/>
          <p:nvPr/>
        </p:nvSpPr>
        <p:spPr>
          <a:xfrm>
            <a:off x="548640" y="3639312"/>
            <a:ext cx="5486400" cy="274320"/>
          </a:xfrm>
          <a:prstGeom prst="rect">
            <a:avLst/>
          </a:prstGeom>
          <a:noFill/>
        </p:spPr>
        <p:txBody>
          <a:bodyPr wrap="square" lIns="0" rIns="0" tIns="0" bIns="0" anchor="t">
            <a:spAutoFit/>
          </a:bodyPr>
          <a:lstStyle/>
          <a:p>
            <a:pPr algn="l"/>
            <a:r>
              <a:rPr sz="1100" b="1" i="0">
                <a:solidFill>
                  <a:srgbClr val="24414C"/>
                </a:solidFill>
                <a:latin typeface="Calibri"/>
              </a:rPr>
              <a:t>ORDER, SERAH TERIMA &amp; KEPEMILIKAN</a:t>
            </a:r>
          </a:p>
        </p:txBody>
      </p:sp>
      <p:sp>
        <p:nvSpPr>
          <p:cNvPr id="30" name="Rounded Rectangle 29"/>
          <p:cNvSpPr/>
          <p:nvPr/>
        </p:nvSpPr>
        <p:spPr>
          <a:xfrm>
            <a:off x="548640" y="3941063"/>
            <a:ext cx="2057400" cy="1463040"/>
          </a:xfrm>
          <a:prstGeom prst="roundRect">
            <a:avLst>
              <a:gd name="adj" fmla="val 8000"/>
            </a:avLst>
          </a:prstGeom>
          <a:solidFill>
            <a:srgbClr val="F6F8F6"/>
          </a:solidFill>
          <a:ln>
            <a:noFill/>
          </a:ln>
        </p:spPr>
        <p:txBody>
          <a:bodyPr rtlCol="0" anchor="ctr"/>
          <a:lstStyle/>
          <a:p/>
        </p:txBody>
      </p:sp>
      <p:sp>
        <p:nvSpPr>
          <p:cNvPr id="31" name="Oval 30"/>
          <p:cNvSpPr/>
          <p:nvPr/>
        </p:nvSpPr>
        <p:spPr>
          <a:xfrm>
            <a:off x="713232" y="4096512"/>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5</a:t>
            </a:r>
          </a:p>
        </p:txBody>
      </p:sp>
      <p:sp>
        <p:nvSpPr>
          <p:cNvPr id="32" name="TextBox 31"/>
          <p:cNvSpPr txBox="1"/>
          <p:nvPr/>
        </p:nvSpPr>
        <p:spPr>
          <a:xfrm>
            <a:off x="1188719" y="4059936"/>
            <a:ext cx="1325880" cy="475488"/>
          </a:xfrm>
          <a:prstGeom prst="rect">
            <a:avLst/>
          </a:prstGeom>
          <a:noFill/>
        </p:spPr>
        <p:txBody>
          <a:bodyPr wrap="square" lIns="0" rIns="0" tIns="0" bIns="0" anchor="ctr">
            <a:spAutoFit/>
          </a:bodyPr>
          <a:lstStyle/>
          <a:p>
            <a:pPr algn="l"/>
            <a:r>
              <a:rPr sz="1400" b="1" i="0">
                <a:solidFill>
                  <a:srgbClr val="20343D"/>
                </a:solidFill>
                <a:latin typeface="Calibri"/>
              </a:rPr>
              <a:t>Penawaran &amp; negosiasi</a:t>
            </a:r>
          </a:p>
        </p:txBody>
      </p:sp>
      <p:sp>
        <p:nvSpPr>
          <p:cNvPr id="33" name="TextBox 32"/>
          <p:cNvSpPr txBox="1"/>
          <p:nvPr/>
        </p:nvSpPr>
        <p:spPr>
          <a:xfrm>
            <a:off x="713232" y="4617720"/>
            <a:ext cx="1755648" cy="731520"/>
          </a:xfrm>
          <a:prstGeom prst="rect">
            <a:avLst/>
          </a:prstGeom>
          <a:noFill/>
        </p:spPr>
        <p:txBody>
          <a:bodyPr wrap="square" lIns="0" rIns="0" tIns="0" bIns="0" anchor="t">
            <a:spAutoFit/>
          </a:bodyPr>
          <a:lstStyle/>
          <a:p>
            <a:pPr algn="l"/>
            <a:r>
              <a:rPr sz="1200" b="0" i="0">
                <a:solidFill>
                  <a:srgbClr val="20343D"/>
                </a:solidFill>
                <a:latin typeface="Calibri"/>
              </a:rPr>
              <a:t>Quotation, simulasi kredit, leasing, trade-in</a:t>
            </a:r>
          </a:p>
        </p:txBody>
      </p:sp>
      <p:cxnSp>
        <p:nvCxnSpPr>
          <p:cNvPr id="34" name="Connector 33"/>
          <p:cNvCxnSpPr/>
          <p:nvPr/>
        </p:nvCxnSpPr>
        <p:spPr>
          <a:xfrm>
            <a:off x="2624328" y="4672584"/>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807208" y="3941063"/>
            <a:ext cx="2057400" cy="1463040"/>
          </a:xfrm>
          <a:prstGeom prst="roundRect">
            <a:avLst>
              <a:gd name="adj" fmla="val 8000"/>
            </a:avLst>
          </a:prstGeom>
          <a:solidFill>
            <a:srgbClr val="152D36"/>
          </a:solidFill>
          <a:ln>
            <a:noFill/>
          </a:ln>
        </p:spPr>
        <p:txBody>
          <a:bodyPr rtlCol="0" anchor="ctr"/>
          <a:lstStyle/>
          <a:p/>
        </p:txBody>
      </p:sp>
      <p:sp>
        <p:nvSpPr>
          <p:cNvPr id="36" name="Oval 35"/>
          <p:cNvSpPr/>
          <p:nvPr/>
        </p:nvSpPr>
        <p:spPr>
          <a:xfrm>
            <a:off x="2971800" y="4096512"/>
            <a:ext cx="384048" cy="384048"/>
          </a:xfrm>
          <a:prstGeom prst="ellipse">
            <a:avLst/>
          </a:prstGeom>
          <a:solidFill>
            <a:srgbClr val="A8D3B5"/>
          </a:solidFill>
          <a:ln>
            <a:noFill/>
          </a:ln>
        </p:spPr>
        <p:txBody>
          <a:bodyPr rtlCol="0" anchor="ctr" lIns="0" rIns="0" tIns="0" bIns="0"/>
          <a:lstStyle/>
          <a:p>
            <a:pPr algn="ctr"/>
            <a:r>
              <a:rPr sz="1300" b="1">
                <a:solidFill>
                  <a:srgbClr val="152D36"/>
                </a:solidFill>
                <a:latin typeface="Calibri"/>
              </a:rPr>
              <a:t>6</a:t>
            </a:r>
          </a:p>
        </p:txBody>
      </p:sp>
      <p:sp>
        <p:nvSpPr>
          <p:cNvPr id="37" name="TextBox 36"/>
          <p:cNvSpPr txBox="1"/>
          <p:nvPr/>
        </p:nvSpPr>
        <p:spPr>
          <a:xfrm>
            <a:off x="3447288" y="4059936"/>
            <a:ext cx="1325880" cy="475488"/>
          </a:xfrm>
          <a:prstGeom prst="rect">
            <a:avLst/>
          </a:prstGeom>
          <a:noFill/>
        </p:spPr>
        <p:txBody>
          <a:bodyPr wrap="square" lIns="0" rIns="0" tIns="0" bIns="0" anchor="ctr">
            <a:spAutoFit/>
          </a:bodyPr>
          <a:lstStyle/>
          <a:p>
            <a:pPr algn="l"/>
            <a:r>
              <a:rPr sz="1400" b="1" i="0">
                <a:solidFill>
                  <a:srgbClr val="FFFFFF"/>
                </a:solidFill>
                <a:latin typeface="Calibri"/>
              </a:rPr>
              <a:t>SPK (Order)</a:t>
            </a:r>
          </a:p>
        </p:txBody>
      </p:sp>
      <p:sp>
        <p:nvSpPr>
          <p:cNvPr id="38" name="TextBox 37"/>
          <p:cNvSpPr txBox="1"/>
          <p:nvPr/>
        </p:nvSpPr>
        <p:spPr>
          <a:xfrm>
            <a:off x="2971800" y="4617720"/>
            <a:ext cx="1755648" cy="731520"/>
          </a:xfrm>
          <a:prstGeom prst="rect">
            <a:avLst/>
          </a:prstGeom>
          <a:noFill/>
        </p:spPr>
        <p:txBody>
          <a:bodyPr wrap="square" lIns="0" rIns="0" tIns="0" bIns="0" anchor="t">
            <a:spAutoFit/>
          </a:bodyPr>
          <a:lstStyle/>
          <a:p>
            <a:pPr algn="l"/>
            <a:r>
              <a:rPr sz="1200" b="0" i="0">
                <a:solidFill>
                  <a:srgbClr val="FFFFFF"/>
                </a:solidFill>
                <a:latin typeface="Calibri"/>
              </a:rPr>
              <a:t>Dari MS SQL: stage Order, prospecting berhenti</a:t>
            </a:r>
          </a:p>
        </p:txBody>
      </p:sp>
      <p:cxnSp>
        <p:nvCxnSpPr>
          <p:cNvPr id="39" name="Connector 38"/>
          <p:cNvCxnSpPr/>
          <p:nvPr/>
        </p:nvCxnSpPr>
        <p:spPr>
          <a:xfrm>
            <a:off x="4882896" y="4672584"/>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065776" y="3941063"/>
            <a:ext cx="2057400" cy="1463040"/>
          </a:xfrm>
          <a:prstGeom prst="roundRect">
            <a:avLst>
              <a:gd name="adj" fmla="val 8000"/>
            </a:avLst>
          </a:prstGeom>
          <a:solidFill>
            <a:srgbClr val="152D36"/>
          </a:solidFill>
          <a:ln>
            <a:noFill/>
          </a:ln>
        </p:spPr>
        <p:txBody>
          <a:bodyPr rtlCol="0" anchor="ctr"/>
          <a:lstStyle/>
          <a:p/>
        </p:txBody>
      </p:sp>
      <p:sp>
        <p:nvSpPr>
          <p:cNvPr id="41" name="Oval 40"/>
          <p:cNvSpPr/>
          <p:nvPr/>
        </p:nvSpPr>
        <p:spPr>
          <a:xfrm>
            <a:off x="5230368" y="4096512"/>
            <a:ext cx="384048" cy="384048"/>
          </a:xfrm>
          <a:prstGeom prst="ellipse">
            <a:avLst/>
          </a:prstGeom>
          <a:solidFill>
            <a:srgbClr val="A8D3B5"/>
          </a:solidFill>
          <a:ln>
            <a:noFill/>
          </a:ln>
        </p:spPr>
        <p:txBody>
          <a:bodyPr rtlCol="0" anchor="ctr" lIns="0" rIns="0" tIns="0" bIns="0"/>
          <a:lstStyle/>
          <a:p>
            <a:pPr algn="ctr"/>
            <a:r>
              <a:rPr sz="1300" b="1">
                <a:solidFill>
                  <a:srgbClr val="152D36"/>
                </a:solidFill>
                <a:latin typeface="Calibri"/>
              </a:rPr>
              <a:t>7</a:t>
            </a:r>
          </a:p>
        </p:txBody>
      </p:sp>
      <p:sp>
        <p:nvSpPr>
          <p:cNvPr id="42" name="TextBox 41"/>
          <p:cNvSpPr txBox="1"/>
          <p:nvPr/>
        </p:nvSpPr>
        <p:spPr>
          <a:xfrm>
            <a:off x="5705856" y="4059936"/>
            <a:ext cx="1325880" cy="475488"/>
          </a:xfrm>
          <a:prstGeom prst="rect">
            <a:avLst/>
          </a:prstGeom>
          <a:noFill/>
        </p:spPr>
        <p:txBody>
          <a:bodyPr wrap="square" lIns="0" rIns="0" tIns="0" bIns="0" anchor="ctr">
            <a:spAutoFit/>
          </a:bodyPr>
          <a:lstStyle/>
          <a:p>
            <a:pPr algn="l"/>
            <a:r>
              <a:rPr sz="1400" b="1" i="0">
                <a:solidFill>
                  <a:srgbClr val="FFFFFF"/>
                </a:solidFill>
                <a:latin typeface="Calibri"/>
              </a:rPr>
              <a:t>DO / serah terima</a:t>
            </a:r>
          </a:p>
        </p:txBody>
      </p:sp>
      <p:sp>
        <p:nvSpPr>
          <p:cNvPr id="43" name="TextBox 42"/>
          <p:cNvSpPr txBox="1"/>
          <p:nvPr/>
        </p:nvSpPr>
        <p:spPr>
          <a:xfrm>
            <a:off x="5230368" y="4617720"/>
            <a:ext cx="1755648" cy="731520"/>
          </a:xfrm>
          <a:prstGeom prst="rect">
            <a:avLst/>
          </a:prstGeom>
          <a:noFill/>
        </p:spPr>
        <p:txBody>
          <a:bodyPr wrap="square" lIns="0" rIns="0" tIns="0" bIns="0" anchor="t">
            <a:spAutoFit/>
          </a:bodyPr>
          <a:lstStyle/>
          <a:p>
            <a:pPr algn="l"/>
            <a:r>
              <a:rPr sz="1200" b="0" i="0">
                <a:solidFill>
                  <a:srgbClr val="FFFFFF"/>
                </a:solidFill>
                <a:latin typeface="Calibri"/>
              </a:rPr>
              <a:t>Stage Won, survey CSAT/NPS H+1</a:t>
            </a:r>
          </a:p>
        </p:txBody>
      </p:sp>
      <p:cxnSp>
        <p:nvCxnSpPr>
          <p:cNvPr id="44" name="Connector 43"/>
          <p:cNvCxnSpPr/>
          <p:nvPr/>
        </p:nvCxnSpPr>
        <p:spPr>
          <a:xfrm>
            <a:off x="7141464" y="4672584"/>
            <a:ext cx="164592"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324344" y="3941063"/>
            <a:ext cx="2057400" cy="1463040"/>
          </a:xfrm>
          <a:prstGeom prst="roundRect">
            <a:avLst>
              <a:gd name="adj" fmla="val 8000"/>
            </a:avLst>
          </a:prstGeom>
          <a:solidFill>
            <a:srgbClr val="F6F8F6"/>
          </a:solidFill>
          <a:ln>
            <a:noFill/>
          </a:ln>
        </p:spPr>
        <p:txBody>
          <a:bodyPr rtlCol="0" anchor="ctr"/>
          <a:lstStyle/>
          <a:p/>
        </p:txBody>
      </p:sp>
      <p:sp>
        <p:nvSpPr>
          <p:cNvPr id="46" name="Oval 45"/>
          <p:cNvSpPr/>
          <p:nvPr/>
        </p:nvSpPr>
        <p:spPr>
          <a:xfrm>
            <a:off x="7488936" y="4096512"/>
            <a:ext cx="384048" cy="384048"/>
          </a:xfrm>
          <a:prstGeom prst="ellipse">
            <a:avLst/>
          </a:prstGeom>
          <a:solidFill>
            <a:srgbClr val="24414C"/>
          </a:solidFill>
          <a:ln>
            <a:noFill/>
          </a:ln>
        </p:spPr>
        <p:txBody>
          <a:bodyPr rtlCol="0" anchor="ctr" lIns="0" rIns="0" tIns="0" bIns="0"/>
          <a:lstStyle/>
          <a:p>
            <a:pPr algn="ctr"/>
            <a:r>
              <a:rPr sz="1300" b="1">
                <a:solidFill>
                  <a:srgbClr val="FFFFFF"/>
                </a:solidFill>
                <a:latin typeface="Calibri"/>
              </a:rPr>
              <a:t>8</a:t>
            </a:r>
          </a:p>
        </p:txBody>
      </p:sp>
      <p:sp>
        <p:nvSpPr>
          <p:cNvPr id="47" name="TextBox 46"/>
          <p:cNvSpPr txBox="1"/>
          <p:nvPr/>
        </p:nvSpPr>
        <p:spPr>
          <a:xfrm>
            <a:off x="7964423" y="4059936"/>
            <a:ext cx="1325880" cy="475488"/>
          </a:xfrm>
          <a:prstGeom prst="rect">
            <a:avLst/>
          </a:prstGeom>
          <a:noFill/>
        </p:spPr>
        <p:txBody>
          <a:bodyPr wrap="square" lIns="0" rIns="0" tIns="0" bIns="0" anchor="ctr">
            <a:spAutoFit/>
          </a:bodyPr>
          <a:lstStyle/>
          <a:p>
            <a:pPr algn="l"/>
            <a:r>
              <a:rPr sz="1400" b="1" i="0">
                <a:solidFill>
                  <a:srgbClr val="20343D"/>
                </a:solidFill>
                <a:latin typeface="Calibri"/>
              </a:rPr>
              <a:t>Aftersales &amp; loyalty</a:t>
            </a:r>
          </a:p>
        </p:txBody>
      </p:sp>
      <p:sp>
        <p:nvSpPr>
          <p:cNvPr id="48" name="TextBox 47"/>
          <p:cNvSpPr txBox="1"/>
          <p:nvPr/>
        </p:nvSpPr>
        <p:spPr>
          <a:xfrm>
            <a:off x="7488936" y="4617720"/>
            <a:ext cx="1755648" cy="731520"/>
          </a:xfrm>
          <a:prstGeom prst="rect">
            <a:avLst/>
          </a:prstGeom>
          <a:noFill/>
        </p:spPr>
        <p:txBody>
          <a:bodyPr wrap="square" lIns="0" rIns="0" tIns="0" bIns="0" anchor="t">
            <a:spAutoFit/>
          </a:bodyPr>
          <a:lstStyle/>
          <a:p>
            <a:pPr algn="l"/>
            <a:r>
              <a:rPr sz="1200" b="0" i="0">
                <a:solidFill>
                  <a:srgbClr val="20343D"/>
                </a:solidFill>
                <a:latin typeface="Calibri"/>
              </a:rPr>
              <a:t>Servis, STNK/asuransi, referral, repeat</a:t>
            </a:r>
          </a:p>
        </p:txBody>
      </p:sp>
      <p:sp>
        <p:nvSpPr>
          <p:cNvPr id="49" name="Rounded Rectangle 48"/>
          <p:cNvSpPr/>
          <p:nvPr/>
        </p:nvSpPr>
        <p:spPr>
          <a:xfrm>
            <a:off x="9582912" y="3941063"/>
            <a:ext cx="2057400" cy="1463040"/>
          </a:xfrm>
          <a:prstGeom prst="roundRect">
            <a:avLst>
              <a:gd name="adj" fmla="val 8000"/>
            </a:avLst>
          </a:prstGeom>
          <a:solidFill>
            <a:srgbClr val="FBF3E6"/>
          </a:solidFill>
          <a:ln>
            <a:noFill/>
          </a:ln>
        </p:spPr>
        <p:txBody>
          <a:bodyPr rtlCol="0" anchor="ctr"/>
          <a:lstStyle/>
          <a:p/>
        </p:txBody>
      </p:sp>
      <p:sp>
        <p:nvSpPr>
          <p:cNvPr id="50" name="TextBox 49"/>
          <p:cNvSpPr txBox="1"/>
          <p:nvPr/>
        </p:nvSpPr>
        <p:spPr>
          <a:xfrm>
            <a:off x="9747504" y="4069080"/>
            <a:ext cx="1783080" cy="274320"/>
          </a:xfrm>
          <a:prstGeom prst="rect">
            <a:avLst/>
          </a:prstGeom>
          <a:noFill/>
        </p:spPr>
        <p:txBody>
          <a:bodyPr wrap="square" lIns="0" rIns="0" tIns="0" bIns="0" anchor="t">
            <a:spAutoFit/>
          </a:bodyPr>
          <a:lstStyle/>
          <a:p>
            <a:pPr algn="l"/>
            <a:r>
              <a:rPr sz="1100" b="1" i="0">
                <a:solidFill>
                  <a:srgbClr val="B58235"/>
                </a:solidFill>
                <a:latin typeface="Calibri"/>
              </a:rPr>
              <a:t>EXIT PATHS</a:t>
            </a:r>
          </a:p>
        </p:txBody>
      </p:sp>
      <p:sp>
        <p:nvSpPr>
          <p:cNvPr id="51" name="TextBox 50"/>
          <p:cNvSpPr txBox="1"/>
          <p:nvPr/>
        </p:nvSpPr>
        <p:spPr>
          <a:xfrm>
            <a:off x="9747504" y="4389120"/>
            <a:ext cx="1783080" cy="1005840"/>
          </a:xfrm>
          <a:prstGeom prst="rect">
            <a:avLst/>
          </a:prstGeom>
          <a:noFill/>
        </p:spPr>
        <p:txBody>
          <a:bodyPr wrap="square" lIns="0" rIns="0" tIns="0" bIns="0" anchor="t">
            <a:spAutoFit/>
          </a:bodyPr>
          <a:lstStyle/>
          <a:p>
            <a:pPr algn="l" marL="201168" indent="-201168">
              <a:spcAft>
                <a:spcPts val="100"/>
              </a:spcAft>
              <a:buClr>
                <a:srgbClr val="B58235"/>
              </a:buClr>
              <a:buFont typeface="Arial"/>
              <a:buChar char="•"/>
            </a:pPr>
            <a:r>
              <a:rPr sz="1200" b="0" i="0">
                <a:solidFill>
                  <a:srgbClr val="20343D"/>
                </a:solidFill>
                <a:latin typeface="Calibri"/>
              </a:rPr>
              <a:t>Lost + reason code</a:t>
            </a:r>
          </a:p>
          <a:p>
            <a:pPr algn="l" marL="201168" indent="-201168">
              <a:spcAft>
                <a:spcPts val="100"/>
              </a:spcAft>
              <a:buClr>
                <a:srgbClr val="B58235"/>
              </a:buClr>
              <a:buFont typeface="Arial"/>
              <a:buChar char="•"/>
            </a:pPr>
            <a:r>
              <a:rPr sz="1200" b="0" i="0">
                <a:solidFill>
                  <a:srgbClr val="20343D"/>
                </a:solidFill>
                <a:latin typeface="Calibri"/>
              </a:rPr>
              <a:t>Nurture</a:t>
            </a:r>
          </a:p>
          <a:p>
            <a:pPr algn="l" marL="201168" indent="-201168">
              <a:spcAft>
                <a:spcPts val="100"/>
              </a:spcAft>
              <a:buClr>
                <a:srgbClr val="B58235"/>
              </a:buClr>
              <a:buFont typeface="Arial"/>
              <a:buChar char="•"/>
            </a:pPr>
            <a:r>
              <a:rPr sz="1200" b="0" i="0">
                <a:solidFill>
                  <a:srgbClr val="20343D"/>
                </a:solidFill>
                <a:latin typeface="Calibri"/>
              </a:rPr>
              <a:t>Opt-out</a:t>
            </a:r>
          </a:p>
          <a:p>
            <a:pPr algn="l" marL="201168" indent="-201168">
              <a:spcAft>
                <a:spcPts val="100"/>
              </a:spcAft>
              <a:buClr>
                <a:srgbClr val="B58235"/>
              </a:buClr>
              <a:buFont typeface="Arial"/>
              <a:buChar char="•"/>
            </a:pPr>
            <a:r>
              <a:rPr sz="1200" b="0" i="0">
                <a:solidFill>
                  <a:srgbClr val="20343D"/>
                </a:solidFill>
                <a:latin typeface="Calibri"/>
              </a:rPr>
              <a:t>Purchased → suppress</a:t>
            </a:r>
          </a:p>
        </p:txBody>
      </p:sp>
      <p:sp>
        <p:nvSpPr>
          <p:cNvPr id="52" name="Rounded Rectangle 51"/>
          <p:cNvSpPr/>
          <p:nvPr/>
        </p:nvSpPr>
        <p:spPr>
          <a:xfrm>
            <a:off x="548640" y="5623560"/>
            <a:ext cx="11091672" cy="566928"/>
          </a:xfrm>
          <a:prstGeom prst="roundRect">
            <a:avLst>
              <a:gd name="adj" fmla="val 30000"/>
            </a:avLst>
          </a:prstGeom>
          <a:solidFill>
            <a:srgbClr val="FFFFFF"/>
          </a:solidFill>
          <a:ln w="12700">
            <a:solidFill>
              <a:srgbClr val="E7EBE9"/>
            </a:solidFill>
          </a:ln>
        </p:spPr>
        <p:txBody>
          <a:bodyPr rtlCol="0" anchor="ctr"/>
          <a:lstStyle/>
          <a:p/>
        </p:txBody>
      </p:sp>
      <p:sp>
        <p:nvSpPr>
          <p:cNvPr id="53" name="TextBox 52"/>
          <p:cNvSpPr txBox="1"/>
          <p:nvPr/>
        </p:nvSpPr>
        <p:spPr>
          <a:xfrm>
            <a:off x="777240" y="5623560"/>
            <a:ext cx="10698480" cy="566928"/>
          </a:xfrm>
          <a:prstGeom prst="rect">
            <a:avLst/>
          </a:prstGeom>
          <a:noFill/>
        </p:spPr>
        <p:txBody>
          <a:bodyPr wrap="square" lIns="0" rIns="0" tIns="0" bIns="0" anchor="ctr">
            <a:spAutoFit/>
          </a:bodyPr>
          <a:lstStyle/>
          <a:p>
            <a:pPr algn="l"/>
            <a:r>
              <a:rPr sz="1400" b="1" i="0">
                <a:solidFill>
                  <a:srgbClr val="126653"/>
                </a:solidFill>
                <a:latin typeface="Calibri"/>
              </a:rPr>
              <a:t>Prinsip: </a:t>
            </a:r>
            <a:r>
              <a:rPr sz="1400" b="0" i="0">
                <a:solidFill>
                  <a:srgbClr val="20343D"/>
                </a:solidFill>
                <a:latin typeface="Calibri"/>
              </a:rPr>
              <a:t>satu profil, banyak opportunity · customer tidak mengulang informasi · status SPK/DO dari sistem sumber · komunikasi mengikuti tahap</a:t>
            </a:r>
          </a:p>
        </p:txBody>
      </p:sp>
      <p:sp>
        <p:nvSpPr>
          <p:cNvPr id="54" name="TextBox 53"/>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55" name="TextBox 54"/>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2 · DETAIL TAHAP</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Setiap tahap punya otomasi, pemilik, SLA, dan exit criteria</a:t>
            </a:r>
          </a:p>
        </p:txBody>
      </p:sp>
      <p:graphicFrame>
        <p:nvGraphicFramePr>
          <p:cNvPr id="4" name="Table 3"/>
          <p:cNvGraphicFramePr>
            <a:graphicFrameLocks noGrp="1"/>
          </p:cNvGraphicFramePr>
          <p:nvPr/>
        </p:nvGraphicFramePr>
        <p:xfrm>
          <a:off x="548640" y="1554480"/>
          <a:ext cx="11091671" cy="4279392"/>
        </p:xfrm>
        <a:graphic>
          <a:graphicData uri="http://schemas.openxmlformats.org/drawingml/2006/table">
            <a:tbl>
              <a:tblPr firstRow="1">
                <a:tableStyleId>{5C22544A-7EE6-4342-B048-85BDC9FD1C3A}</a:tableStyleId>
              </a:tblPr>
              <a:tblGrid>
                <a:gridCol w="2194560"/>
                <a:gridCol w="4206240"/>
                <a:gridCol w="2606040"/>
                <a:gridCol w="2084831"/>
              </a:tblGrid>
              <a:tr h="475488">
                <a:tc>
                  <a:txBody>
                    <a:bodyPr wrap="square"/>
                    <a:lstStyle/>
                    <a:p>
                      <a:r>
                        <a:rPr sz="1300" b="1">
                          <a:solidFill>
                            <a:srgbClr val="FFFFFF"/>
                          </a:solidFill>
                          <a:latin typeface="Calibri"/>
                        </a:rPr>
                        <a:t>Tahap</a:t>
                      </a:r>
                    </a:p>
                  </a:txBody>
                  <a:tcPr marL="73152" marR="73152" marT="36576" marB="36576" anchor="ctr">
                    <a:solidFill>
                      <a:srgbClr val="152D36"/>
                    </a:solidFill>
                  </a:tcPr>
                </a:tc>
                <a:tc>
                  <a:txBody>
                    <a:bodyPr wrap="square"/>
                    <a:lstStyle/>
                    <a:p>
                      <a:r>
                        <a:rPr sz="1300" b="1">
                          <a:solidFill>
                            <a:srgbClr val="FFFFFF"/>
                          </a:solidFill>
                          <a:latin typeface="Calibri"/>
                        </a:rPr>
                        <a:t>Otomasi utama</a:t>
                      </a:r>
                    </a:p>
                  </a:txBody>
                  <a:tcPr marL="73152" marR="73152" marT="36576" marB="36576" anchor="ctr">
                    <a:solidFill>
                      <a:srgbClr val="152D36"/>
                    </a:solidFill>
                  </a:tcPr>
                </a:tc>
                <a:tc>
                  <a:txBody>
                    <a:bodyPr wrap="square"/>
                    <a:lstStyle/>
                    <a:p>
                      <a:r>
                        <a:rPr sz="1300" b="1">
                          <a:solidFill>
                            <a:srgbClr val="FFFFFF"/>
                          </a:solidFill>
                          <a:latin typeface="Calibri"/>
                        </a:rPr>
                        <a:t>Owner &amp; SLA</a:t>
                      </a:r>
                    </a:p>
                  </a:txBody>
                  <a:tcPr marL="73152" marR="73152" marT="36576" marB="36576" anchor="ctr">
                    <a:solidFill>
                      <a:srgbClr val="152D36"/>
                    </a:solidFill>
                  </a:tcPr>
                </a:tc>
                <a:tc>
                  <a:txBody>
                    <a:bodyPr wrap="square"/>
                    <a:lstStyle/>
                    <a:p>
                      <a:r>
                        <a:rPr sz="1300" b="1">
                          <a:solidFill>
                            <a:srgbClr val="FFFFFF"/>
                          </a:solidFill>
                          <a:latin typeface="Calibri"/>
                        </a:rPr>
                        <a:t>Exit criteria</a:t>
                      </a:r>
                    </a:p>
                  </a:txBody>
                  <a:tcPr marL="73152" marR="73152" marT="36576" marB="36576" anchor="ctr">
                    <a:solidFill>
                      <a:srgbClr val="152D36"/>
                    </a:solidFill>
                  </a:tcPr>
                </a:tc>
              </a:tr>
              <a:tr h="475488">
                <a:tc>
                  <a:txBody>
                    <a:bodyPr wrap="square"/>
                    <a:lstStyle/>
                    <a:p>
                      <a:r>
                        <a:rPr sz="1300" b="1">
                          <a:solidFill>
                            <a:srgbClr val="20343D"/>
                          </a:solidFill>
                          <a:latin typeface="Calibri"/>
                        </a:rPr>
                        <a:t>1 Inquiry &amp; capture</a:t>
                      </a:r>
                    </a:p>
                  </a:txBody>
                  <a:tcPr marL="73152" marR="73152" marT="36576" marB="36576" anchor="ctr">
                    <a:solidFill>
                      <a:srgbClr val="FFFFFF"/>
                    </a:solidFill>
                  </a:tcPr>
                </a:tc>
                <a:tc>
                  <a:txBody>
                    <a:bodyPr wrap="square"/>
                    <a:lstStyle/>
                    <a:p>
                      <a:r>
                        <a:rPr sz="1300" b="0">
                          <a:solidFill>
                            <a:srgbClr val="20343D"/>
                          </a:solidFill>
                          <a:latin typeface="Calibri"/>
                        </a:rPr>
                        <a:t>Auto-ack, consent, E.164, merge profil, SLA timer</a:t>
                      </a:r>
                    </a:p>
                  </a:txBody>
                  <a:tcPr marL="73152" marR="73152" marT="36576" marB="36576" anchor="ctr">
                    <a:solidFill>
                      <a:srgbClr val="FFFFFF"/>
                    </a:solidFill>
                  </a:tcPr>
                </a:tc>
                <a:tc>
                  <a:txBody>
                    <a:bodyPr wrap="square"/>
                    <a:lstStyle/>
                    <a:p>
                      <a:r>
                        <a:rPr sz="1300" b="0">
                          <a:solidFill>
                            <a:srgbClr val="20343D"/>
                          </a:solidFill>
                          <a:latin typeface="Calibri"/>
                        </a:rPr>
                        <a:t>Sistem, &lt;1 menit</a:t>
                      </a:r>
                    </a:p>
                  </a:txBody>
                  <a:tcPr marL="73152" marR="73152" marT="36576" marB="36576" anchor="ctr">
                    <a:solidFill>
                      <a:srgbClr val="FFFFFF"/>
                    </a:solidFill>
                  </a:tcPr>
                </a:tc>
                <a:tc>
                  <a:txBody>
                    <a:bodyPr wrap="square"/>
                    <a:lstStyle/>
                    <a:p>
                      <a:r>
                        <a:rPr sz="1300" b="0">
                          <a:solidFill>
                            <a:srgbClr val="20343D"/>
                          </a:solidFill>
                          <a:latin typeface="Calibri"/>
                        </a:rPr>
                        <a:t>Lead ter-assign</a:t>
                      </a:r>
                    </a:p>
                  </a:txBody>
                  <a:tcPr marL="73152" marR="73152" marT="36576" marB="36576" anchor="ctr">
                    <a:solidFill>
                      <a:srgbClr val="FFFFFF"/>
                    </a:solidFill>
                  </a:tcPr>
                </a:tc>
              </a:tr>
              <a:tr h="475488">
                <a:tc>
                  <a:txBody>
                    <a:bodyPr wrap="square"/>
                    <a:lstStyle/>
                    <a:p>
                      <a:r>
                        <a:rPr sz="1300" b="1">
                          <a:solidFill>
                            <a:srgbClr val="20343D"/>
                          </a:solidFill>
                          <a:latin typeface="Calibri"/>
                        </a:rPr>
                        <a:t>2 Kualifikasi</a:t>
                      </a:r>
                    </a:p>
                  </a:txBody>
                  <a:tcPr marL="73152" marR="73152" marT="36576" marB="36576" anchor="ctr">
                    <a:solidFill>
                      <a:srgbClr val="F6F8F6"/>
                    </a:solidFill>
                  </a:tcPr>
                </a:tc>
                <a:tc>
                  <a:txBody>
                    <a:bodyPr wrap="square"/>
                    <a:lstStyle/>
                    <a:p>
                      <a:r>
                        <a:rPr sz="1300" b="0">
                          <a:solidFill>
                            <a:srgbClr val="20343D"/>
                          </a:solidFill>
                          <a:latin typeface="Calibri"/>
                        </a:rPr>
                        <a:t>Bot after-hours, scoring Hot/Warm/Cold</a:t>
                      </a:r>
                    </a:p>
                  </a:txBody>
                  <a:tcPr marL="73152" marR="73152" marT="36576" marB="36576" anchor="ctr">
                    <a:solidFill>
                      <a:srgbClr val="F6F8F6"/>
                    </a:solidFill>
                  </a:tcPr>
                </a:tc>
                <a:tc>
                  <a:txBody>
                    <a:bodyPr wrap="square"/>
                    <a:lstStyle/>
                    <a:p>
                      <a:r>
                        <a:rPr sz="1300" b="0">
                          <a:solidFill>
                            <a:srgbClr val="20343D"/>
                          </a:solidFill>
                          <a:latin typeface="Calibri"/>
                        </a:rPr>
                        <a:t>Sales ≤15 menit</a:t>
                      </a:r>
                    </a:p>
                  </a:txBody>
                  <a:tcPr marL="73152" marR="73152" marT="36576" marB="36576" anchor="ctr">
                    <a:solidFill>
                      <a:srgbClr val="F6F8F6"/>
                    </a:solidFill>
                  </a:tcPr>
                </a:tc>
                <a:tc>
                  <a:txBody>
                    <a:bodyPr wrap="square"/>
                    <a:lstStyle/>
                    <a:p>
                      <a:r>
                        <a:rPr sz="1300" b="0">
                          <a:solidFill>
                            <a:srgbClr val="20343D"/>
                          </a:solidFill>
                          <a:latin typeface="Calibri"/>
                        </a:rPr>
                        <a:t>Qualified / Nurture / Lost</a:t>
                      </a:r>
                    </a:p>
                  </a:txBody>
                  <a:tcPr marL="73152" marR="73152" marT="36576" marB="36576" anchor="ctr">
                    <a:solidFill>
                      <a:srgbClr val="F6F8F6"/>
                    </a:solidFill>
                  </a:tcPr>
                </a:tc>
              </a:tr>
              <a:tr h="475488">
                <a:tc>
                  <a:txBody>
                    <a:bodyPr wrap="square"/>
                    <a:lstStyle/>
                    <a:p>
                      <a:r>
                        <a:rPr sz="1300" b="1">
                          <a:solidFill>
                            <a:srgbClr val="20343D"/>
                          </a:solidFill>
                          <a:latin typeface="Calibri"/>
                        </a:rPr>
                        <a:t>3 Konsultasi</a:t>
                      </a:r>
                    </a:p>
                  </a:txBody>
                  <a:tcPr marL="73152" marR="73152" marT="36576" marB="36576" anchor="ctr">
                    <a:solidFill>
                      <a:srgbClr val="FFFFFF"/>
                    </a:solidFill>
                  </a:tcPr>
                </a:tc>
                <a:tc>
                  <a:txBody>
                    <a:bodyPr wrap="square"/>
                    <a:lstStyle/>
                    <a:p>
                      <a:r>
                        <a:rPr sz="1300" b="0">
                          <a:solidFill>
                            <a:srgbClr val="20343D"/>
                          </a:solidFill>
                          <a:latin typeface="Calibri"/>
                        </a:rPr>
                        <a:t>Routing, template brosur &amp; simulasi kredit</a:t>
                      </a:r>
                    </a:p>
                  </a:txBody>
                  <a:tcPr marL="73152" marR="73152" marT="36576" marB="36576" anchor="ctr">
                    <a:solidFill>
                      <a:srgbClr val="FFFFFF"/>
                    </a:solidFill>
                  </a:tcPr>
                </a:tc>
                <a:tc>
                  <a:txBody>
                    <a:bodyPr wrap="square"/>
                    <a:lstStyle/>
                    <a:p>
                      <a:r>
                        <a:rPr sz="1300" b="0">
                          <a:solidFill>
                            <a:srgbClr val="20343D"/>
                          </a:solidFill>
                          <a:latin typeface="Calibri"/>
                        </a:rPr>
                        <a:t>Sales; eskalasi menit 15</a:t>
                      </a:r>
                    </a:p>
                  </a:txBody>
                  <a:tcPr marL="73152" marR="73152" marT="36576" marB="36576" anchor="ctr">
                    <a:solidFill>
                      <a:srgbClr val="FFFFFF"/>
                    </a:solidFill>
                  </a:tcPr>
                </a:tc>
                <a:tc>
                  <a:txBody>
                    <a:bodyPr wrap="square"/>
                    <a:lstStyle/>
                    <a:p>
                      <a:r>
                        <a:rPr sz="1300" b="0">
                          <a:solidFill>
                            <a:srgbClr val="20343D"/>
                          </a:solidFill>
                          <a:latin typeface="Calibri"/>
                        </a:rPr>
                        <a:t>Jadwal test drive</a:t>
                      </a:r>
                    </a:p>
                  </a:txBody>
                  <a:tcPr marL="73152" marR="73152" marT="36576" marB="36576" anchor="ctr">
                    <a:solidFill>
                      <a:srgbClr val="FFFFFF"/>
                    </a:solidFill>
                  </a:tcPr>
                </a:tc>
              </a:tr>
              <a:tr h="475488">
                <a:tc>
                  <a:txBody>
                    <a:bodyPr wrap="square"/>
                    <a:lstStyle/>
                    <a:p>
                      <a:r>
                        <a:rPr sz="1300" b="1">
                          <a:solidFill>
                            <a:srgbClr val="20343D"/>
                          </a:solidFill>
                          <a:latin typeface="Calibri"/>
                        </a:rPr>
                        <a:t>4 Test drive</a:t>
                      </a:r>
                    </a:p>
                  </a:txBody>
                  <a:tcPr marL="73152" marR="73152" marT="36576" marB="36576" anchor="ctr">
                    <a:solidFill>
                      <a:srgbClr val="F6F8F6"/>
                    </a:solidFill>
                  </a:tcPr>
                </a:tc>
                <a:tc>
                  <a:txBody>
                    <a:bodyPr wrap="square"/>
                    <a:lstStyle/>
                    <a:p>
                      <a:r>
                        <a:rPr sz="1300" b="0">
                          <a:solidFill>
                            <a:srgbClr val="20343D"/>
                          </a:solidFill>
                          <a:latin typeface="Calibri"/>
                        </a:rPr>
                        <a:t>Booking, reminder H-1 &amp; 2 jam, no-show task</a:t>
                      </a:r>
                    </a:p>
                  </a:txBody>
                  <a:tcPr marL="73152" marR="73152" marT="36576" marB="36576" anchor="ctr">
                    <a:solidFill>
                      <a:srgbClr val="F6F8F6"/>
                    </a:solidFill>
                  </a:tcPr>
                </a:tc>
                <a:tc>
                  <a:txBody>
                    <a:bodyPr wrap="square"/>
                    <a:lstStyle/>
                    <a:p>
                      <a:r>
                        <a:rPr sz="1300" b="0">
                          <a:solidFill>
                            <a:srgbClr val="20343D"/>
                          </a:solidFill>
                          <a:latin typeface="Calibri"/>
                        </a:rPr>
                        <a:t>Sales + showroom</a:t>
                      </a:r>
                    </a:p>
                  </a:txBody>
                  <a:tcPr marL="73152" marR="73152" marT="36576" marB="36576" anchor="ctr">
                    <a:solidFill>
                      <a:srgbClr val="F6F8F6"/>
                    </a:solidFill>
                  </a:tcPr>
                </a:tc>
                <a:tc>
                  <a:txBody>
                    <a:bodyPr wrap="square"/>
                    <a:lstStyle/>
                    <a:p>
                      <a:r>
                        <a:rPr sz="1300" b="0">
                          <a:solidFill>
                            <a:srgbClr val="20343D"/>
                          </a:solidFill>
                          <a:latin typeface="Calibri"/>
                        </a:rPr>
                        <a:t>Hadir / reschedule</a:t>
                      </a:r>
                    </a:p>
                  </a:txBody>
                  <a:tcPr marL="73152" marR="73152" marT="36576" marB="36576" anchor="ctr">
                    <a:solidFill>
                      <a:srgbClr val="F6F8F6"/>
                    </a:solidFill>
                  </a:tcPr>
                </a:tc>
              </a:tr>
              <a:tr h="475488">
                <a:tc>
                  <a:txBody>
                    <a:bodyPr wrap="square"/>
                    <a:lstStyle/>
                    <a:p>
                      <a:r>
                        <a:rPr sz="1300" b="1">
                          <a:solidFill>
                            <a:srgbClr val="20343D"/>
                          </a:solidFill>
                          <a:latin typeface="Calibri"/>
                        </a:rPr>
                        <a:t>5 Penawaran</a:t>
                      </a:r>
                    </a:p>
                  </a:txBody>
                  <a:tcPr marL="73152" marR="73152" marT="36576" marB="36576" anchor="ctr">
                    <a:solidFill>
                      <a:srgbClr val="FFFFFF"/>
                    </a:solidFill>
                  </a:tcPr>
                </a:tc>
                <a:tc>
                  <a:txBody>
                    <a:bodyPr wrap="square"/>
                    <a:lstStyle/>
                    <a:p>
                      <a:r>
                        <a:rPr sz="1300" b="0">
                          <a:solidFill>
                            <a:srgbClr val="20343D"/>
                          </a:solidFill>
                          <a:latin typeface="Calibri"/>
                        </a:rPr>
                        <a:t>Quotation, leasing, trade-in, reminder H+2</a:t>
                      </a:r>
                    </a:p>
                  </a:txBody>
                  <a:tcPr marL="73152" marR="73152" marT="36576" marB="36576" anchor="ctr">
                    <a:solidFill>
                      <a:srgbClr val="FFFFFF"/>
                    </a:solidFill>
                  </a:tcPr>
                </a:tc>
                <a:tc>
                  <a:txBody>
                    <a:bodyPr wrap="square"/>
                    <a:lstStyle/>
                    <a:p>
                      <a:r>
                        <a:rPr sz="1300" b="0">
                          <a:solidFill>
                            <a:srgbClr val="20343D"/>
                          </a:solidFill>
                          <a:latin typeface="Calibri"/>
                        </a:rPr>
                        <a:t>Sales; diskon oleh supervisor</a:t>
                      </a:r>
                    </a:p>
                  </a:txBody>
                  <a:tcPr marL="73152" marR="73152" marT="36576" marB="36576" anchor="ctr">
                    <a:solidFill>
                      <a:srgbClr val="FFFFFF"/>
                    </a:solidFill>
                  </a:tcPr>
                </a:tc>
                <a:tc>
                  <a:txBody>
                    <a:bodyPr wrap="square"/>
                    <a:lstStyle/>
                    <a:p>
                      <a:r>
                        <a:rPr sz="1300" b="0">
                          <a:solidFill>
                            <a:srgbClr val="20343D"/>
                          </a:solidFill>
                          <a:latin typeface="Calibri"/>
                        </a:rPr>
                        <a:t>SPK / Nurture / Lost</a:t>
                      </a:r>
                    </a:p>
                  </a:txBody>
                  <a:tcPr marL="73152" marR="73152" marT="36576" marB="36576" anchor="ctr">
                    <a:solidFill>
                      <a:srgbClr val="FFFFFF"/>
                    </a:solidFill>
                  </a:tcPr>
                </a:tc>
              </a:tr>
              <a:tr h="475488">
                <a:tc>
                  <a:txBody>
                    <a:bodyPr wrap="square"/>
                    <a:lstStyle/>
                    <a:p>
                      <a:r>
                        <a:rPr sz="1300" b="1">
                          <a:solidFill>
                            <a:srgbClr val="20343D"/>
                          </a:solidFill>
                          <a:latin typeface="Calibri"/>
                        </a:rPr>
                        <a:t>6 SPK</a:t>
                      </a:r>
                    </a:p>
                  </a:txBody>
                  <a:tcPr marL="73152" marR="73152" marT="36576" marB="36576" anchor="ctr">
                    <a:solidFill>
                      <a:srgbClr val="F6F8F6"/>
                    </a:solidFill>
                  </a:tcPr>
                </a:tc>
                <a:tc>
                  <a:txBody>
                    <a:bodyPr wrap="square"/>
                    <a:lstStyle/>
                    <a:p>
                      <a:r>
                        <a:rPr sz="1300" b="0">
                          <a:solidFill>
                            <a:srgbClr val="20343D"/>
                          </a:solidFill>
                          <a:latin typeface="Calibri"/>
                        </a:rPr>
                        <a:t>erp.spk.created → Order, stop prospecting</a:t>
                      </a:r>
                    </a:p>
                  </a:txBody>
                  <a:tcPr marL="73152" marR="73152" marT="36576" marB="36576" anchor="ctr">
                    <a:solidFill>
                      <a:srgbClr val="F6F8F6"/>
                    </a:solidFill>
                  </a:tcPr>
                </a:tc>
                <a:tc>
                  <a:txBody>
                    <a:bodyPr wrap="square"/>
                    <a:lstStyle/>
                    <a:p>
                      <a:r>
                        <a:rPr sz="1300" b="0">
                          <a:solidFill>
                            <a:srgbClr val="20343D"/>
                          </a:solidFill>
                          <a:latin typeface="Calibri"/>
                        </a:rPr>
                        <a:t>Sales + admin + leasing</a:t>
                      </a:r>
                    </a:p>
                  </a:txBody>
                  <a:tcPr marL="73152" marR="73152" marT="36576" marB="36576" anchor="ctr">
                    <a:solidFill>
                      <a:srgbClr val="F6F8F6"/>
                    </a:solidFill>
                  </a:tcPr>
                </a:tc>
                <a:tc>
                  <a:txBody>
                    <a:bodyPr wrap="square"/>
                    <a:lstStyle/>
                    <a:p>
                      <a:r>
                        <a:rPr sz="1300" b="0">
                          <a:solidFill>
                            <a:srgbClr val="20343D"/>
                          </a:solidFill>
                          <a:latin typeface="Calibri"/>
                        </a:rPr>
                        <a:t>DO / SPK batal</a:t>
                      </a:r>
                    </a:p>
                  </a:txBody>
                  <a:tcPr marL="73152" marR="73152" marT="36576" marB="36576" anchor="ctr">
                    <a:solidFill>
                      <a:srgbClr val="F6F8F6"/>
                    </a:solidFill>
                  </a:tcPr>
                </a:tc>
              </a:tr>
              <a:tr h="475488">
                <a:tc>
                  <a:txBody>
                    <a:bodyPr wrap="square"/>
                    <a:lstStyle/>
                    <a:p>
                      <a:r>
                        <a:rPr sz="1300" b="1">
                          <a:solidFill>
                            <a:srgbClr val="20343D"/>
                          </a:solidFill>
                          <a:latin typeface="Calibri"/>
                        </a:rPr>
                        <a:t>7 DO</a:t>
                      </a:r>
                    </a:p>
                  </a:txBody>
                  <a:tcPr marL="73152" marR="73152" marT="36576" marB="36576" anchor="ctr">
                    <a:solidFill>
                      <a:srgbClr val="FFFFFF"/>
                    </a:solidFill>
                  </a:tcPr>
                </a:tc>
                <a:tc>
                  <a:txBody>
                    <a:bodyPr wrap="square"/>
                    <a:lstStyle/>
                    <a:p>
                      <a:r>
                        <a:rPr sz="1300" b="0">
                          <a:solidFill>
                            <a:srgbClr val="20343D"/>
                          </a:solidFill>
                          <a:latin typeface="Calibri"/>
                        </a:rPr>
                        <a:t>erp.do.delivered → Won, survey H+1</a:t>
                      </a:r>
                    </a:p>
                  </a:txBody>
                  <a:tcPr marL="73152" marR="73152" marT="36576" marB="36576" anchor="ctr">
                    <a:solidFill>
                      <a:srgbClr val="FFFFFF"/>
                    </a:solidFill>
                  </a:tcPr>
                </a:tc>
                <a:tc>
                  <a:txBody>
                    <a:bodyPr wrap="square"/>
                    <a:lstStyle/>
                    <a:p>
                      <a:r>
                        <a:rPr sz="1300" b="0">
                          <a:solidFill>
                            <a:srgbClr val="20343D"/>
                          </a:solidFill>
                          <a:latin typeface="Calibri"/>
                        </a:rPr>
                        <a:t>Sales + delivery</a:t>
                      </a:r>
                    </a:p>
                  </a:txBody>
                  <a:tcPr marL="73152" marR="73152" marT="36576" marB="36576" anchor="ctr">
                    <a:solidFill>
                      <a:srgbClr val="FFFFFF"/>
                    </a:solidFill>
                  </a:tcPr>
                </a:tc>
                <a:tc>
                  <a:txBody>
                    <a:bodyPr wrap="square"/>
                    <a:lstStyle/>
                    <a:p>
                      <a:r>
                        <a:rPr sz="1300" b="0">
                          <a:solidFill>
                            <a:srgbClr val="20343D"/>
                          </a:solidFill>
                          <a:latin typeface="Calibri"/>
                        </a:rPr>
                        <a:t>Masuk aftersales</a:t>
                      </a:r>
                    </a:p>
                  </a:txBody>
                  <a:tcPr marL="73152" marR="73152" marT="36576" marB="36576" anchor="ctr">
                    <a:solidFill>
                      <a:srgbClr val="FFFFFF"/>
                    </a:solidFill>
                  </a:tcPr>
                </a:tc>
              </a:tr>
              <a:tr h="475488">
                <a:tc>
                  <a:txBody>
                    <a:bodyPr wrap="square"/>
                    <a:lstStyle/>
                    <a:p>
                      <a:r>
                        <a:rPr sz="1300" b="1">
                          <a:solidFill>
                            <a:srgbClr val="20343D"/>
                          </a:solidFill>
                          <a:latin typeface="Calibri"/>
                        </a:rPr>
                        <a:t>8 Aftersales</a:t>
                      </a:r>
                    </a:p>
                  </a:txBody>
                  <a:tcPr marL="73152" marR="73152" marT="36576" marB="36576" anchor="ctr">
                    <a:solidFill>
                      <a:srgbClr val="F6F8F6"/>
                    </a:solidFill>
                  </a:tcPr>
                </a:tc>
                <a:tc>
                  <a:txBody>
                    <a:bodyPr wrap="square"/>
                    <a:lstStyle/>
                    <a:p>
                      <a:r>
                        <a:rPr sz="1300" b="0">
                          <a:solidFill>
                            <a:srgbClr val="20343D"/>
                          </a:solidFill>
                          <a:latin typeface="Calibri"/>
                        </a:rPr>
                        <a:t>Servis, STNK/asuransi, referral, repeat</a:t>
                      </a:r>
                    </a:p>
                  </a:txBody>
                  <a:tcPr marL="73152" marR="73152" marT="36576" marB="36576" anchor="ctr">
                    <a:solidFill>
                      <a:srgbClr val="F6F8F6"/>
                    </a:solidFill>
                  </a:tcPr>
                </a:tc>
                <a:tc>
                  <a:txBody>
                    <a:bodyPr wrap="square"/>
                    <a:lstStyle/>
                    <a:p>
                      <a:r>
                        <a:rPr sz="1300" b="0">
                          <a:solidFill>
                            <a:srgbClr val="20343D"/>
                          </a:solidFill>
                          <a:latin typeface="Calibri"/>
                        </a:rPr>
                        <a:t>Service advisor, CRM</a:t>
                      </a:r>
                    </a:p>
                  </a:txBody>
                  <a:tcPr marL="73152" marR="73152" marT="36576" marB="36576" anchor="ctr">
                    <a:solidFill>
                      <a:srgbClr val="F6F8F6"/>
                    </a:solidFill>
                  </a:tcPr>
                </a:tc>
                <a:tc>
                  <a:txBody>
                    <a:bodyPr wrap="square"/>
                    <a:lstStyle/>
                    <a:p>
                      <a:r>
                        <a:rPr sz="1300" b="0">
                          <a:solidFill>
                            <a:srgbClr val="20343D"/>
                          </a:solidFill>
                          <a:latin typeface="Calibri"/>
                        </a:rPr>
                        <a:t>Opportunity baru</a:t>
                      </a:r>
                    </a:p>
                  </a:txBody>
                  <a:tcPr marL="73152" marR="73152" marT="36576" marB="36576" anchor="ctr">
                    <a:solidFill>
                      <a:srgbClr val="F6F8F6"/>
                    </a:solidFill>
                  </a:tcPr>
                </a:tc>
              </a:tr>
            </a:tbl>
          </a:graphicData>
        </a:graphic>
      </p:graphicFrame>
      <p:sp>
        <p:nvSpPr>
          <p:cNvPr id="5" name="TextBox 4"/>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6" name="TextBox 5"/>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2 · CADENCE FOLLOW-UP</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Follow-up terstandar yang berhenti otomatis</a:t>
            </a:r>
          </a:p>
        </p:txBody>
      </p:sp>
      <p:cxnSp>
        <p:nvCxnSpPr>
          <p:cNvPr id="4" name="Connector 3"/>
          <p:cNvCxnSpPr/>
          <p:nvPr/>
        </p:nvCxnSpPr>
        <p:spPr>
          <a:xfrm>
            <a:off x="1463040" y="2148840"/>
            <a:ext cx="9262872" cy="0"/>
          </a:xfrm>
          <a:prstGeom prst="line">
            <a:avLst/>
          </a:prstGeom>
          <a:ln w="38100">
            <a:solidFill>
              <a:srgbClr val="177F6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261872" y="1947672"/>
            <a:ext cx="402336" cy="402336"/>
          </a:xfrm>
          <a:prstGeom prst="ellipse">
            <a:avLst/>
          </a:prstGeom>
          <a:solidFill>
            <a:srgbClr val="177F6C"/>
          </a:solidFill>
          <a:ln>
            <a:noFill/>
          </a:ln>
        </p:spPr>
        <p:txBody>
          <a:bodyPr rtlCol="0" anchor="ctr" lIns="0" rIns="0" tIns="0" bIns="0"/>
          <a:lstStyle/>
          <a:p>
            <a:pPr algn="ctr"/>
            <a:r>
              <a:rPr sz="1400" b="1">
                <a:solidFill>
                  <a:srgbClr val="FFFFFF"/>
                </a:solidFill>
                <a:latin typeface="Calibri"/>
              </a:rPr>
              <a:t/>
            </a:r>
          </a:p>
        </p:txBody>
      </p:sp>
      <p:sp>
        <p:nvSpPr>
          <p:cNvPr id="6" name="TextBox 5"/>
          <p:cNvSpPr txBox="1"/>
          <p:nvPr/>
        </p:nvSpPr>
        <p:spPr>
          <a:xfrm>
            <a:off x="548640"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H+0</a:t>
            </a:r>
          </a:p>
        </p:txBody>
      </p:sp>
      <p:sp>
        <p:nvSpPr>
          <p:cNvPr id="7" name="TextBox 6"/>
          <p:cNvSpPr txBox="1"/>
          <p:nvPr/>
        </p:nvSpPr>
        <p:spPr>
          <a:xfrm>
            <a:off x="548640"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≤15 menit</a:t>
            </a:r>
          </a:p>
        </p:txBody>
      </p:sp>
      <p:sp>
        <p:nvSpPr>
          <p:cNvPr id="8" name="TextBox 7"/>
          <p:cNvSpPr txBox="1"/>
          <p:nvPr/>
        </p:nvSpPr>
        <p:spPr>
          <a:xfrm>
            <a:off x="548640"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Respons manusia pertama</a:t>
            </a:r>
          </a:p>
        </p:txBody>
      </p:sp>
      <p:sp>
        <p:nvSpPr>
          <p:cNvPr id="9" name="Oval 8"/>
          <p:cNvSpPr/>
          <p:nvPr/>
        </p:nvSpPr>
        <p:spPr>
          <a:xfrm>
            <a:off x="3114446" y="1947672"/>
            <a:ext cx="402336" cy="402336"/>
          </a:xfrm>
          <a:prstGeom prst="ellipse">
            <a:avLst/>
          </a:prstGeom>
          <a:solidFill>
            <a:srgbClr val="177F6C"/>
          </a:solidFill>
          <a:ln>
            <a:noFill/>
          </a:ln>
        </p:spPr>
        <p:txBody>
          <a:bodyPr rtlCol="0" anchor="ctr" lIns="0" rIns="0" tIns="0" bIns="0"/>
          <a:lstStyle/>
          <a:p>
            <a:pPr algn="ctr"/>
            <a:r>
              <a:rPr sz="1400" b="1">
                <a:solidFill>
                  <a:srgbClr val="FFFFFF"/>
                </a:solidFill>
                <a:latin typeface="Calibri"/>
              </a:rPr>
              <a:t/>
            </a:r>
          </a:p>
        </p:txBody>
      </p:sp>
      <p:sp>
        <p:nvSpPr>
          <p:cNvPr id="10" name="TextBox 9"/>
          <p:cNvSpPr txBox="1"/>
          <p:nvPr/>
        </p:nvSpPr>
        <p:spPr>
          <a:xfrm>
            <a:off x="2401214"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H+1</a:t>
            </a:r>
          </a:p>
        </p:txBody>
      </p:sp>
      <p:sp>
        <p:nvSpPr>
          <p:cNvPr id="11" name="TextBox 10"/>
          <p:cNvSpPr txBox="1"/>
          <p:nvPr/>
        </p:nvSpPr>
        <p:spPr>
          <a:xfrm>
            <a:off x="2401214"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Info relevan</a:t>
            </a:r>
          </a:p>
        </p:txBody>
      </p:sp>
      <p:sp>
        <p:nvSpPr>
          <p:cNvPr id="12" name="TextBox 11"/>
          <p:cNvSpPr txBox="1"/>
          <p:nvPr/>
        </p:nvSpPr>
        <p:spPr>
          <a:xfrm>
            <a:off x="2401214"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Brosur / simulasi</a:t>
            </a:r>
          </a:p>
        </p:txBody>
      </p:sp>
      <p:sp>
        <p:nvSpPr>
          <p:cNvPr id="13" name="Oval 12"/>
          <p:cNvSpPr/>
          <p:nvPr/>
        </p:nvSpPr>
        <p:spPr>
          <a:xfrm>
            <a:off x="4967020" y="1947672"/>
            <a:ext cx="402336" cy="402336"/>
          </a:xfrm>
          <a:prstGeom prst="ellipse">
            <a:avLst/>
          </a:prstGeom>
          <a:solidFill>
            <a:srgbClr val="177F6C"/>
          </a:solidFill>
          <a:ln>
            <a:noFill/>
          </a:ln>
        </p:spPr>
        <p:txBody>
          <a:bodyPr rtlCol="0" anchor="ctr" lIns="0" rIns="0" tIns="0" bIns="0"/>
          <a:lstStyle/>
          <a:p>
            <a:pPr algn="ctr"/>
            <a:r>
              <a:rPr sz="1400" b="1">
                <a:solidFill>
                  <a:srgbClr val="FFFFFF"/>
                </a:solidFill>
                <a:latin typeface="Calibri"/>
              </a:rPr>
              <a:t/>
            </a:r>
          </a:p>
        </p:txBody>
      </p:sp>
      <p:sp>
        <p:nvSpPr>
          <p:cNvPr id="14" name="TextBox 13"/>
          <p:cNvSpPr txBox="1"/>
          <p:nvPr/>
        </p:nvSpPr>
        <p:spPr>
          <a:xfrm>
            <a:off x="4253788"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H+3</a:t>
            </a:r>
          </a:p>
        </p:txBody>
      </p:sp>
      <p:sp>
        <p:nvSpPr>
          <p:cNvPr id="15" name="TextBox 14"/>
          <p:cNvSpPr txBox="1"/>
          <p:nvPr/>
        </p:nvSpPr>
        <p:spPr>
          <a:xfrm>
            <a:off x="4253788"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Ajak bertemu</a:t>
            </a:r>
          </a:p>
        </p:txBody>
      </p:sp>
      <p:sp>
        <p:nvSpPr>
          <p:cNvPr id="16" name="TextBox 15"/>
          <p:cNvSpPr txBox="1"/>
          <p:nvPr/>
        </p:nvSpPr>
        <p:spPr>
          <a:xfrm>
            <a:off x="4253788"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Test drive / showroom</a:t>
            </a:r>
          </a:p>
        </p:txBody>
      </p:sp>
      <p:sp>
        <p:nvSpPr>
          <p:cNvPr id="17" name="Oval 16"/>
          <p:cNvSpPr/>
          <p:nvPr/>
        </p:nvSpPr>
        <p:spPr>
          <a:xfrm>
            <a:off x="6819595" y="1947672"/>
            <a:ext cx="402336" cy="402336"/>
          </a:xfrm>
          <a:prstGeom prst="ellipse">
            <a:avLst/>
          </a:prstGeom>
          <a:solidFill>
            <a:srgbClr val="177F6C"/>
          </a:solidFill>
          <a:ln>
            <a:noFill/>
          </a:ln>
        </p:spPr>
        <p:txBody>
          <a:bodyPr rtlCol="0" anchor="ctr" lIns="0" rIns="0" tIns="0" bIns="0"/>
          <a:lstStyle/>
          <a:p>
            <a:pPr algn="ctr"/>
            <a:r>
              <a:rPr sz="1400" b="1">
                <a:solidFill>
                  <a:srgbClr val="FFFFFF"/>
                </a:solidFill>
                <a:latin typeface="Calibri"/>
              </a:rPr>
              <a:t/>
            </a:r>
          </a:p>
        </p:txBody>
      </p:sp>
      <p:sp>
        <p:nvSpPr>
          <p:cNvPr id="18" name="TextBox 17"/>
          <p:cNvSpPr txBox="1"/>
          <p:nvPr/>
        </p:nvSpPr>
        <p:spPr>
          <a:xfrm>
            <a:off x="6106363"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H+7</a:t>
            </a:r>
          </a:p>
        </p:txBody>
      </p:sp>
      <p:sp>
        <p:nvSpPr>
          <p:cNvPr id="19" name="TextBox 18"/>
          <p:cNvSpPr txBox="1"/>
          <p:nvPr/>
        </p:nvSpPr>
        <p:spPr>
          <a:xfrm>
            <a:off x="6106363"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Penawaran</a:t>
            </a:r>
          </a:p>
        </p:txBody>
      </p:sp>
      <p:sp>
        <p:nvSpPr>
          <p:cNvPr id="20" name="TextBox 19"/>
          <p:cNvSpPr txBox="1"/>
          <p:nvPr/>
        </p:nvSpPr>
        <p:spPr>
          <a:xfrm>
            <a:off x="6106363"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Tanyakan kendala</a:t>
            </a:r>
          </a:p>
        </p:txBody>
      </p:sp>
      <p:sp>
        <p:nvSpPr>
          <p:cNvPr id="21" name="Oval 20"/>
          <p:cNvSpPr/>
          <p:nvPr/>
        </p:nvSpPr>
        <p:spPr>
          <a:xfrm>
            <a:off x="8672169" y="1947672"/>
            <a:ext cx="402336" cy="402336"/>
          </a:xfrm>
          <a:prstGeom prst="ellipse">
            <a:avLst/>
          </a:prstGeom>
          <a:solidFill>
            <a:srgbClr val="177F6C"/>
          </a:solidFill>
          <a:ln>
            <a:noFill/>
          </a:ln>
        </p:spPr>
        <p:txBody>
          <a:bodyPr rtlCol="0" anchor="ctr" lIns="0" rIns="0" tIns="0" bIns="0"/>
          <a:lstStyle/>
          <a:p>
            <a:pPr algn="ctr"/>
            <a:r>
              <a:rPr sz="1400" b="1">
                <a:solidFill>
                  <a:srgbClr val="FFFFFF"/>
                </a:solidFill>
                <a:latin typeface="Calibri"/>
              </a:rPr>
              <a:t/>
            </a:r>
          </a:p>
        </p:txBody>
      </p:sp>
      <p:sp>
        <p:nvSpPr>
          <p:cNvPr id="22" name="TextBox 21"/>
          <p:cNvSpPr txBox="1"/>
          <p:nvPr/>
        </p:nvSpPr>
        <p:spPr>
          <a:xfrm>
            <a:off x="7958937"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H+14</a:t>
            </a:r>
          </a:p>
        </p:txBody>
      </p:sp>
      <p:sp>
        <p:nvSpPr>
          <p:cNvPr id="23" name="TextBox 22"/>
          <p:cNvSpPr txBox="1"/>
          <p:nvPr/>
        </p:nvSpPr>
        <p:spPr>
          <a:xfrm>
            <a:off x="7958937"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Check-in akhir</a:t>
            </a:r>
          </a:p>
        </p:txBody>
      </p:sp>
      <p:sp>
        <p:nvSpPr>
          <p:cNvPr id="24" name="TextBox 23"/>
          <p:cNvSpPr txBox="1"/>
          <p:nvPr/>
        </p:nvSpPr>
        <p:spPr>
          <a:xfrm>
            <a:off x="7958937"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Tawarkan nurture</a:t>
            </a:r>
          </a:p>
        </p:txBody>
      </p:sp>
      <p:sp>
        <p:nvSpPr>
          <p:cNvPr id="25" name="Oval 24"/>
          <p:cNvSpPr/>
          <p:nvPr/>
        </p:nvSpPr>
        <p:spPr>
          <a:xfrm>
            <a:off x="10524743" y="1947672"/>
            <a:ext cx="402336" cy="402336"/>
          </a:xfrm>
          <a:prstGeom prst="ellipse">
            <a:avLst/>
          </a:prstGeom>
          <a:solidFill>
            <a:srgbClr val="A8D3B5"/>
          </a:solidFill>
          <a:ln>
            <a:noFill/>
          </a:ln>
        </p:spPr>
        <p:txBody>
          <a:bodyPr rtlCol="0" anchor="ctr" lIns="0" rIns="0" tIns="0" bIns="0"/>
          <a:lstStyle/>
          <a:p>
            <a:pPr algn="ctr"/>
            <a:r>
              <a:rPr sz="1400" b="1">
                <a:solidFill>
                  <a:srgbClr val="FFFFFF"/>
                </a:solidFill>
                <a:latin typeface="Calibri"/>
              </a:rPr>
              <a:t/>
            </a:r>
          </a:p>
        </p:txBody>
      </p:sp>
      <p:sp>
        <p:nvSpPr>
          <p:cNvPr id="26" name="TextBox 25"/>
          <p:cNvSpPr txBox="1"/>
          <p:nvPr/>
        </p:nvSpPr>
        <p:spPr>
          <a:xfrm>
            <a:off x="9811511" y="1508760"/>
            <a:ext cx="1828800" cy="365760"/>
          </a:xfrm>
          <a:prstGeom prst="rect">
            <a:avLst/>
          </a:prstGeom>
          <a:noFill/>
        </p:spPr>
        <p:txBody>
          <a:bodyPr wrap="square" lIns="0" rIns="0" tIns="0" bIns="0" anchor="t">
            <a:spAutoFit/>
          </a:bodyPr>
          <a:lstStyle/>
          <a:p>
            <a:pPr algn="ctr"/>
            <a:r>
              <a:rPr sz="1800" b="1" i="0">
                <a:solidFill>
                  <a:srgbClr val="126653"/>
                </a:solidFill>
                <a:latin typeface="Calibri"/>
              </a:rPr>
              <a:t>Bulanan</a:t>
            </a:r>
          </a:p>
        </p:txBody>
      </p:sp>
      <p:sp>
        <p:nvSpPr>
          <p:cNvPr id="27" name="TextBox 26"/>
          <p:cNvSpPr txBox="1"/>
          <p:nvPr/>
        </p:nvSpPr>
        <p:spPr>
          <a:xfrm>
            <a:off x="9811511" y="2514600"/>
            <a:ext cx="1828800" cy="320040"/>
          </a:xfrm>
          <a:prstGeom prst="rect">
            <a:avLst/>
          </a:prstGeom>
          <a:noFill/>
        </p:spPr>
        <p:txBody>
          <a:bodyPr wrap="square" lIns="0" rIns="0" tIns="0" bIns="0" anchor="t">
            <a:spAutoFit/>
          </a:bodyPr>
          <a:lstStyle/>
          <a:p>
            <a:pPr algn="ctr"/>
            <a:r>
              <a:rPr sz="1400" b="1" i="0">
                <a:solidFill>
                  <a:srgbClr val="20343D"/>
                </a:solidFill>
                <a:latin typeface="Calibri"/>
              </a:rPr>
              <a:t>s/d 90 hari</a:t>
            </a:r>
          </a:p>
        </p:txBody>
      </p:sp>
      <p:sp>
        <p:nvSpPr>
          <p:cNvPr id="28" name="TextBox 27"/>
          <p:cNvSpPr txBox="1"/>
          <p:nvPr/>
        </p:nvSpPr>
        <p:spPr>
          <a:xfrm>
            <a:off x="9811511" y="2834640"/>
            <a:ext cx="1828800" cy="320040"/>
          </a:xfrm>
          <a:prstGeom prst="rect">
            <a:avLst/>
          </a:prstGeom>
          <a:noFill/>
        </p:spPr>
        <p:txBody>
          <a:bodyPr wrap="square" lIns="0" rIns="0" tIns="0" bIns="0" anchor="t">
            <a:spAutoFit/>
          </a:bodyPr>
          <a:lstStyle/>
          <a:p>
            <a:pPr algn="ctr"/>
            <a:r>
              <a:rPr sz="1200" b="0" i="0">
                <a:solidFill>
                  <a:srgbClr val="5F6F74"/>
                </a:solidFill>
                <a:latin typeface="Calibri"/>
              </a:rPr>
              <a:t>Konten bernilai</a:t>
            </a:r>
          </a:p>
        </p:txBody>
      </p:sp>
      <p:sp>
        <p:nvSpPr>
          <p:cNvPr id="29" name="Rounded Rectangle 28"/>
          <p:cNvSpPr/>
          <p:nvPr/>
        </p:nvSpPr>
        <p:spPr>
          <a:xfrm>
            <a:off x="548640" y="3520440"/>
            <a:ext cx="5440680" cy="2103120"/>
          </a:xfrm>
          <a:prstGeom prst="roundRect">
            <a:avLst>
              <a:gd name="adj" fmla="val 8000"/>
            </a:avLst>
          </a:prstGeom>
          <a:solidFill>
            <a:srgbClr val="E9F4EF"/>
          </a:solidFill>
          <a:ln>
            <a:noFill/>
          </a:ln>
        </p:spPr>
        <p:txBody>
          <a:bodyPr rtlCol="0" anchor="ctr"/>
          <a:lstStyle/>
          <a:p/>
        </p:txBody>
      </p:sp>
      <p:sp>
        <p:nvSpPr>
          <p:cNvPr id="30" name="TextBox 29"/>
          <p:cNvSpPr txBox="1"/>
          <p:nvPr/>
        </p:nvSpPr>
        <p:spPr>
          <a:xfrm>
            <a:off x="777240" y="3703320"/>
            <a:ext cx="5029200" cy="320040"/>
          </a:xfrm>
          <a:prstGeom prst="rect">
            <a:avLst/>
          </a:prstGeom>
          <a:noFill/>
        </p:spPr>
        <p:txBody>
          <a:bodyPr wrap="square" lIns="0" rIns="0" tIns="0" bIns="0" anchor="t">
            <a:spAutoFit/>
          </a:bodyPr>
          <a:lstStyle/>
          <a:p>
            <a:pPr algn="l"/>
            <a:r>
              <a:rPr sz="1600" b="1" i="0">
                <a:solidFill>
                  <a:srgbClr val="20343D"/>
                </a:solidFill>
                <a:latin typeface="Calibri"/>
              </a:rPr>
              <a:t>Stop rules otomatis</a:t>
            </a:r>
          </a:p>
        </p:txBody>
      </p:sp>
      <p:sp>
        <p:nvSpPr>
          <p:cNvPr id="31" name="TextBox 30"/>
          <p:cNvSpPr txBox="1"/>
          <p:nvPr/>
        </p:nvSpPr>
        <p:spPr>
          <a:xfrm>
            <a:off x="777240" y="4114800"/>
            <a:ext cx="5029200" cy="201168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400" b="0" i="0">
                <a:solidFill>
                  <a:srgbClr val="20343D"/>
                </a:solidFill>
                <a:latin typeface="Calibri"/>
              </a:rPr>
              <a:t>Customer membalas → kembali ke percakapan aktif</a:t>
            </a:r>
          </a:p>
          <a:p>
            <a:pPr algn="l" marL="201168" indent="-201168">
              <a:spcAft>
                <a:spcPts val="300"/>
              </a:spcAft>
              <a:buClr>
                <a:srgbClr val="177F6C"/>
              </a:buClr>
              <a:buFont typeface="Arial"/>
              <a:buChar char="•"/>
            </a:pPr>
            <a:r>
              <a:rPr sz="1400" b="0" i="0">
                <a:solidFill>
                  <a:srgbClr val="20343D"/>
                </a:solidFill>
                <a:latin typeface="Calibri"/>
              </a:rPr>
              <a:t>SPK atau DO tercatat di MS SQL</a:t>
            </a:r>
          </a:p>
          <a:p>
            <a:pPr algn="l" marL="201168" indent="-201168">
              <a:spcAft>
                <a:spcPts val="300"/>
              </a:spcAft>
              <a:buClr>
                <a:srgbClr val="177F6C"/>
              </a:buClr>
              <a:buFont typeface="Arial"/>
              <a:buChar char="•"/>
            </a:pPr>
            <a:r>
              <a:rPr sz="1400" b="0" i="0">
                <a:solidFill>
                  <a:srgbClr val="20343D"/>
                </a:solidFill>
                <a:latin typeface="Calibri"/>
              </a:rPr>
              <a:t>Opt-out (STOP / BERHENTI)</a:t>
            </a:r>
          </a:p>
          <a:p>
            <a:pPr algn="l" marL="201168" indent="-201168">
              <a:spcAft>
                <a:spcPts val="300"/>
              </a:spcAft>
              <a:buClr>
                <a:srgbClr val="177F6C"/>
              </a:buClr>
              <a:buFont typeface="Arial"/>
              <a:buChar char="•"/>
            </a:pPr>
            <a:r>
              <a:rPr sz="1400" b="0" i="0">
                <a:solidFill>
                  <a:srgbClr val="20343D"/>
                </a:solidFill>
                <a:latin typeface="Calibri"/>
              </a:rPr>
              <a:t>Status Lost dengan reason code</a:t>
            </a:r>
          </a:p>
          <a:p>
            <a:pPr algn="l" marL="201168" indent="-201168">
              <a:spcAft>
                <a:spcPts val="300"/>
              </a:spcAft>
              <a:buClr>
                <a:srgbClr val="177F6C"/>
              </a:buClr>
              <a:buFont typeface="Arial"/>
              <a:buChar char="•"/>
            </a:pPr>
            <a:r>
              <a:rPr sz="1400" b="0" i="0">
                <a:solidFill>
                  <a:srgbClr val="20343D"/>
                </a:solidFill>
                <a:latin typeface="Calibri"/>
              </a:rPr>
              <a:t>Frequency cap: maks. 2 pesan marketing per minggu</a:t>
            </a:r>
          </a:p>
        </p:txBody>
      </p:sp>
      <p:sp>
        <p:nvSpPr>
          <p:cNvPr id="32" name="Rounded Rectangle 31"/>
          <p:cNvSpPr/>
          <p:nvPr/>
        </p:nvSpPr>
        <p:spPr>
          <a:xfrm>
            <a:off x="6199632" y="3520440"/>
            <a:ext cx="5440680" cy="2103120"/>
          </a:xfrm>
          <a:prstGeom prst="roundRect">
            <a:avLst>
              <a:gd name="adj" fmla="val 8000"/>
            </a:avLst>
          </a:prstGeom>
          <a:solidFill>
            <a:srgbClr val="F6F8F6"/>
          </a:solidFill>
          <a:ln>
            <a:noFill/>
          </a:ln>
        </p:spPr>
        <p:txBody>
          <a:bodyPr rtlCol="0" anchor="ctr"/>
          <a:lstStyle/>
          <a:p/>
        </p:txBody>
      </p:sp>
      <p:sp>
        <p:nvSpPr>
          <p:cNvPr id="33" name="TextBox 32"/>
          <p:cNvSpPr txBox="1"/>
          <p:nvPr/>
        </p:nvSpPr>
        <p:spPr>
          <a:xfrm>
            <a:off x="6428232" y="3703320"/>
            <a:ext cx="5029200" cy="320040"/>
          </a:xfrm>
          <a:prstGeom prst="rect">
            <a:avLst/>
          </a:prstGeom>
          <a:noFill/>
        </p:spPr>
        <p:txBody>
          <a:bodyPr wrap="square" lIns="0" rIns="0" tIns="0" bIns="0" anchor="t">
            <a:spAutoFit/>
          </a:bodyPr>
          <a:lstStyle/>
          <a:p>
            <a:pPr algn="l"/>
            <a:r>
              <a:rPr sz="1600" b="1" i="0">
                <a:solidFill>
                  <a:srgbClr val="20343D"/>
                </a:solidFill>
                <a:latin typeface="Calibri"/>
              </a:rPr>
              <a:t>Kontinuitas omnichannel</a:t>
            </a:r>
          </a:p>
        </p:txBody>
      </p:sp>
      <p:sp>
        <p:nvSpPr>
          <p:cNvPr id="34" name="TextBox 33"/>
          <p:cNvSpPr txBox="1"/>
          <p:nvPr/>
        </p:nvSpPr>
        <p:spPr>
          <a:xfrm>
            <a:off x="6428232" y="4114800"/>
            <a:ext cx="5029200" cy="201168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400" b="0" i="0">
                <a:solidFill>
                  <a:srgbClr val="20343D"/>
                </a:solidFill>
                <a:latin typeface="Calibri"/>
              </a:rPr>
              <a:t>Satu profil: WA, IG, Messenger, TikTok, website, walk-in</a:t>
            </a:r>
          </a:p>
          <a:p>
            <a:pPr algn="l" marL="201168" indent="-201168">
              <a:spcAft>
                <a:spcPts val="300"/>
              </a:spcAft>
              <a:buClr>
                <a:srgbClr val="177F6C"/>
              </a:buClr>
              <a:buFont typeface="Arial"/>
              <a:buChar char="•"/>
            </a:pPr>
            <a:r>
              <a:rPr sz="1400" b="0" i="0">
                <a:solidFill>
                  <a:srgbClr val="20343D"/>
                </a:solidFill>
                <a:latin typeface="Calibri"/>
              </a:rPr>
              <a:t>Ringkasan percakapan saat pindah channel atau sales</a:t>
            </a:r>
          </a:p>
          <a:p>
            <a:pPr algn="l" marL="201168" indent="-201168">
              <a:spcAft>
                <a:spcPts val="300"/>
              </a:spcAft>
              <a:buClr>
                <a:srgbClr val="177F6C"/>
              </a:buClr>
              <a:buFont typeface="Arial"/>
              <a:buChar char="•"/>
            </a:pPr>
            <a:r>
              <a:rPr sz="1400" b="0" i="0">
                <a:solidFill>
                  <a:srgbClr val="20343D"/>
                </a:solidFill>
                <a:latin typeface="Calibri"/>
              </a:rPr>
              <a:t>Timeline: interaksi, stage, consent, SPK/DO, servis</a:t>
            </a:r>
          </a:p>
          <a:p>
            <a:pPr algn="l" marL="201168" indent="-201168">
              <a:spcAft>
                <a:spcPts val="300"/>
              </a:spcAft>
              <a:buClr>
                <a:srgbClr val="177F6C"/>
              </a:buClr>
              <a:buFont typeface="Arial"/>
              <a:buChar char="•"/>
            </a:pPr>
            <a:r>
              <a:rPr sz="1400" b="0" i="0">
                <a:solidFill>
                  <a:srgbClr val="20343D"/>
                </a:solidFill>
                <a:latin typeface="Calibri"/>
              </a:rPr>
              <a:t>Pesan transaksional tetap jalan setelah pembelian</a:t>
            </a:r>
          </a:p>
        </p:txBody>
      </p:sp>
      <p:sp>
        <p:nvSpPr>
          <p:cNvPr id="35" name="TextBox 34"/>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36" name="TextBox 35"/>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3 · HIGH-LEVEL ARCHITECTURE</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Arsitektur berlapis, event-driven, ERP tetap sumber kebenaran</a:t>
            </a:r>
          </a:p>
        </p:txBody>
      </p:sp>
      <p:sp>
        <p:nvSpPr>
          <p:cNvPr id="4" name="TextBox 3"/>
          <p:cNvSpPr txBox="1"/>
          <p:nvPr/>
        </p:nvSpPr>
        <p:spPr>
          <a:xfrm>
            <a:off x="548640" y="1554480"/>
            <a:ext cx="1188720" cy="868680"/>
          </a:xfrm>
          <a:prstGeom prst="rect">
            <a:avLst/>
          </a:prstGeom>
          <a:noFill/>
        </p:spPr>
        <p:txBody>
          <a:bodyPr wrap="square" lIns="0" rIns="0" tIns="0" bIns="0" anchor="ctr">
            <a:spAutoFit/>
          </a:bodyPr>
          <a:lstStyle/>
          <a:p>
            <a:pPr algn="l"/>
            <a:r>
              <a:rPr sz="1300" b="1" i="0">
                <a:solidFill>
                  <a:srgbClr val="126653"/>
                </a:solidFill>
                <a:latin typeface="Calibri"/>
              </a:rPr>
              <a:t>Channels</a:t>
            </a:r>
          </a:p>
        </p:txBody>
      </p:sp>
      <p:sp>
        <p:nvSpPr>
          <p:cNvPr id="5" name="Rounded Rectangle 4"/>
          <p:cNvSpPr/>
          <p:nvPr/>
        </p:nvSpPr>
        <p:spPr>
          <a:xfrm>
            <a:off x="1783080"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WhatsApp</a:t>
            </a:r>
          </a:p>
          <a:p>
            <a:pPr algn="ctr"/>
            <a:r>
              <a:rPr sz="1000" b="0">
                <a:solidFill>
                  <a:srgbClr val="5F6F74"/>
                </a:solidFill>
                <a:latin typeface="Calibri"/>
              </a:rPr>
              <a:t>Cloud API · BSP</a:t>
            </a:r>
          </a:p>
        </p:txBody>
      </p:sp>
      <p:sp>
        <p:nvSpPr>
          <p:cNvPr id="6" name="Rounded Rectangle 5"/>
          <p:cNvSpPr/>
          <p:nvPr/>
        </p:nvSpPr>
        <p:spPr>
          <a:xfrm>
            <a:off x="3014472"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Instagram</a:t>
            </a:r>
          </a:p>
          <a:p>
            <a:pPr algn="ctr"/>
            <a:r>
              <a:rPr sz="1000" b="0">
                <a:solidFill>
                  <a:srgbClr val="5F6F74"/>
                </a:solidFill>
                <a:latin typeface="Calibri"/>
              </a:rPr>
              <a:t>DM · Lead Ads</a:t>
            </a:r>
          </a:p>
        </p:txBody>
      </p:sp>
      <p:sp>
        <p:nvSpPr>
          <p:cNvPr id="7" name="Rounded Rectangle 6"/>
          <p:cNvSpPr/>
          <p:nvPr/>
        </p:nvSpPr>
        <p:spPr>
          <a:xfrm>
            <a:off x="4245863"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Facebook</a:t>
            </a:r>
          </a:p>
          <a:p>
            <a:pPr algn="ctr"/>
            <a:r>
              <a:rPr sz="1000" b="0">
                <a:solidFill>
                  <a:srgbClr val="5F6F74"/>
                </a:solidFill>
                <a:latin typeface="Calibri"/>
              </a:rPr>
              <a:t>Messenger · Lead Ads</a:t>
            </a:r>
          </a:p>
        </p:txBody>
      </p:sp>
      <p:sp>
        <p:nvSpPr>
          <p:cNvPr id="8" name="Rounded Rectangle 7"/>
          <p:cNvSpPr/>
          <p:nvPr/>
        </p:nvSpPr>
        <p:spPr>
          <a:xfrm>
            <a:off x="5477255"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TikTok</a:t>
            </a:r>
          </a:p>
          <a:p>
            <a:pPr algn="ctr"/>
            <a:r>
              <a:rPr sz="1000" b="0">
                <a:solidFill>
                  <a:srgbClr val="5F6F74"/>
                </a:solidFill>
                <a:latin typeface="Calibri"/>
              </a:rPr>
              <a:t>Lead Generation</a:t>
            </a:r>
          </a:p>
        </p:txBody>
      </p:sp>
      <p:sp>
        <p:nvSpPr>
          <p:cNvPr id="9" name="Rounded Rectangle 8"/>
          <p:cNvSpPr/>
          <p:nvPr/>
        </p:nvSpPr>
        <p:spPr>
          <a:xfrm>
            <a:off x="6708647"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Website</a:t>
            </a:r>
          </a:p>
          <a:p>
            <a:pPr algn="ctr"/>
            <a:r>
              <a:rPr sz="1000" b="0">
                <a:solidFill>
                  <a:srgbClr val="5F6F74"/>
                </a:solidFill>
                <a:latin typeface="Calibri"/>
              </a:rPr>
              <a:t>form · chat · UTM</a:t>
            </a:r>
          </a:p>
        </p:txBody>
      </p:sp>
      <p:sp>
        <p:nvSpPr>
          <p:cNvPr id="10" name="Rounded Rectangle 9"/>
          <p:cNvSpPr/>
          <p:nvPr/>
        </p:nvSpPr>
        <p:spPr>
          <a:xfrm>
            <a:off x="7940039" y="1554480"/>
            <a:ext cx="1158239" cy="86868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Walk-in / telepon</a:t>
            </a:r>
          </a:p>
          <a:p>
            <a:pPr algn="ctr"/>
            <a:r>
              <a:rPr sz="1000" b="0">
                <a:solidFill>
                  <a:srgbClr val="5F6F74"/>
                </a:solidFill>
                <a:latin typeface="Calibri"/>
              </a:rPr>
              <a:t>input PWA</a:t>
            </a:r>
          </a:p>
        </p:txBody>
      </p:sp>
      <p:sp>
        <p:nvSpPr>
          <p:cNvPr id="11" name="TextBox 10"/>
          <p:cNvSpPr txBox="1"/>
          <p:nvPr/>
        </p:nvSpPr>
        <p:spPr>
          <a:xfrm>
            <a:off x="548640" y="2670048"/>
            <a:ext cx="1188720" cy="731520"/>
          </a:xfrm>
          <a:prstGeom prst="rect">
            <a:avLst/>
          </a:prstGeom>
          <a:noFill/>
        </p:spPr>
        <p:txBody>
          <a:bodyPr wrap="square" lIns="0" rIns="0" tIns="0" bIns="0" anchor="ctr">
            <a:spAutoFit/>
          </a:bodyPr>
          <a:lstStyle/>
          <a:p>
            <a:pPr algn="l"/>
            <a:r>
              <a:rPr sz="1300" b="1" i="0">
                <a:solidFill>
                  <a:srgbClr val="126653"/>
                </a:solidFill>
                <a:latin typeface="Calibri"/>
              </a:rPr>
              <a:t>Integration</a:t>
            </a:r>
          </a:p>
        </p:txBody>
      </p:sp>
      <p:sp>
        <p:nvSpPr>
          <p:cNvPr id="12" name="Rounded Rectangle 11"/>
          <p:cNvSpPr/>
          <p:nvPr/>
        </p:nvSpPr>
        <p:spPr>
          <a:xfrm>
            <a:off x="1783080" y="2670048"/>
            <a:ext cx="2389631" cy="73152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Webhook gateway</a:t>
            </a:r>
          </a:p>
          <a:p>
            <a:pPr algn="ctr"/>
            <a:r>
              <a:rPr sz="1000" b="0">
                <a:solidFill>
                  <a:srgbClr val="5F6F74"/>
                </a:solidFill>
                <a:latin typeface="Calibri"/>
              </a:rPr>
              <a:t>verifikasi signature</a:t>
            </a:r>
          </a:p>
        </p:txBody>
      </p:sp>
      <p:sp>
        <p:nvSpPr>
          <p:cNvPr id="13" name="Rounded Rectangle 12"/>
          <p:cNvSpPr/>
          <p:nvPr/>
        </p:nvSpPr>
        <p:spPr>
          <a:xfrm>
            <a:off x="4245863" y="2670048"/>
            <a:ext cx="2389631" cy="73152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Queue / event bus</a:t>
            </a:r>
          </a:p>
          <a:p>
            <a:pPr algn="ctr"/>
            <a:r>
              <a:rPr sz="1000" b="0">
                <a:solidFill>
                  <a:srgbClr val="5F6F74"/>
                </a:solidFill>
                <a:latin typeface="Calibri"/>
              </a:rPr>
              <a:t>retry · DLQ</a:t>
            </a:r>
          </a:p>
        </p:txBody>
      </p:sp>
      <p:sp>
        <p:nvSpPr>
          <p:cNvPr id="14" name="Rounded Rectangle 13"/>
          <p:cNvSpPr/>
          <p:nvPr/>
        </p:nvSpPr>
        <p:spPr>
          <a:xfrm>
            <a:off x="6708647" y="2670048"/>
            <a:ext cx="2389631" cy="731520"/>
          </a:xfrm>
          <a:prstGeom prst="roundRect">
            <a:avLst>
              <a:gd name="adj" fmla="val 25000"/>
            </a:avLst>
          </a:prstGeom>
          <a:solidFill>
            <a:srgbClr val="FFFFFF"/>
          </a:solidFill>
          <a:ln w="12700">
            <a:solidFill>
              <a:srgbClr val="E7EBE9"/>
            </a:solidFill>
          </a:ln>
        </p:spPr>
        <p:txBody>
          <a:bodyPr rtlCol="0" anchor="ctr" wrap="square" lIns="73152" rIns="73152" tIns="27432" bIns="27432"/>
          <a:lstStyle/>
          <a:p>
            <a:pPr algn="ctr"/>
            <a:r>
              <a:rPr sz="1200" b="1">
                <a:solidFill>
                  <a:srgbClr val="20343D"/>
                </a:solidFill>
                <a:latin typeface="Calibri"/>
              </a:rPr>
              <a:t>Channel adapters</a:t>
            </a:r>
          </a:p>
          <a:p>
            <a:pPr algn="ctr"/>
            <a:r>
              <a:rPr sz="1000" b="0">
                <a:solidFill>
                  <a:srgbClr val="5F6F74"/>
                </a:solidFill>
                <a:latin typeface="Calibri"/>
              </a:rPr>
              <a:t>idempotency key</a:t>
            </a:r>
          </a:p>
        </p:txBody>
      </p:sp>
      <p:sp>
        <p:nvSpPr>
          <p:cNvPr id="15" name="TextBox 14"/>
          <p:cNvSpPr txBox="1"/>
          <p:nvPr/>
        </p:nvSpPr>
        <p:spPr>
          <a:xfrm>
            <a:off x="548640" y="3639312"/>
            <a:ext cx="1188720" cy="868680"/>
          </a:xfrm>
          <a:prstGeom prst="rect">
            <a:avLst/>
          </a:prstGeom>
          <a:noFill/>
        </p:spPr>
        <p:txBody>
          <a:bodyPr wrap="square" lIns="0" rIns="0" tIns="0" bIns="0" anchor="ctr">
            <a:spAutoFit/>
          </a:bodyPr>
          <a:lstStyle/>
          <a:p>
            <a:pPr algn="l"/>
            <a:r>
              <a:rPr sz="1300" b="1" i="0">
                <a:solidFill>
                  <a:srgbClr val="126653"/>
                </a:solidFill>
                <a:latin typeface="Calibri"/>
              </a:rPr>
              <a:t>Core services · Go</a:t>
            </a:r>
          </a:p>
        </p:txBody>
      </p:sp>
      <p:sp>
        <p:nvSpPr>
          <p:cNvPr id="16" name="Rounded Rectangle 15"/>
          <p:cNvSpPr/>
          <p:nvPr/>
        </p:nvSpPr>
        <p:spPr>
          <a:xfrm>
            <a:off x="1783080"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Identity</a:t>
            </a:r>
          </a:p>
          <a:p>
            <a:pPr algn="ctr"/>
            <a:r>
              <a:rPr sz="1000" b="0">
                <a:solidFill>
                  <a:srgbClr val="5F6F74"/>
                </a:solidFill>
                <a:latin typeface="Calibri"/>
              </a:rPr>
              <a:t>resolution</a:t>
            </a:r>
          </a:p>
        </p:txBody>
      </p:sp>
      <p:sp>
        <p:nvSpPr>
          <p:cNvPr id="17" name="Rounded Rectangle 16"/>
          <p:cNvSpPr/>
          <p:nvPr/>
        </p:nvSpPr>
        <p:spPr>
          <a:xfrm>
            <a:off x="2838558"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Lead mgmt</a:t>
            </a:r>
          </a:p>
          <a:p>
            <a:pPr algn="ctr"/>
            <a:r>
              <a:rPr sz="1000" b="0">
                <a:solidFill>
                  <a:srgbClr val="5F6F74"/>
                </a:solidFill>
                <a:latin typeface="Calibri"/>
              </a:rPr>
              <a:t>routing · SLA</a:t>
            </a:r>
          </a:p>
        </p:txBody>
      </p:sp>
      <p:sp>
        <p:nvSpPr>
          <p:cNvPr id="18" name="Rounded Rectangle 17"/>
          <p:cNvSpPr/>
          <p:nvPr/>
        </p:nvSpPr>
        <p:spPr>
          <a:xfrm>
            <a:off x="3894037"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Shared</a:t>
            </a:r>
          </a:p>
          <a:p>
            <a:pPr algn="ctr"/>
            <a:r>
              <a:rPr sz="1000" b="0">
                <a:solidFill>
                  <a:srgbClr val="5F6F74"/>
                </a:solidFill>
                <a:latin typeface="Calibri"/>
              </a:rPr>
              <a:t>inbox</a:t>
            </a:r>
          </a:p>
        </p:txBody>
      </p:sp>
      <p:sp>
        <p:nvSpPr>
          <p:cNvPr id="19" name="Rounded Rectangle 18"/>
          <p:cNvSpPr/>
          <p:nvPr/>
        </p:nvSpPr>
        <p:spPr>
          <a:xfrm>
            <a:off x="4949516"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Journey</a:t>
            </a:r>
          </a:p>
          <a:p>
            <a:pPr algn="ctr"/>
            <a:r>
              <a:rPr sz="1000" b="0">
                <a:solidFill>
                  <a:srgbClr val="5F6F74"/>
                </a:solidFill>
                <a:latin typeface="Calibri"/>
              </a:rPr>
              <a:t>engine</a:t>
            </a:r>
          </a:p>
        </p:txBody>
      </p:sp>
      <p:sp>
        <p:nvSpPr>
          <p:cNvPr id="20" name="Rounded Rectangle 19"/>
          <p:cNvSpPr/>
          <p:nvPr/>
        </p:nvSpPr>
        <p:spPr>
          <a:xfrm>
            <a:off x="6004995"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Consent</a:t>
            </a:r>
          </a:p>
          <a:p>
            <a:pPr algn="ctr"/>
            <a:r>
              <a:rPr sz="1000" b="0">
                <a:solidFill>
                  <a:srgbClr val="5F6F74"/>
                </a:solidFill>
                <a:latin typeface="Calibri"/>
              </a:rPr>
              <a:t>preferensi</a:t>
            </a:r>
          </a:p>
        </p:txBody>
      </p:sp>
      <p:sp>
        <p:nvSpPr>
          <p:cNvPr id="21" name="Rounded Rectangle 20"/>
          <p:cNvSpPr/>
          <p:nvPr/>
        </p:nvSpPr>
        <p:spPr>
          <a:xfrm>
            <a:off x="7060474"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Campaign</a:t>
            </a:r>
          </a:p>
          <a:p>
            <a:pPr algn="ctr"/>
            <a:r>
              <a:rPr sz="1000" b="0">
                <a:solidFill>
                  <a:srgbClr val="5F6F74"/>
                </a:solidFill>
                <a:latin typeface="Calibri"/>
              </a:rPr>
              <a:t>suppression</a:t>
            </a:r>
          </a:p>
        </p:txBody>
      </p:sp>
      <p:sp>
        <p:nvSpPr>
          <p:cNvPr id="22" name="Rounded Rectangle 21"/>
          <p:cNvSpPr/>
          <p:nvPr/>
        </p:nvSpPr>
        <p:spPr>
          <a:xfrm>
            <a:off x="8115953" y="3639312"/>
            <a:ext cx="982326" cy="868680"/>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Task &amp;</a:t>
            </a:r>
          </a:p>
          <a:p>
            <a:pPr algn="ctr"/>
            <a:r>
              <a:rPr sz="1000" b="0">
                <a:solidFill>
                  <a:srgbClr val="5F6F74"/>
                </a:solidFill>
                <a:latin typeface="Calibri"/>
              </a:rPr>
              <a:t>eskalasi</a:t>
            </a:r>
          </a:p>
        </p:txBody>
      </p:sp>
      <p:sp>
        <p:nvSpPr>
          <p:cNvPr id="23" name="TextBox 22"/>
          <p:cNvSpPr txBox="1"/>
          <p:nvPr/>
        </p:nvSpPr>
        <p:spPr>
          <a:xfrm>
            <a:off x="548640" y="4754880"/>
            <a:ext cx="1188720" cy="868680"/>
          </a:xfrm>
          <a:prstGeom prst="rect">
            <a:avLst/>
          </a:prstGeom>
          <a:noFill/>
        </p:spPr>
        <p:txBody>
          <a:bodyPr wrap="square" lIns="0" rIns="0" tIns="0" bIns="0" anchor="ctr">
            <a:spAutoFit/>
          </a:bodyPr>
          <a:lstStyle/>
          <a:p>
            <a:pPr algn="l"/>
            <a:r>
              <a:rPr sz="1300" b="1" i="0">
                <a:solidFill>
                  <a:srgbClr val="126653"/>
                </a:solidFill>
                <a:latin typeface="Calibri"/>
              </a:rPr>
              <a:t>Data</a:t>
            </a:r>
          </a:p>
        </p:txBody>
      </p:sp>
      <p:sp>
        <p:nvSpPr>
          <p:cNvPr id="24" name="Rounded Rectangle 23"/>
          <p:cNvSpPr/>
          <p:nvPr/>
        </p:nvSpPr>
        <p:spPr>
          <a:xfrm>
            <a:off x="1783080" y="4754880"/>
            <a:ext cx="1773935" cy="868680"/>
          </a:xfrm>
          <a:prstGeom prst="roundRect">
            <a:avLst>
              <a:gd name="adj" fmla="val 25000"/>
            </a:avLst>
          </a:prstGeom>
          <a:solidFill>
            <a:srgbClr val="152D36"/>
          </a:solidFill>
          <a:ln>
            <a:noFill/>
          </a:ln>
        </p:spPr>
        <p:txBody>
          <a:bodyPr rtlCol="0" anchor="ctr" wrap="square" lIns="73152" rIns="73152" tIns="27432" bIns="27432"/>
          <a:lstStyle/>
          <a:p>
            <a:pPr algn="ctr"/>
            <a:r>
              <a:rPr sz="1200" b="1">
                <a:solidFill>
                  <a:srgbClr val="FFFFFF"/>
                </a:solidFill>
                <a:latin typeface="Calibri"/>
              </a:rPr>
              <a:t>OneCRM DB</a:t>
            </a:r>
          </a:p>
          <a:p>
            <a:pPr algn="ctr"/>
            <a:r>
              <a:rPr sz="1000" b="0">
                <a:solidFill>
                  <a:srgbClr val="FFFFFF"/>
                </a:solidFill>
                <a:latin typeface="Calibri"/>
              </a:rPr>
              <a:t>MySQL demo / MS SQL</a:t>
            </a:r>
          </a:p>
        </p:txBody>
      </p:sp>
      <p:sp>
        <p:nvSpPr>
          <p:cNvPr id="25" name="Rounded Rectangle 24"/>
          <p:cNvSpPr/>
          <p:nvPr/>
        </p:nvSpPr>
        <p:spPr>
          <a:xfrm>
            <a:off x="3630168" y="4754880"/>
            <a:ext cx="1773935" cy="868680"/>
          </a:xfrm>
          <a:prstGeom prst="roundRect">
            <a:avLst>
              <a:gd name="adj" fmla="val 25000"/>
            </a:avLst>
          </a:prstGeom>
          <a:solidFill>
            <a:srgbClr val="152D36"/>
          </a:solidFill>
          <a:ln>
            <a:noFill/>
          </a:ln>
        </p:spPr>
        <p:txBody>
          <a:bodyPr rtlCol="0" anchor="ctr" wrap="square" lIns="73152" rIns="73152" tIns="27432" bIns="27432"/>
          <a:lstStyle/>
          <a:p>
            <a:pPr algn="ctr"/>
            <a:r>
              <a:rPr sz="1200" b="1">
                <a:solidFill>
                  <a:srgbClr val="FFFFFF"/>
                </a:solidFill>
                <a:latin typeface="Calibri"/>
              </a:rPr>
              <a:t>Audit &amp; event log</a:t>
            </a:r>
          </a:p>
        </p:txBody>
      </p:sp>
      <p:sp>
        <p:nvSpPr>
          <p:cNvPr id="26" name="Rounded Rectangle 25"/>
          <p:cNvSpPr/>
          <p:nvPr/>
        </p:nvSpPr>
        <p:spPr>
          <a:xfrm>
            <a:off x="5477255" y="4754880"/>
            <a:ext cx="1773935" cy="868680"/>
          </a:xfrm>
          <a:prstGeom prst="roundRect">
            <a:avLst>
              <a:gd name="adj" fmla="val 25000"/>
            </a:avLst>
          </a:prstGeom>
          <a:solidFill>
            <a:srgbClr val="152D36"/>
          </a:solidFill>
          <a:ln>
            <a:noFill/>
          </a:ln>
        </p:spPr>
        <p:txBody>
          <a:bodyPr rtlCol="0" anchor="ctr" wrap="square" lIns="73152" rIns="73152" tIns="27432" bIns="27432"/>
          <a:lstStyle/>
          <a:p>
            <a:pPr algn="ctr"/>
            <a:r>
              <a:rPr sz="1200" b="1">
                <a:solidFill>
                  <a:srgbClr val="FFFFFF"/>
                </a:solidFill>
                <a:latin typeface="Calibri"/>
              </a:rPr>
              <a:t>DMS/ERP MS SQL</a:t>
            </a:r>
          </a:p>
          <a:p>
            <a:pPr algn="ctr"/>
            <a:r>
              <a:rPr sz="1000" b="0">
                <a:solidFill>
                  <a:srgbClr val="FFFFFF"/>
                </a:solidFill>
                <a:latin typeface="Calibri"/>
              </a:rPr>
              <a:t>read-only · CT/CDC</a:t>
            </a:r>
          </a:p>
        </p:txBody>
      </p:sp>
      <p:sp>
        <p:nvSpPr>
          <p:cNvPr id="27" name="Rounded Rectangle 26"/>
          <p:cNvSpPr/>
          <p:nvPr/>
        </p:nvSpPr>
        <p:spPr>
          <a:xfrm>
            <a:off x="7324343" y="4754880"/>
            <a:ext cx="1773935" cy="868680"/>
          </a:xfrm>
          <a:prstGeom prst="roundRect">
            <a:avLst>
              <a:gd name="adj" fmla="val 25000"/>
            </a:avLst>
          </a:prstGeom>
          <a:solidFill>
            <a:srgbClr val="152D36"/>
          </a:solidFill>
          <a:ln>
            <a:noFill/>
          </a:ln>
        </p:spPr>
        <p:txBody>
          <a:bodyPr rtlCol="0" anchor="ctr" wrap="square" lIns="73152" rIns="73152" tIns="27432" bIns="27432"/>
          <a:lstStyle/>
          <a:p>
            <a:pPr algn="ctr"/>
            <a:r>
              <a:rPr sz="1200" b="1">
                <a:solidFill>
                  <a:srgbClr val="FFFFFF"/>
                </a:solidFill>
                <a:latin typeface="Calibri"/>
              </a:rPr>
              <a:t>Reporting mart</a:t>
            </a:r>
          </a:p>
          <a:p>
            <a:pPr algn="ctr"/>
            <a:r>
              <a:rPr sz="1000" b="0">
                <a:solidFill>
                  <a:srgbClr val="FFFFFF"/>
                </a:solidFill>
                <a:latin typeface="Calibri"/>
              </a:rPr>
              <a:t>MS SQL schema rpt</a:t>
            </a:r>
          </a:p>
        </p:txBody>
      </p:sp>
      <p:cxnSp>
        <p:nvCxnSpPr>
          <p:cNvPr id="28" name="Connector 27"/>
          <p:cNvCxnSpPr/>
          <p:nvPr/>
        </p:nvCxnSpPr>
        <p:spPr>
          <a:xfrm>
            <a:off x="5440680" y="2450592"/>
            <a:ext cx="0" cy="201168"/>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40680" y="3429000"/>
            <a:ext cx="0" cy="201168"/>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40680" y="4535424"/>
            <a:ext cx="0" cy="201168"/>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281160" y="1554480"/>
            <a:ext cx="2359152" cy="1298448"/>
          </a:xfrm>
          <a:prstGeom prst="roundRect">
            <a:avLst>
              <a:gd name="adj" fmla="val 8000"/>
            </a:avLst>
          </a:prstGeom>
          <a:solidFill>
            <a:srgbClr val="E9F4EF"/>
          </a:solidFill>
          <a:ln>
            <a:noFill/>
          </a:ln>
        </p:spPr>
        <p:txBody>
          <a:bodyPr rtlCol="0" anchor="ctr"/>
          <a:lstStyle/>
          <a:p/>
        </p:txBody>
      </p:sp>
      <p:sp>
        <p:nvSpPr>
          <p:cNvPr id="32" name="TextBox 31"/>
          <p:cNvSpPr txBox="1"/>
          <p:nvPr/>
        </p:nvSpPr>
        <p:spPr>
          <a:xfrm>
            <a:off x="9445752" y="1664207"/>
            <a:ext cx="2057400" cy="274320"/>
          </a:xfrm>
          <a:prstGeom prst="rect">
            <a:avLst/>
          </a:prstGeom>
          <a:noFill/>
        </p:spPr>
        <p:txBody>
          <a:bodyPr wrap="square" lIns="0" rIns="0" tIns="0" bIns="0" anchor="t">
            <a:spAutoFit/>
          </a:bodyPr>
          <a:lstStyle/>
          <a:p>
            <a:pPr algn="l"/>
            <a:r>
              <a:rPr sz="1300" b="1" i="0">
                <a:solidFill>
                  <a:srgbClr val="20343D"/>
                </a:solidFill>
                <a:latin typeface="Calibri"/>
              </a:rPr>
              <a:t>Experience</a:t>
            </a:r>
          </a:p>
        </p:txBody>
      </p:sp>
      <p:sp>
        <p:nvSpPr>
          <p:cNvPr id="33" name="TextBox 32"/>
          <p:cNvSpPr txBox="1"/>
          <p:nvPr/>
        </p:nvSpPr>
        <p:spPr>
          <a:xfrm>
            <a:off x="9445752" y="1965960"/>
            <a:ext cx="2103120" cy="841247"/>
          </a:xfrm>
          <a:prstGeom prst="rect">
            <a:avLst/>
          </a:prstGeom>
          <a:noFill/>
        </p:spPr>
        <p:txBody>
          <a:bodyPr wrap="square" lIns="0" rIns="0" tIns="0" bIns="0" anchor="t">
            <a:spAutoFit/>
          </a:bodyPr>
          <a:lstStyle/>
          <a:p>
            <a:pPr algn="l"/>
            <a:r>
              <a:rPr sz="1100" b="0" i="0">
                <a:solidFill>
                  <a:srgbClr val="20343D"/>
                </a:solidFill>
                <a:latin typeface="Calibri"/>
              </a:rPr>
              <a:t>Sales PWA: inbox, task, pipeline</a:t>
            </a:r>
          </a:p>
          <a:p>
            <a:pPr algn="l"/>
            <a:r>
              <a:rPr sz="1100" b="0" i="0">
                <a:solidFill>
                  <a:srgbClr val="20343D"/>
                </a:solidFill>
                <a:latin typeface="Calibri"/>
              </a:rPr>
              <a:t>Dashboard supervisor &amp; mgmt</a:t>
            </a:r>
          </a:p>
          <a:p>
            <a:pPr algn="l"/>
            <a:r>
              <a:rPr sz="1100" b="0" i="0">
                <a:solidFill>
                  <a:srgbClr val="20343D"/>
                </a:solidFill>
                <a:latin typeface="Calibri"/>
              </a:rPr>
              <a:t>Campaign studio</a:t>
            </a:r>
          </a:p>
        </p:txBody>
      </p:sp>
      <p:sp>
        <p:nvSpPr>
          <p:cNvPr id="34" name="Rounded Rectangle 33"/>
          <p:cNvSpPr/>
          <p:nvPr/>
        </p:nvSpPr>
        <p:spPr>
          <a:xfrm>
            <a:off x="9281160" y="2990087"/>
            <a:ext cx="2359152" cy="960120"/>
          </a:xfrm>
          <a:prstGeom prst="roundRect">
            <a:avLst>
              <a:gd name="adj" fmla="val 8000"/>
            </a:avLst>
          </a:prstGeom>
          <a:solidFill>
            <a:srgbClr val="FBF3E6"/>
          </a:solidFill>
          <a:ln>
            <a:noFill/>
          </a:ln>
        </p:spPr>
        <p:txBody>
          <a:bodyPr rtlCol="0" anchor="ctr"/>
          <a:lstStyle/>
          <a:p/>
        </p:txBody>
      </p:sp>
      <p:sp>
        <p:nvSpPr>
          <p:cNvPr id="35" name="TextBox 34"/>
          <p:cNvSpPr txBox="1"/>
          <p:nvPr/>
        </p:nvSpPr>
        <p:spPr>
          <a:xfrm>
            <a:off x="9445752" y="3099815"/>
            <a:ext cx="2057400" cy="274320"/>
          </a:xfrm>
          <a:prstGeom prst="rect">
            <a:avLst/>
          </a:prstGeom>
          <a:noFill/>
        </p:spPr>
        <p:txBody>
          <a:bodyPr wrap="square" lIns="0" rIns="0" tIns="0" bIns="0" anchor="t">
            <a:spAutoFit/>
          </a:bodyPr>
          <a:lstStyle/>
          <a:p>
            <a:pPr algn="l"/>
            <a:r>
              <a:rPr sz="1300" b="1" i="0">
                <a:solidFill>
                  <a:srgbClr val="20343D"/>
                </a:solidFill>
                <a:latin typeface="Calibri"/>
              </a:rPr>
              <a:t>AI gateway</a:t>
            </a:r>
          </a:p>
        </p:txBody>
      </p:sp>
      <p:sp>
        <p:nvSpPr>
          <p:cNvPr id="36" name="TextBox 35"/>
          <p:cNvSpPr txBox="1"/>
          <p:nvPr/>
        </p:nvSpPr>
        <p:spPr>
          <a:xfrm>
            <a:off x="9445752" y="3401568"/>
            <a:ext cx="2103120" cy="502920"/>
          </a:xfrm>
          <a:prstGeom prst="rect">
            <a:avLst/>
          </a:prstGeom>
          <a:noFill/>
        </p:spPr>
        <p:txBody>
          <a:bodyPr wrap="square" lIns="0" rIns="0" tIns="0" bIns="0" anchor="t">
            <a:spAutoFit/>
          </a:bodyPr>
          <a:lstStyle/>
          <a:p>
            <a:pPr algn="l"/>
            <a:r>
              <a:rPr sz="1100" b="0" i="0">
                <a:solidFill>
                  <a:srgbClr val="20343D"/>
                </a:solidFill>
                <a:latin typeface="Calibri"/>
              </a:rPr>
              <a:t>Server-side, model-agnostic</a:t>
            </a:r>
          </a:p>
          <a:p>
            <a:pPr algn="l"/>
            <a:r>
              <a:rPr sz="1100" b="0" i="0">
                <a:solidFill>
                  <a:srgbClr val="20343D"/>
                </a:solidFill>
                <a:latin typeface="Calibri"/>
              </a:rPr>
              <a:t>Konteks minimal · review manusia</a:t>
            </a:r>
          </a:p>
        </p:txBody>
      </p:sp>
      <p:sp>
        <p:nvSpPr>
          <p:cNvPr id="37" name="Rounded Rectangle 36"/>
          <p:cNvSpPr/>
          <p:nvPr/>
        </p:nvSpPr>
        <p:spPr>
          <a:xfrm>
            <a:off x="9281160" y="4087368"/>
            <a:ext cx="2359152" cy="1298448"/>
          </a:xfrm>
          <a:prstGeom prst="roundRect">
            <a:avLst>
              <a:gd name="adj" fmla="val 8000"/>
            </a:avLst>
          </a:prstGeom>
          <a:solidFill>
            <a:srgbClr val="152D36"/>
          </a:solidFill>
          <a:ln>
            <a:noFill/>
          </a:ln>
        </p:spPr>
        <p:txBody>
          <a:bodyPr rtlCol="0" anchor="ctr"/>
          <a:lstStyle/>
          <a:p/>
        </p:txBody>
      </p:sp>
      <p:sp>
        <p:nvSpPr>
          <p:cNvPr id="38" name="TextBox 37"/>
          <p:cNvSpPr txBox="1"/>
          <p:nvPr/>
        </p:nvSpPr>
        <p:spPr>
          <a:xfrm>
            <a:off x="9445752" y="4197096"/>
            <a:ext cx="2057400" cy="274320"/>
          </a:xfrm>
          <a:prstGeom prst="rect">
            <a:avLst/>
          </a:prstGeom>
          <a:noFill/>
        </p:spPr>
        <p:txBody>
          <a:bodyPr wrap="square" lIns="0" rIns="0" tIns="0" bIns="0" anchor="t">
            <a:spAutoFit/>
          </a:bodyPr>
          <a:lstStyle/>
          <a:p>
            <a:pPr algn="l"/>
            <a:r>
              <a:rPr sz="1300" b="1" i="0">
                <a:solidFill>
                  <a:srgbClr val="FFFFFF"/>
                </a:solidFill>
                <a:latin typeface="Calibri"/>
              </a:rPr>
              <a:t>Security &amp; governance</a:t>
            </a:r>
          </a:p>
        </p:txBody>
      </p:sp>
      <p:sp>
        <p:nvSpPr>
          <p:cNvPr id="39" name="TextBox 38"/>
          <p:cNvSpPr txBox="1"/>
          <p:nvPr/>
        </p:nvSpPr>
        <p:spPr>
          <a:xfrm>
            <a:off x="9445752" y="4498848"/>
            <a:ext cx="2103120" cy="841247"/>
          </a:xfrm>
          <a:prstGeom prst="rect">
            <a:avLst/>
          </a:prstGeom>
          <a:noFill/>
        </p:spPr>
        <p:txBody>
          <a:bodyPr wrap="square" lIns="0" rIns="0" tIns="0" bIns="0" anchor="t">
            <a:spAutoFit/>
          </a:bodyPr>
          <a:lstStyle/>
          <a:p>
            <a:pPr algn="l"/>
            <a:r>
              <a:rPr sz="1100" b="0" i="0">
                <a:solidFill>
                  <a:srgbClr val="FFFFFF"/>
                </a:solidFill>
                <a:latin typeface="Calibri"/>
              </a:rPr>
              <a:t>SSO Entra ID · RBAC per peran</a:t>
            </a:r>
          </a:p>
          <a:p>
            <a:pPr algn="l"/>
            <a:r>
              <a:rPr sz="1100" b="0" i="0">
                <a:solidFill>
                  <a:srgbClr val="FFFFFF"/>
                </a:solidFill>
                <a:latin typeface="Calibri"/>
              </a:rPr>
              <a:t>Audit log · masking PII · enkripsi</a:t>
            </a:r>
          </a:p>
          <a:p>
            <a:pPr algn="l"/>
            <a:r>
              <a:rPr sz="1100" b="0" i="0">
                <a:solidFill>
                  <a:srgbClr val="FFFFFF"/>
                </a:solidFill>
                <a:latin typeface="Calibri"/>
              </a:rPr>
              <a:t>Consent &amp; retensi sesuai UU PDP</a:t>
            </a:r>
          </a:p>
        </p:txBody>
      </p:sp>
      <p:sp>
        <p:nvSpPr>
          <p:cNvPr id="40" name="TextBox 39"/>
          <p:cNvSpPr txBox="1"/>
          <p:nvPr/>
        </p:nvSpPr>
        <p:spPr>
          <a:xfrm>
            <a:off x="548640" y="5779008"/>
            <a:ext cx="11091672" cy="457200"/>
          </a:xfrm>
          <a:prstGeom prst="rect">
            <a:avLst/>
          </a:prstGeom>
          <a:noFill/>
        </p:spPr>
        <p:txBody>
          <a:bodyPr wrap="square" lIns="0" rIns="0" tIns="0" bIns="0" anchor="t">
            <a:spAutoFit/>
          </a:bodyPr>
          <a:lstStyle/>
          <a:p>
            <a:pPr algn="l"/>
            <a:r>
              <a:rPr sz="1300" b="0" i="0">
                <a:solidFill>
                  <a:srgbClr val="5F6F74"/>
                </a:solidFill>
                <a:latin typeface="Calibri"/>
              </a:rPr>
              <a:t>Prinsip: nomor &amp; akun milik perusahaan · event idempoten · ERP MS SQL adalah sumber SPK/DO/stok · otomasi dapat dikonfigurasi tanpa deploy</a:t>
            </a:r>
          </a:p>
        </p:txBody>
      </p:sp>
      <p:sp>
        <p:nvSpPr>
          <p:cNvPr id="41" name="TextBox 40"/>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42" name="TextBox 41"/>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3 · OTOMASI LEAD OMNICHANNEL</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Lima channel digital + walk-in, satu alur pemrosesan lead</a:t>
            </a:r>
          </a:p>
        </p:txBody>
      </p:sp>
      <p:sp>
        <p:nvSpPr>
          <p:cNvPr id="4" name="Rounded Rectangle 3"/>
          <p:cNvSpPr/>
          <p:nvPr/>
        </p:nvSpPr>
        <p:spPr>
          <a:xfrm>
            <a:off x="548640" y="157276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5" name="TextBox 4"/>
          <p:cNvSpPr txBox="1"/>
          <p:nvPr/>
        </p:nvSpPr>
        <p:spPr>
          <a:xfrm>
            <a:off x="731520" y="1627632"/>
            <a:ext cx="2834640" cy="274320"/>
          </a:xfrm>
          <a:prstGeom prst="rect">
            <a:avLst/>
          </a:prstGeom>
          <a:noFill/>
        </p:spPr>
        <p:txBody>
          <a:bodyPr wrap="square" lIns="0" rIns="0" tIns="0" bIns="0" anchor="t">
            <a:spAutoFit/>
          </a:bodyPr>
          <a:lstStyle/>
          <a:p>
            <a:pPr algn="l"/>
            <a:r>
              <a:rPr sz="1400" b="1" i="0">
                <a:solidFill>
                  <a:srgbClr val="20343D"/>
                </a:solidFill>
                <a:latin typeface="Calibri"/>
              </a:rPr>
              <a:t>WhatsApp</a:t>
            </a:r>
          </a:p>
        </p:txBody>
      </p:sp>
      <p:sp>
        <p:nvSpPr>
          <p:cNvPr id="6" name="TextBox 5"/>
          <p:cNvSpPr txBox="1"/>
          <p:nvPr/>
        </p:nvSpPr>
        <p:spPr>
          <a:xfrm>
            <a:off x="731520" y="1901952"/>
            <a:ext cx="2834640" cy="274320"/>
          </a:xfrm>
          <a:prstGeom prst="rect">
            <a:avLst/>
          </a:prstGeom>
          <a:noFill/>
        </p:spPr>
        <p:txBody>
          <a:bodyPr wrap="square" lIns="0" rIns="0" tIns="0" bIns="0" anchor="t">
            <a:spAutoFit/>
          </a:bodyPr>
          <a:lstStyle/>
          <a:p>
            <a:pPr algn="l"/>
            <a:r>
              <a:rPr sz="1100" b="0" i="0">
                <a:solidFill>
                  <a:srgbClr val="5F6F74"/>
                </a:solidFill>
                <a:latin typeface="Calibri"/>
              </a:rPr>
              <a:t>Webhook Cloud API; referral ad ID</a:t>
            </a:r>
          </a:p>
        </p:txBody>
      </p:sp>
      <p:cxnSp>
        <p:nvCxnSpPr>
          <p:cNvPr id="7" name="Connector 6"/>
          <p:cNvCxnSpPr/>
          <p:nvPr/>
        </p:nvCxnSpPr>
        <p:spPr>
          <a:xfrm>
            <a:off x="3703320" y="188366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30428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9" name="TextBox 8"/>
          <p:cNvSpPr txBox="1"/>
          <p:nvPr/>
        </p:nvSpPr>
        <p:spPr>
          <a:xfrm>
            <a:off x="731520" y="2359152"/>
            <a:ext cx="2834640" cy="274320"/>
          </a:xfrm>
          <a:prstGeom prst="rect">
            <a:avLst/>
          </a:prstGeom>
          <a:noFill/>
        </p:spPr>
        <p:txBody>
          <a:bodyPr wrap="square" lIns="0" rIns="0" tIns="0" bIns="0" anchor="t">
            <a:spAutoFit/>
          </a:bodyPr>
          <a:lstStyle/>
          <a:p>
            <a:pPr algn="l"/>
            <a:r>
              <a:rPr sz="1400" b="1" i="0">
                <a:solidFill>
                  <a:srgbClr val="20343D"/>
                </a:solidFill>
                <a:latin typeface="Calibri"/>
              </a:rPr>
              <a:t>Website</a:t>
            </a:r>
          </a:p>
        </p:txBody>
      </p:sp>
      <p:sp>
        <p:nvSpPr>
          <p:cNvPr id="10" name="TextBox 9"/>
          <p:cNvSpPr txBox="1"/>
          <p:nvPr/>
        </p:nvSpPr>
        <p:spPr>
          <a:xfrm>
            <a:off x="731520" y="2633472"/>
            <a:ext cx="2834640" cy="274320"/>
          </a:xfrm>
          <a:prstGeom prst="rect">
            <a:avLst/>
          </a:prstGeom>
          <a:noFill/>
        </p:spPr>
        <p:txBody>
          <a:bodyPr wrap="square" lIns="0" rIns="0" tIns="0" bIns="0" anchor="t">
            <a:spAutoFit/>
          </a:bodyPr>
          <a:lstStyle/>
          <a:p>
            <a:pPr algn="l"/>
            <a:r>
              <a:rPr sz="1100" b="0" i="0">
                <a:solidFill>
                  <a:srgbClr val="5F6F74"/>
                </a:solidFill>
                <a:latin typeface="Calibri"/>
              </a:rPr>
              <a:t>Form + CAPTCHA, consent, UTM</a:t>
            </a:r>
          </a:p>
        </p:txBody>
      </p:sp>
      <p:cxnSp>
        <p:nvCxnSpPr>
          <p:cNvPr id="11" name="Connector 10"/>
          <p:cNvCxnSpPr/>
          <p:nvPr/>
        </p:nvCxnSpPr>
        <p:spPr>
          <a:xfrm>
            <a:off x="3703320" y="261518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303580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13" name="TextBox 12"/>
          <p:cNvSpPr txBox="1"/>
          <p:nvPr/>
        </p:nvSpPr>
        <p:spPr>
          <a:xfrm>
            <a:off x="731520" y="3090672"/>
            <a:ext cx="2834640" cy="274320"/>
          </a:xfrm>
          <a:prstGeom prst="rect">
            <a:avLst/>
          </a:prstGeom>
          <a:noFill/>
        </p:spPr>
        <p:txBody>
          <a:bodyPr wrap="square" lIns="0" rIns="0" tIns="0" bIns="0" anchor="t">
            <a:spAutoFit/>
          </a:bodyPr>
          <a:lstStyle/>
          <a:p>
            <a:pPr algn="l"/>
            <a:r>
              <a:rPr sz="1400" b="1" i="0">
                <a:solidFill>
                  <a:srgbClr val="20343D"/>
                </a:solidFill>
                <a:latin typeface="Calibri"/>
              </a:rPr>
              <a:t>Instagram</a:t>
            </a:r>
          </a:p>
        </p:txBody>
      </p:sp>
      <p:sp>
        <p:nvSpPr>
          <p:cNvPr id="14" name="TextBox 13"/>
          <p:cNvSpPr txBox="1"/>
          <p:nvPr/>
        </p:nvSpPr>
        <p:spPr>
          <a:xfrm>
            <a:off x="731520" y="3364992"/>
            <a:ext cx="2834640" cy="274320"/>
          </a:xfrm>
          <a:prstGeom prst="rect">
            <a:avLst/>
          </a:prstGeom>
          <a:noFill/>
        </p:spPr>
        <p:txBody>
          <a:bodyPr wrap="square" lIns="0" rIns="0" tIns="0" bIns="0" anchor="t">
            <a:spAutoFit/>
          </a:bodyPr>
          <a:lstStyle/>
          <a:p>
            <a:pPr algn="l"/>
            <a:r>
              <a:rPr sz="1100" b="0" i="0">
                <a:solidFill>
                  <a:srgbClr val="5F6F74"/>
                </a:solidFill>
                <a:latin typeface="Calibri"/>
              </a:rPr>
              <a:t>DM API; Lead Ads webhook leadgen</a:t>
            </a:r>
          </a:p>
        </p:txBody>
      </p:sp>
      <p:cxnSp>
        <p:nvCxnSpPr>
          <p:cNvPr id="15" name="Connector 14"/>
          <p:cNvCxnSpPr/>
          <p:nvPr/>
        </p:nvCxnSpPr>
        <p:spPr>
          <a:xfrm>
            <a:off x="3703320" y="334670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 y="376732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17" name="TextBox 16"/>
          <p:cNvSpPr txBox="1"/>
          <p:nvPr/>
        </p:nvSpPr>
        <p:spPr>
          <a:xfrm>
            <a:off x="731520" y="3822191"/>
            <a:ext cx="2834640" cy="274320"/>
          </a:xfrm>
          <a:prstGeom prst="rect">
            <a:avLst/>
          </a:prstGeom>
          <a:noFill/>
        </p:spPr>
        <p:txBody>
          <a:bodyPr wrap="square" lIns="0" rIns="0" tIns="0" bIns="0" anchor="t">
            <a:spAutoFit/>
          </a:bodyPr>
          <a:lstStyle/>
          <a:p>
            <a:pPr algn="l"/>
            <a:r>
              <a:rPr sz="1400" b="1" i="0">
                <a:solidFill>
                  <a:srgbClr val="20343D"/>
                </a:solidFill>
                <a:latin typeface="Calibri"/>
              </a:rPr>
              <a:t>Facebook</a:t>
            </a:r>
          </a:p>
        </p:txBody>
      </p:sp>
      <p:sp>
        <p:nvSpPr>
          <p:cNvPr id="18" name="TextBox 17"/>
          <p:cNvSpPr txBox="1"/>
          <p:nvPr/>
        </p:nvSpPr>
        <p:spPr>
          <a:xfrm>
            <a:off x="731520" y="4096512"/>
            <a:ext cx="2834640" cy="274320"/>
          </a:xfrm>
          <a:prstGeom prst="rect">
            <a:avLst/>
          </a:prstGeom>
          <a:noFill/>
        </p:spPr>
        <p:txBody>
          <a:bodyPr wrap="square" lIns="0" rIns="0" tIns="0" bIns="0" anchor="t">
            <a:spAutoFit/>
          </a:bodyPr>
          <a:lstStyle/>
          <a:p>
            <a:pPr algn="l"/>
            <a:r>
              <a:rPr sz="1100" b="0" i="0">
                <a:solidFill>
                  <a:srgbClr val="5F6F74"/>
                </a:solidFill>
                <a:latin typeface="Calibri"/>
              </a:rPr>
              <a:t>Messenger; Lead Ads leadgen</a:t>
            </a:r>
          </a:p>
        </p:txBody>
      </p:sp>
      <p:cxnSp>
        <p:nvCxnSpPr>
          <p:cNvPr id="19" name="Connector 18"/>
          <p:cNvCxnSpPr/>
          <p:nvPr/>
        </p:nvCxnSpPr>
        <p:spPr>
          <a:xfrm>
            <a:off x="3703320" y="407822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49884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21" name="TextBox 20"/>
          <p:cNvSpPr txBox="1"/>
          <p:nvPr/>
        </p:nvSpPr>
        <p:spPr>
          <a:xfrm>
            <a:off x="731520" y="4553712"/>
            <a:ext cx="2834640" cy="274320"/>
          </a:xfrm>
          <a:prstGeom prst="rect">
            <a:avLst/>
          </a:prstGeom>
          <a:noFill/>
        </p:spPr>
        <p:txBody>
          <a:bodyPr wrap="square" lIns="0" rIns="0" tIns="0" bIns="0" anchor="t">
            <a:spAutoFit/>
          </a:bodyPr>
          <a:lstStyle/>
          <a:p>
            <a:pPr algn="l"/>
            <a:r>
              <a:rPr sz="1400" b="1" i="0">
                <a:solidFill>
                  <a:srgbClr val="20343D"/>
                </a:solidFill>
                <a:latin typeface="Calibri"/>
              </a:rPr>
              <a:t>TikTok</a:t>
            </a:r>
          </a:p>
        </p:txBody>
      </p:sp>
      <p:sp>
        <p:nvSpPr>
          <p:cNvPr id="22" name="TextBox 21"/>
          <p:cNvSpPr txBox="1"/>
          <p:nvPr/>
        </p:nvSpPr>
        <p:spPr>
          <a:xfrm>
            <a:off x="731520" y="4828032"/>
            <a:ext cx="2834640" cy="274320"/>
          </a:xfrm>
          <a:prstGeom prst="rect">
            <a:avLst/>
          </a:prstGeom>
          <a:noFill/>
        </p:spPr>
        <p:txBody>
          <a:bodyPr wrap="square" lIns="0" rIns="0" tIns="0" bIns="0" anchor="t">
            <a:spAutoFit/>
          </a:bodyPr>
          <a:lstStyle/>
          <a:p>
            <a:pPr algn="l"/>
            <a:r>
              <a:rPr sz="1100" b="0" i="0">
                <a:solidFill>
                  <a:srgbClr val="5F6F74"/>
                </a:solidFill>
                <a:latin typeface="Calibri"/>
              </a:rPr>
              <a:t>Lead Generation (Instant Form)</a:t>
            </a:r>
          </a:p>
        </p:txBody>
      </p:sp>
      <p:cxnSp>
        <p:nvCxnSpPr>
          <p:cNvPr id="23" name="Connector 22"/>
          <p:cNvCxnSpPr/>
          <p:nvPr/>
        </p:nvCxnSpPr>
        <p:spPr>
          <a:xfrm>
            <a:off x="3703320" y="480974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5230368"/>
            <a:ext cx="3108960" cy="621792"/>
          </a:xfrm>
          <a:prstGeom prst="roundRect">
            <a:avLst>
              <a:gd name="adj" fmla="val 8000"/>
            </a:avLst>
          </a:prstGeom>
          <a:solidFill>
            <a:srgbClr val="FFFFFF"/>
          </a:solidFill>
          <a:ln w="12700">
            <a:solidFill>
              <a:srgbClr val="E7EBE9"/>
            </a:solidFill>
          </a:ln>
        </p:spPr>
        <p:txBody>
          <a:bodyPr rtlCol="0" anchor="ctr"/>
          <a:lstStyle/>
          <a:p/>
        </p:txBody>
      </p:sp>
      <p:sp>
        <p:nvSpPr>
          <p:cNvPr id="25" name="TextBox 24"/>
          <p:cNvSpPr txBox="1"/>
          <p:nvPr/>
        </p:nvSpPr>
        <p:spPr>
          <a:xfrm>
            <a:off x="731520" y="5285231"/>
            <a:ext cx="2834640" cy="274320"/>
          </a:xfrm>
          <a:prstGeom prst="rect">
            <a:avLst/>
          </a:prstGeom>
          <a:noFill/>
        </p:spPr>
        <p:txBody>
          <a:bodyPr wrap="square" lIns="0" rIns="0" tIns="0" bIns="0" anchor="t">
            <a:spAutoFit/>
          </a:bodyPr>
          <a:lstStyle/>
          <a:p>
            <a:pPr algn="l"/>
            <a:r>
              <a:rPr sz="1400" b="1" i="0">
                <a:solidFill>
                  <a:srgbClr val="20343D"/>
                </a:solidFill>
                <a:latin typeface="Calibri"/>
              </a:rPr>
              <a:t>Walk-in</a:t>
            </a:r>
          </a:p>
        </p:txBody>
      </p:sp>
      <p:sp>
        <p:nvSpPr>
          <p:cNvPr id="26" name="TextBox 25"/>
          <p:cNvSpPr txBox="1"/>
          <p:nvPr/>
        </p:nvSpPr>
        <p:spPr>
          <a:xfrm>
            <a:off x="731520" y="5559552"/>
            <a:ext cx="2834640" cy="274320"/>
          </a:xfrm>
          <a:prstGeom prst="rect">
            <a:avLst/>
          </a:prstGeom>
          <a:noFill/>
        </p:spPr>
        <p:txBody>
          <a:bodyPr wrap="square" lIns="0" rIns="0" tIns="0" bIns="0" anchor="t">
            <a:spAutoFit/>
          </a:bodyPr>
          <a:lstStyle/>
          <a:p>
            <a:pPr algn="l"/>
            <a:r>
              <a:rPr sz="1100" b="0" i="0">
                <a:solidFill>
                  <a:srgbClr val="5F6F74"/>
                </a:solidFill>
                <a:latin typeface="Calibri"/>
              </a:rPr>
              <a:t>Input cepat di PWA sales</a:t>
            </a:r>
          </a:p>
        </p:txBody>
      </p:sp>
      <p:cxnSp>
        <p:nvCxnSpPr>
          <p:cNvPr id="27" name="Connector 26"/>
          <p:cNvCxnSpPr/>
          <p:nvPr/>
        </p:nvCxnSpPr>
        <p:spPr>
          <a:xfrm>
            <a:off x="3703320" y="5541264"/>
            <a:ext cx="502920" cy="0"/>
          </a:xfrm>
          <a:prstGeom prst="line">
            <a:avLst/>
          </a:prstGeom>
          <a:ln w="15875">
            <a:solidFill>
              <a:srgbClr val="B8C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434840" y="1627632"/>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1</a:t>
            </a:r>
          </a:p>
        </p:txBody>
      </p:sp>
      <p:sp>
        <p:nvSpPr>
          <p:cNvPr id="29" name="TextBox 28"/>
          <p:cNvSpPr txBox="1"/>
          <p:nvPr/>
        </p:nvSpPr>
        <p:spPr>
          <a:xfrm>
            <a:off x="4983480" y="1572768"/>
            <a:ext cx="2377440" cy="512064"/>
          </a:xfrm>
          <a:prstGeom prst="rect">
            <a:avLst/>
          </a:prstGeom>
          <a:noFill/>
        </p:spPr>
        <p:txBody>
          <a:bodyPr wrap="square" lIns="0" rIns="0" tIns="0" bIns="0" anchor="ctr">
            <a:spAutoFit/>
          </a:bodyPr>
          <a:lstStyle/>
          <a:p>
            <a:pPr algn="l"/>
            <a:r>
              <a:rPr sz="1400" b="1" i="0">
                <a:solidFill>
                  <a:srgbClr val="20343D"/>
                </a:solidFill>
                <a:latin typeface="Calibri"/>
              </a:rPr>
              <a:t>Capture</a:t>
            </a:r>
          </a:p>
        </p:txBody>
      </p:sp>
      <p:sp>
        <p:nvSpPr>
          <p:cNvPr id="30" name="TextBox 29"/>
          <p:cNvSpPr txBox="1"/>
          <p:nvPr/>
        </p:nvSpPr>
        <p:spPr>
          <a:xfrm>
            <a:off x="7086600" y="1572768"/>
            <a:ext cx="2286000" cy="512064"/>
          </a:xfrm>
          <a:prstGeom prst="rect">
            <a:avLst/>
          </a:prstGeom>
          <a:noFill/>
        </p:spPr>
        <p:txBody>
          <a:bodyPr wrap="square" lIns="0" rIns="0" tIns="0" bIns="0" anchor="ctr">
            <a:spAutoFit/>
          </a:bodyPr>
          <a:lstStyle/>
          <a:p>
            <a:pPr algn="l"/>
            <a:r>
              <a:rPr sz="1200" b="0" i="0">
                <a:solidFill>
                  <a:srgbClr val="5F6F74"/>
                </a:solidFill>
                <a:latin typeface="Calibri"/>
              </a:rPr>
              <a:t>event + idempotency key</a:t>
            </a:r>
          </a:p>
        </p:txBody>
      </p:sp>
      <p:sp>
        <p:nvSpPr>
          <p:cNvPr id="31" name="Oval 30"/>
          <p:cNvSpPr/>
          <p:nvPr/>
        </p:nvSpPr>
        <p:spPr>
          <a:xfrm>
            <a:off x="4434840" y="2240280"/>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2</a:t>
            </a:r>
          </a:p>
        </p:txBody>
      </p:sp>
      <p:sp>
        <p:nvSpPr>
          <p:cNvPr id="32" name="TextBox 31"/>
          <p:cNvSpPr txBox="1"/>
          <p:nvPr/>
        </p:nvSpPr>
        <p:spPr>
          <a:xfrm>
            <a:off x="4983480" y="2185416"/>
            <a:ext cx="2377440" cy="512064"/>
          </a:xfrm>
          <a:prstGeom prst="rect">
            <a:avLst/>
          </a:prstGeom>
          <a:noFill/>
        </p:spPr>
        <p:txBody>
          <a:bodyPr wrap="square" lIns="0" rIns="0" tIns="0" bIns="0" anchor="ctr">
            <a:spAutoFit/>
          </a:bodyPr>
          <a:lstStyle/>
          <a:p>
            <a:pPr algn="l"/>
            <a:r>
              <a:rPr sz="1400" b="1" i="0">
                <a:solidFill>
                  <a:srgbClr val="20343D"/>
                </a:solidFill>
                <a:latin typeface="Calibri"/>
              </a:rPr>
              <a:t>Normalisasi</a:t>
            </a:r>
          </a:p>
        </p:txBody>
      </p:sp>
      <p:sp>
        <p:nvSpPr>
          <p:cNvPr id="33" name="TextBox 32"/>
          <p:cNvSpPr txBox="1"/>
          <p:nvPr/>
        </p:nvSpPr>
        <p:spPr>
          <a:xfrm>
            <a:off x="7086600" y="2185416"/>
            <a:ext cx="2286000" cy="512064"/>
          </a:xfrm>
          <a:prstGeom prst="rect">
            <a:avLst/>
          </a:prstGeom>
          <a:noFill/>
        </p:spPr>
        <p:txBody>
          <a:bodyPr wrap="square" lIns="0" rIns="0" tIns="0" bIns="0" anchor="ctr">
            <a:spAutoFit/>
          </a:bodyPr>
          <a:lstStyle/>
          <a:p>
            <a:pPr algn="l"/>
            <a:r>
              <a:rPr sz="1200" b="0" i="0">
                <a:solidFill>
                  <a:srgbClr val="5F6F74"/>
                </a:solidFill>
                <a:latin typeface="Calibri"/>
              </a:rPr>
              <a:t>nomor → E.164, email, social ID</a:t>
            </a:r>
          </a:p>
        </p:txBody>
      </p:sp>
      <p:sp>
        <p:nvSpPr>
          <p:cNvPr id="34" name="Oval 33"/>
          <p:cNvSpPr/>
          <p:nvPr/>
        </p:nvSpPr>
        <p:spPr>
          <a:xfrm>
            <a:off x="4434840" y="2852928"/>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3</a:t>
            </a:r>
          </a:p>
        </p:txBody>
      </p:sp>
      <p:sp>
        <p:nvSpPr>
          <p:cNvPr id="35" name="TextBox 34"/>
          <p:cNvSpPr txBox="1"/>
          <p:nvPr/>
        </p:nvSpPr>
        <p:spPr>
          <a:xfrm>
            <a:off x="4983480" y="2798064"/>
            <a:ext cx="2377440" cy="512064"/>
          </a:xfrm>
          <a:prstGeom prst="rect">
            <a:avLst/>
          </a:prstGeom>
          <a:noFill/>
        </p:spPr>
        <p:txBody>
          <a:bodyPr wrap="square" lIns="0" rIns="0" tIns="0" bIns="0" anchor="ctr">
            <a:spAutoFit/>
          </a:bodyPr>
          <a:lstStyle/>
          <a:p>
            <a:pPr algn="l"/>
            <a:r>
              <a:rPr sz="1400" b="1" i="0">
                <a:solidFill>
                  <a:srgbClr val="20343D"/>
                </a:solidFill>
                <a:latin typeface="Calibri"/>
              </a:rPr>
              <a:t>Identity &amp; dedupe</a:t>
            </a:r>
          </a:p>
        </p:txBody>
      </p:sp>
      <p:sp>
        <p:nvSpPr>
          <p:cNvPr id="36" name="TextBox 35"/>
          <p:cNvSpPr txBox="1"/>
          <p:nvPr/>
        </p:nvSpPr>
        <p:spPr>
          <a:xfrm>
            <a:off x="7086600" y="2798064"/>
            <a:ext cx="2286000" cy="512064"/>
          </a:xfrm>
          <a:prstGeom prst="rect">
            <a:avLst/>
          </a:prstGeom>
          <a:noFill/>
        </p:spPr>
        <p:txBody>
          <a:bodyPr wrap="square" lIns="0" rIns="0" tIns="0" bIns="0" anchor="ctr">
            <a:spAutoFit/>
          </a:bodyPr>
          <a:lstStyle/>
          <a:p>
            <a:pPr algn="l"/>
            <a:r>
              <a:rPr sz="1200" b="0" i="0">
                <a:solidFill>
                  <a:srgbClr val="5F6F74"/>
                </a:solidFill>
                <a:latin typeface="Calibri"/>
              </a:rPr>
              <a:t>cari / merge golden customer ID</a:t>
            </a:r>
          </a:p>
        </p:txBody>
      </p:sp>
      <p:sp>
        <p:nvSpPr>
          <p:cNvPr id="37" name="Oval 36"/>
          <p:cNvSpPr/>
          <p:nvPr/>
        </p:nvSpPr>
        <p:spPr>
          <a:xfrm>
            <a:off x="4434840" y="3465576"/>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4</a:t>
            </a:r>
          </a:p>
        </p:txBody>
      </p:sp>
      <p:sp>
        <p:nvSpPr>
          <p:cNvPr id="38" name="TextBox 37"/>
          <p:cNvSpPr txBox="1"/>
          <p:nvPr/>
        </p:nvSpPr>
        <p:spPr>
          <a:xfrm>
            <a:off x="4983480" y="3410712"/>
            <a:ext cx="2377440" cy="512064"/>
          </a:xfrm>
          <a:prstGeom prst="rect">
            <a:avLst/>
          </a:prstGeom>
          <a:noFill/>
        </p:spPr>
        <p:txBody>
          <a:bodyPr wrap="square" lIns="0" rIns="0" tIns="0" bIns="0" anchor="ctr">
            <a:spAutoFit/>
          </a:bodyPr>
          <a:lstStyle/>
          <a:p>
            <a:pPr algn="l"/>
            <a:r>
              <a:rPr sz="1400" b="1" i="0">
                <a:solidFill>
                  <a:srgbClr val="20343D"/>
                </a:solidFill>
                <a:latin typeface="Calibri"/>
              </a:rPr>
              <a:t>Consent</a:t>
            </a:r>
          </a:p>
        </p:txBody>
      </p:sp>
      <p:sp>
        <p:nvSpPr>
          <p:cNvPr id="39" name="TextBox 38"/>
          <p:cNvSpPr txBox="1"/>
          <p:nvPr/>
        </p:nvSpPr>
        <p:spPr>
          <a:xfrm>
            <a:off x="7086600" y="3410712"/>
            <a:ext cx="2286000" cy="512064"/>
          </a:xfrm>
          <a:prstGeom prst="rect">
            <a:avLst/>
          </a:prstGeom>
          <a:noFill/>
        </p:spPr>
        <p:txBody>
          <a:bodyPr wrap="square" lIns="0" rIns="0" tIns="0" bIns="0" anchor="ctr">
            <a:spAutoFit/>
          </a:bodyPr>
          <a:lstStyle/>
          <a:p>
            <a:pPr algn="l"/>
            <a:r>
              <a:rPr sz="1200" b="0" i="0">
                <a:solidFill>
                  <a:srgbClr val="5F6F74"/>
                </a:solidFill>
                <a:latin typeface="Calibri"/>
              </a:rPr>
              <a:t>catat opt-in &amp; preferensi</a:t>
            </a:r>
          </a:p>
        </p:txBody>
      </p:sp>
      <p:sp>
        <p:nvSpPr>
          <p:cNvPr id="40" name="Oval 39"/>
          <p:cNvSpPr/>
          <p:nvPr/>
        </p:nvSpPr>
        <p:spPr>
          <a:xfrm>
            <a:off x="4434840" y="4078224"/>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5</a:t>
            </a:r>
          </a:p>
        </p:txBody>
      </p:sp>
      <p:sp>
        <p:nvSpPr>
          <p:cNvPr id="41" name="TextBox 40"/>
          <p:cNvSpPr txBox="1"/>
          <p:nvPr/>
        </p:nvSpPr>
        <p:spPr>
          <a:xfrm>
            <a:off x="4983480" y="4023360"/>
            <a:ext cx="2377440" cy="512064"/>
          </a:xfrm>
          <a:prstGeom prst="rect">
            <a:avLst/>
          </a:prstGeom>
          <a:noFill/>
        </p:spPr>
        <p:txBody>
          <a:bodyPr wrap="square" lIns="0" rIns="0" tIns="0" bIns="0" anchor="ctr">
            <a:spAutoFit/>
          </a:bodyPr>
          <a:lstStyle/>
          <a:p>
            <a:pPr algn="l"/>
            <a:r>
              <a:rPr sz="1400" b="1" i="0">
                <a:solidFill>
                  <a:srgbClr val="20343D"/>
                </a:solidFill>
                <a:latin typeface="Calibri"/>
              </a:rPr>
              <a:t>Scoring</a:t>
            </a:r>
          </a:p>
        </p:txBody>
      </p:sp>
      <p:sp>
        <p:nvSpPr>
          <p:cNvPr id="42" name="TextBox 41"/>
          <p:cNvSpPr txBox="1"/>
          <p:nvPr/>
        </p:nvSpPr>
        <p:spPr>
          <a:xfrm>
            <a:off x="7086600" y="4023360"/>
            <a:ext cx="2286000" cy="512064"/>
          </a:xfrm>
          <a:prstGeom prst="rect">
            <a:avLst/>
          </a:prstGeom>
          <a:noFill/>
        </p:spPr>
        <p:txBody>
          <a:bodyPr wrap="square" lIns="0" rIns="0" tIns="0" bIns="0" anchor="ctr">
            <a:spAutoFit/>
          </a:bodyPr>
          <a:lstStyle/>
          <a:p>
            <a:pPr algn="l"/>
            <a:r>
              <a:rPr sz="1200" b="0" i="0">
                <a:solidFill>
                  <a:srgbClr val="5F6F74"/>
                </a:solidFill>
                <a:latin typeface="Calibri"/>
              </a:rPr>
              <a:t>intent, kelengkapan, perilaku</a:t>
            </a:r>
          </a:p>
        </p:txBody>
      </p:sp>
      <p:sp>
        <p:nvSpPr>
          <p:cNvPr id="43" name="Oval 42"/>
          <p:cNvSpPr/>
          <p:nvPr/>
        </p:nvSpPr>
        <p:spPr>
          <a:xfrm>
            <a:off x="4434840" y="4690872"/>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6</a:t>
            </a:r>
          </a:p>
        </p:txBody>
      </p:sp>
      <p:sp>
        <p:nvSpPr>
          <p:cNvPr id="44" name="TextBox 43"/>
          <p:cNvSpPr txBox="1"/>
          <p:nvPr/>
        </p:nvSpPr>
        <p:spPr>
          <a:xfrm>
            <a:off x="4983480" y="4636008"/>
            <a:ext cx="2377440" cy="512064"/>
          </a:xfrm>
          <a:prstGeom prst="rect">
            <a:avLst/>
          </a:prstGeom>
          <a:noFill/>
        </p:spPr>
        <p:txBody>
          <a:bodyPr wrap="square" lIns="0" rIns="0" tIns="0" bIns="0" anchor="ctr">
            <a:spAutoFit/>
          </a:bodyPr>
          <a:lstStyle/>
          <a:p>
            <a:pPr algn="l"/>
            <a:r>
              <a:rPr sz="1400" b="1" i="0">
                <a:solidFill>
                  <a:srgbClr val="20343D"/>
                </a:solidFill>
                <a:latin typeface="Calibri"/>
              </a:rPr>
              <a:t>Routing</a:t>
            </a:r>
          </a:p>
        </p:txBody>
      </p:sp>
      <p:sp>
        <p:nvSpPr>
          <p:cNvPr id="45" name="TextBox 44"/>
          <p:cNvSpPr txBox="1"/>
          <p:nvPr/>
        </p:nvSpPr>
        <p:spPr>
          <a:xfrm>
            <a:off x="7086600" y="4636008"/>
            <a:ext cx="2286000" cy="512064"/>
          </a:xfrm>
          <a:prstGeom prst="rect">
            <a:avLst/>
          </a:prstGeom>
          <a:noFill/>
        </p:spPr>
        <p:txBody>
          <a:bodyPr wrap="square" lIns="0" rIns="0" tIns="0" bIns="0" anchor="ctr">
            <a:spAutoFit/>
          </a:bodyPr>
          <a:lstStyle/>
          <a:p>
            <a:pPr algn="l"/>
            <a:r>
              <a:rPr sz="1200" b="0" i="0">
                <a:solidFill>
                  <a:srgbClr val="5F6F74"/>
                </a:solidFill>
                <a:latin typeface="Calibri"/>
              </a:rPr>
              <a:t>cabang · produk · kapasitas</a:t>
            </a:r>
          </a:p>
        </p:txBody>
      </p:sp>
      <p:sp>
        <p:nvSpPr>
          <p:cNvPr id="46" name="Oval 45"/>
          <p:cNvSpPr/>
          <p:nvPr/>
        </p:nvSpPr>
        <p:spPr>
          <a:xfrm>
            <a:off x="4434840" y="5303520"/>
            <a:ext cx="402336" cy="402336"/>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7</a:t>
            </a:r>
          </a:p>
        </p:txBody>
      </p:sp>
      <p:sp>
        <p:nvSpPr>
          <p:cNvPr id="47" name="TextBox 46"/>
          <p:cNvSpPr txBox="1"/>
          <p:nvPr/>
        </p:nvSpPr>
        <p:spPr>
          <a:xfrm>
            <a:off x="4983480" y="5248656"/>
            <a:ext cx="2377440" cy="512064"/>
          </a:xfrm>
          <a:prstGeom prst="rect">
            <a:avLst/>
          </a:prstGeom>
          <a:noFill/>
        </p:spPr>
        <p:txBody>
          <a:bodyPr wrap="square" lIns="0" rIns="0" tIns="0" bIns="0" anchor="ctr">
            <a:spAutoFit/>
          </a:bodyPr>
          <a:lstStyle/>
          <a:p>
            <a:pPr algn="l"/>
            <a:r>
              <a:rPr sz="1400" b="1" i="0">
                <a:solidFill>
                  <a:srgbClr val="20343D"/>
                </a:solidFill>
                <a:latin typeface="Calibri"/>
              </a:rPr>
              <a:t>SLA timer &amp; task</a:t>
            </a:r>
          </a:p>
        </p:txBody>
      </p:sp>
      <p:sp>
        <p:nvSpPr>
          <p:cNvPr id="48" name="TextBox 47"/>
          <p:cNvSpPr txBox="1"/>
          <p:nvPr/>
        </p:nvSpPr>
        <p:spPr>
          <a:xfrm>
            <a:off x="7086600" y="5248656"/>
            <a:ext cx="2286000" cy="512064"/>
          </a:xfrm>
          <a:prstGeom prst="rect">
            <a:avLst/>
          </a:prstGeom>
          <a:noFill/>
        </p:spPr>
        <p:txBody>
          <a:bodyPr wrap="square" lIns="0" rIns="0" tIns="0" bIns="0" anchor="ctr">
            <a:spAutoFit/>
          </a:bodyPr>
          <a:lstStyle/>
          <a:p>
            <a:pPr algn="l"/>
            <a:r>
              <a:rPr sz="1200" b="0" i="0">
                <a:solidFill>
                  <a:srgbClr val="5F6F74"/>
                </a:solidFill>
                <a:latin typeface="Calibri"/>
              </a:rPr>
              <a:t>notifikasi di PWA sales</a:t>
            </a:r>
          </a:p>
        </p:txBody>
      </p:sp>
      <p:sp>
        <p:nvSpPr>
          <p:cNvPr id="49" name="Rounded Rectangle 48"/>
          <p:cNvSpPr/>
          <p:nvPr/>
        </p:nvSpPr>
        <p:spPr>
          <a:xfrm>
            <a:off x="9464040" y="1572768"/>
            <a:ext cx="2176272" cy="4279392"/>
          </a:xfrm>
          <a:prstGeom prst="roundRect">
            <a:avLst>
              <a:gd name="adj" fmla="val 8000"/>
            </a:avLst>
          </a:prstGeom>
          <a:solidFill>
            <a:srgbClr val="152D36"/>
          </a:solidFill>
          <a:ln>
            <a:noFill/>
          </a:ln>
        </p:spPr>
        <p:txBody>
          <a:bodyPr rtlCol="0" anchor="ctr"/>
          <a:lstStyle/>
          <a:p/>
        </p:txBody>
      </p:sp>
      <p:sp>
        <p:nvSpPr>
          <p:cNvPr id="50" name="TextBox 49"/>
          <p:cNvSpPr txBox="1"/>
          <p:nvPr/>
        </p:nvSpPr>
        <p:spPr>
          <a:xfrm>
            <a:off x="9646920" y="1755648"/>
            <a:ext cx="1828800" cy="320040"/>
          </a:xfrm>
          <a:prstGeom prst="rect">
            <a:avLst/>
          </a:prstGeom>
          <a:noFill/>
        </p:spPr>
        <p:txBody>
          <a:bodyPr wrap="square" lIns="0" rIns="0" tIns="0" bIns="0" anchor="t">
            <a:spAutoFit/>
          </a:bodyPr>
          <a:lstStyle/>
          <a:p>
            <a:pPr algn="l"/>
            <a:r>
              <a:rPr sz="1100" b="1" i="0">
                <a:solidFill>
                  <a:srgbClr val="A8D3B5"/>
                </a:solidFill>
                <a:latin typeface="Calibri"/>
              </a:rPr>
              <a:t>HASIL</a:t>
            </a:r>
          </a:p>
        </p:txBody>
      </p:sp>
      <p:sp>
        <p:nvSpPr>
          <p:cNvPr id="51" name="TextBox 50"/>
          <p:cNvSpPr txBox="1"/>
          <p:nvPr/>
        </p:nvSpPr>
        <p:spPr>
          <a:xfrm>
            <a:off x="9646920" y="2121408"/>
            <a:ext cx="1874519" cy="3566160"/>
          </a:xfrm>
          <a:prstGeom prst="rect">
            <a:avLst/>
          </a:prstGeom>
          <a:noFill/>
        </p:spPr>
        <p:txBody>
          <a:bodyPr wrap="square" lIns="0" rIns="0" tIns="0" bIns="0" anchor="t">
            <a:spAutoFit/>
          </a:bodyPr>
          <a:lstStyle/>
          <a:p>
            <a:pPr algn="l" marL="201168" indent="-201168">
              <a:spcAft>
                <a:spcPts val="800"/>
              </a:spcAft>
              <a:buClr>
                <a:srgbClr val="A8D3B5"/>
              </a:buClr>
              <a:buFont typeface="Arial"/>
              <a:buChar char="•"/>
            </a:pPr>
            <a:r>
              <a:rPr sz="1300" b="0" i="0">
                <a:solidFill>
                  <a:srgbClr val="FFFFFF"/>
                </a:solidFill>
                <a:latin typeface="Calibri"/>
              </a:rPr>
              <a:t>Satu lead per customer, bukan per channel</a:t>
            </a:r>
          </a:p>
          <a:p>
            <a:pPr algn="l" marL="201168" indent="-201168">
              <a:spcAft>
                <a:spcPts val="800"/>
              </a:spcAft>
              <a:buClr>
                <a:srgbClr val="A8D3B5"/>
              </a:buClr>
              <a:buFont typeface="Arial"/>
              <a:buChar char="•"/>
            </a:pPr>
            <a:r>
              <a:rPr sz="1300" b="0" i="0">
                <a:solidFill>
                  <a:srgbClr val="FFFFFF"/>
                </a:solidFill>
                <a:latin typeface="Calibri"/>
              </a:rPr>
              <a:t>Owner jelas dalam &lt;1 menit</a:t>
            </a:r>
          </a:p>
          <a:p>
            <a:pPr algn="l" marL="201168" indent="-201168">
              <a:spcAft>
                <a:spcPts val="800"/>
              </a:spcAft>
              <a:buClr>
                <a:srgbClr val="A8D3B5"/>
              </a:buClr>
              <a:buFont typeface="Arial"/>
              <a:buChar char="•"/>
            </a:pPr>
            <a:r>
              <a:rPr sz="1300" b="0" i="0">
                <a:solidFill>
                  <a:srgbClr val="FFFFFF"/>
                </a:solidFill>
                <a:latin typeface="Calibri"/>
              </a:rPr>
              <a:t>SLA 15 menit berjalan</a:t>
            </a:r>
          </a:p>
          <a:p>
            <a:pPr algn="l" marL="201168" indent="-201168">
              <a:spcAft>
                <a:spcPts val="800"/>
              </a:spcAft>
              <a:buClr>
                <a:srgbClr val="A8D3B5"/>
              </a:buClr>
              <a:buFont typeface="Arial"/>
              <a:buChar char="•"/>
            </a:pPr>
            <a:r>
              <a:rPr sz="1300" b="0" i="0">
                <a:solidFill>
                  <a:srgbClr val="FFFFFF"/>
                </a:solidFill>
                <a:latin typeface="Calibri"/>
              </a:rPr>
              <a:t>Sumber lead tersimpan untuk attribution SPK</a:t>
            </a:r>
          </a:p>
        </p:txBody>
      </p:sp>
      <p:sp>
        <p:nvSpPr>
          <p:cNvPr id="52" name="TextBox 51"/>
          <p:cNvSpPr txBox="1"/>
          <p:nvPr/>
        </p:nvSpPr>
        <p:spPr>
          <a:xfrm>
            <a:off x="548640" y="5943600"/>
            <a:ext cx="11091672" cy="320040"/>
          </a:xfrm>
          <a:prstGeom prst="rect">
            <a:avLst/>
          </a:prstGeom>
          <a:noFill/>
        </p:spPr>
        <p:txBody>
          <a:bodyPr wrap="square" lIns="0" rIns="0" tIns="0" bIns="0" anchor="t">
            <a:spAutoFit/>
          </a:bodyPr>
          <a:lstStyle/>
          <a:p>
            <a:pPr algn="l"/>
            <a:r>
              <a:rPr sz="1200" b="0" i="0">
                <a:solidFill>
                  <a:srgbClr val="5F6F74"/>
                </a:solidFill>
                <a:latin typeface="Calibri"/>
              </a:rPr>
              <a:t>Akses API Instagram, Facebook, dan TikTok mengikuti app review dan entitlement tiap platform; pilot dimulai dari WhatsApp + website.</a:t>
            </a:r>
          </a:p>
        </p:txBody>
      </p:sp>
      <p:sp>
        <p:nvSpPr>
          <p:cNvPr id="53" name="TextBox 52"/>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54" name="TextBox 53"/>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TASK 3 · KATALOG OTOMASI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Dua belas aturan otomasi menggantikan kerja manual</a:t>
            </a:r>
          </a:p>
        </p:txBody>
      </p:sp>
      <p:graphicFrame>
        <p:nvGraphicFramePr>
          <p:cNvPr id="4" name="Table 3"/>
          <p:cNvGraphicFramePr>
            <a:graphicFrameLocks noGrp="1"/>
          </p:cNvGraphicFramePr>
          <p:nvPr/>
        </p:nvGraphicFramePr>
        <p:xfrm>
          <a:off x="548640" y="1481328"/>
          <a:ext cx="11091672" cy="4636008"/>
        </p:xfrm>
        <a:graphic>
          <a:graphicData uri="http://schemas.openxmlformats.org/drawingml/2006/table">
            <a:tbl>
              <a:tblPr firstRow="1">
                <a:tableStyleId>{5C22544A-7EE6-4342-B048-85BDC9FD1C3A}</a:tableStyleId>
              </a:tblPr>
              <a:tblGrid>
                <a:gridCol w="2743200"/>
                <a:gridCol w="5486400"/>
                <a:gridCol w="2862072"/>
              </a:tblGrid>
              <a:tr h="356616">
                <a:tc>
                  <a:txBody>
                    <a:bodyPr wrap="square"/>
                    <a:lstStyle/>
                    <a:p>
                      <a:r>
                        <a:rPr sz="1200" b="1">
                          <a:solidFill>
                            <a:srgbClr val="FFFFFF"/>
                          </a:solidFill>
                          <a:latin typeface="Calibri"/>
                        </a:rPr>
                        <a:t>Trigger</a:t>
                      </a:r>
                    </a:p>
                  </a:txBody>
                  <a:tcPr marL="73152" marR="73152" marT="36576" marB="36576" anchor="ctr">
                    <a:solidFill>
                      <a:srgbClr val="152D36"/>
                    </a:solidFill>
                  </a:tcPr>
                </a:tc>
                <a:tc>
                  <a:txBody>
                    <a:bodyPr wrap="square"/>
                    <a:lstStyle/>
                    <a:p>
                      <a:r>
                        <a:rPr sz="1200" b="1">
                          <a:solidFill>
                            <a:srgbClr val="FFFFFF"/>
                          </a:solidFill>
                          <a:latin typeface="Calibri"/>
                        </a:rPr>
                        <a:t>Aksi</a:t>
                      </a:r>
                    </a:p>
                  </a:txBody>
                  <a:tcPr marL="73152" marR="73152" marT="36576" marB="36576" anchor="ctr">
                    <a:solidFill>
                      <a:srgbClr val="152D36"/>
                    </a:solidFill>
                  </a:tcPr>
                </a:tc>
                <a:tc>
                  <a:txBody>
                    <a:bodyPr wrap="square"/>
                    <a:lstStyle/>
                    <a:p>
                      <a:r>
                        <a:rPr sz="1200" b="1">
                          <a:solidFill>
                            <a:srgbClr val="FFFFFF"/>
                          </a:solidFill>
                          <a:latin typeface="Calibri"/>
                        </a:rPr>
                        <a:t>KPI</a:t>
                      </a:r>
                    </a:p>
                  </a:txBody>
                  <a:tcPr marL="73152" marR="73152" marT="36576" marB="36576" anchor="ctr">
                    <a:solidFill>
                      <a:srgbClr val="152D36"/>
                    </a:solidFill>
                  </a:tcPr>
                </a:tc>
              </a:tr>
              <a:tr h="356616">
                <a:tc>
                  <a:txBody>
                    <a:bodyPr wrap="square"/>
                    <a:lstStyle/>
                    <a:p>
                      <a:r>
                        <a:rPr sz="1200" b="1">
                          <a:solidFill>
                            <a:srgbClr val="20343D"/>
                          </a:solidFill>
                          <a:latin typeface="Calibri"/>
                        </a:rPr>
                        <a:t>inquiry.created</a:t>
                      </a:r>
                    </a:p>
                  </a:txBody>
                  <a:tcPr marL="73152" marR="73152" marT="36576" marB="36576" anchor="ctr">
                    <a:solidFill>
                      <a:srgbClr val="FFFFFF"/>
                    </a:solidFill>
                  </a:tcPr>
                </a:tc>
                <a:tc>
                  <a:txBody>
                    <a:bodyPr wrap="square"/>
                    <a:lstStyle/>
                    <a:p>
                      <a:r>
                        <a:rPr sz="1200" b="0">
                          <a:solidFill>
                            <a:srgbClr val="20343D"/>
                          </a:solidFill>
                          <a:latin typeface="Calibri"/>
                        </a:rPr>
                        <a:t>Auto-ack + consent, merge profil, routing, mulai SLA</a:t>
                      </a:r>
                    </a:p>
                  </a:txBody>
                  <a:tcPr marL="73152" marR="73152" marT="36576" marB="36576" anchor="ctr">
                    <a:solidFill>
                      <a:srgbClr val="FFFFFF"/>
                    </a:solidFill>
                  </a:tcPr>
                </a:tc>
                <a:tc>
                  <a:txBody>
                    <a:bodyPr wrap="square"/>
                    <a:lstStyle/>
                    <a:p>
                      <a:r>
                        <a:rPr sz="1200" b="0">
                          <a:solidFill>
                            <a:srgbClr val="20343D"/>
                          </a:solidFill>
                          <a:latin typeface="Calibri"/>
                        </a:rPr>
                        <a:t>% auto-ack &lt;1 menit</a:t>
                      </a:r>
                    </a:p>
                  </a:txBody>
                  <a:tcPr marL="73152" marR="73152" marT="36576" marB="36576" anchor="ctr">
                    <a:solidFill>
                      <a:srgbClr val="FFFFFF"/>
                    </a:solidFill>
                  </a:tcPr>
                </a:tc>
              </a:tr>
              <a:tr h="356616">
                <a:tc>
                  <a:txBody>
                    <a:bodyPr wrap="square"/>
                    <a:lstStyle/>
                    <a:p>
                      <a:r>
                        <a:rPr sz="1200" b="1">
                          <a:solidFill>
                            <a:srgbClr val="20343D"/>
                          </a:solidFill>
                          <a:latin typeface="Calibri"/>
                        </a:rPr>
                        <a:t>sla.warning (menit 10)</a:t>
                      </a:r>
                    </a:p>
                  </a:txBody>
                  <a:tcPr marL="73152" marR="73152" marT="36576" marB="36576" anchor="ctr">
                    <a:solidFill>
                      <a:srgbClr val="F6F8F6"/>
                    </a:solidFill>
                  </a:tcPr>
                </a:tc>
                <a:tc>
                  <a:txBody>
                    <a:bodyPr wrap="square"/>
                    <a:lstStyle/>
                    <a:p>
                      <a:r>
                        <a:rPr sz="1200" b="0">
                          <a:solidFill>
                            <a:srgbClr val="20343D"/>
                          </a:solidFill>
                          <a:latin typeface="Calibri"/>
                        </a:rPr>
                        <a:t>Push notification ke owner</a:t>
                      </a:r>
                    </a:p>
                  </a:txBody>
                  <a:tcPr marL="73152" marR="73152" marT="36576" marB="36576" anchor="ctr">
                    <a:solidFill>
                      <a:srgbClr val="F6F8F6"/>
                    </a:solidFill>
                  </a:tcPr>
                </a:tc>
                <a:tc>
                  <a:txBody>
                    <a:bodyPr wrap="square"/>
                    <a:lstStyle/>
                    <a:p>
                      <a:r>
                        <a:rPr sz="1200" b="0">
                          <a:solidFill>
                            <a:srgbClr val="20343D"/>
                          </a:solidFill>
                          <a:latin typeface="Calibri"/>
                        </a:rPr>
                        <a:t>First response time</a:t>
                      </a:r>
                    </a:p>
                  </a:txBody>
                  <a:tcPr marL="73152" marR="73152" marT="36576" marB="36576" anchor="ctr">
                    <a:solidFill>
                      <a:srgbClr val="F6F8F6"/>
                    </a:solidFill>
                  </a:tcPr>
                </a:tc>
              </a:tr>
              <a:tr h="356616">
                <a:tc>
                  <a:txBody>
                    <a:bodyPr wrap="square"/>
                    <a:lstStyle/>
                    <a:p>
                      <a:r>
                        <a:rPr sz="1200" b="1">
                          <a:solidFill>
                            <a:srgbClr val="20343D"/>
                          </a:solidFill>
                          <a:latin typeface="Calibri"/>
                        </a:rPr>
                        <a:t>sla.breached (menit 15)</a:t>
                      </a:r>
                    </a:p>
                  </a:txBody>
                  <a:tcPr marL="73152" marR="73152" marT="36576" marB="36576" anchor="ctr">
                    <a:solidFill>
                      <a:srgbClr val="FFFFFF"/>
                    </a:solidFill>
                  </a:tcPr>
                </a:tc>
                <a:tc>
                  <a:txBody>
                    <a:bodyPr wrap="square"/>
                    <a:lstStyle/>
                    <a:p>
                      <a:r>
                        <a:rPr sz="1200" b="0">
                          <a:solidFill>
                            <a:srgbClr val="20343D"/>
                          </a:solidFill>
                          <a:latin typeface="Calibri"/>
                        </a:rPr>
                        <a:t>Eskalasi supervisor, reassign</a:t>
                      </a:r>
                    </a:p>
                  </a:txBody>
                  <a:tcPr marL="73152" marR="73152" marT="36576" marB="36576" anchor="ctr">
                    <a:solidFill>
                      <a:srgbClr val="FFFFFF"/>
                    </a:solidFill>
                  </a:tcPr>
                </a:tc>
                <a:tc>
                  <a:txBody>
                    <a:bodyPr wrap="square"/>
                    <a:lstStyle/>
                    <a:p>
                      <a:r>
                        <a:rPr sz="1200" b="0">
                          <a:solidFill>
                            <a:srgbClr val="20343D"/>
                          </a:solidFill>
                          <a:latin typeface="Calibri"/>
                        </a:rPr>
                        <a:t>% respons ≤15 menit</a:t>
                      </a:r>
                    </a:p>
                  </a:txBody>
                  <a:tcPr marL="73152" marR="73152" marT="36576" marB="36576" anchor="ctr">
                    <a:solidFill>
                      <a:srgbClr val="FFFFFF"/>
                    </a:solidFill>
                  </a:tcPr>
                </a:tc>
              </a:tr>
              <a:tr h="356616">
                <a:tc>
                  <a:txBody>
                    <a:bodyPr wrap="square"/>
                    <a:lstStyle/>
                    <a:p>
                      <a:r>
                        <a:rPr sz="1200" b="1">
                          <a:solidFill>
                            <a:srgbClr val="20343D"/>
                          </a:solidFill>
                          <a:latin typeface="Calibri"/>
                        </a:rPr>
                        <a:t>inquiry.after_hours</a:t>
                      </a:r>
                    </a:p>
                  </a:txBody>
                  <a:tcPr marL="73152" marR="73152" marT="36576" marB="36576" anchor="ctr">
                    <a:solidFill>
                      <a:srgbClr val="F6F8F6"/>
                    </a:solidFill>
                  </a:tcPr>
                </a:tc>
                <a:tc>
                  <a:txBody>
                    <a:bodyPr wrap="square"/>
                    <a:lstStyle/>
                    <a:p>
                      <a:r>
                        <a:rPr sz="1200" b="0">
                          <a:solidFill>
                            <a:srgbClr val="20343D"/>
                          </a:solidFill>
                          <a:latin typeface="Calibri"/>
                        </a:rPr>
                        <a:t>Bot kualifikasi, janji waktu respons</a:t>
                      </a:r>
                    </a:p>
                  </a:txBody>
                  <a:tcPr marL="73152" marR="73152" marT="36576" marB="36576" anchor="ctr">
                    <a:solidFill>
                      <a:srgbClr val="F6F8F6"/>
                    </a:solidFill>
                  </a:tcPr>
                </a:tc>
                <a:tc>
                  <a:txBody>
                    <a:bodyPr wrap="square"/>
                    <a:lstStyle/>
                    <a:p>
                      <a:r>
                        <a:rPr sz="1200" b="0">
                          <a:solidFill>
                            <a:srgbClr val="20343D"/>
                          </a:solidFill>
                          <a:latin typeface="Calibri"/>
                        </a:rPr>
                        <a:t>% lead terkualifikasi</a:t>
                      </a:r>
                    </a:p>
                  </a:txBody>
                  <a:tcPr marL="73152" marR="73152" marT="36576" marB="36576" anchor="ctr">
                    <a:solidFill>
                      <a:srgbClr val="F6F8F6"/>
                    </a:solidFill>
                  </a:tcPr>
                </a:tc>
              </a:tr>
              <a:tr h="356616">
                <a:tc>
                  <a:txBody>
                    <a:bodyPr wrap="square"/>
                    <a:lstStyle/>
                    <a:p>
                      <a:r>
                        <a:rPr sz="1200" b="1">
                          <a:solidFill>
                            <a:srgbClr val="20343D"/>
                          </a:solidFill>
                          <a:latin typeface="Calibri"/>
                        </a:rPr>
                        <a:t>lead.scored = Hot</a:t>
                      </a:r>
                    </a:p>
                  </a:txBody>
                  <a:tcPr marL="73152" marR="73152" marT="36576" marB="36576" anchor="ctr">
                    <a:solidFill>
                      <a:srgbClr val="FFFFFF"/>
                    </a:solidFill>
                  </a:tcPr>
                </a:tc>
                <a:tc>
                  <a:txBody>
                    <a:bodyPr wrap="square"/>
                    <a:lstStyle/>
                    <a:p>
                      <a:r>
                        <a:rPr sz="1200" b="0">
                          <a:solidFill>
                            <a:srgbClr val="20343D"/>
                          </a:solidFill>
                          <a:latin typeface="Calibri"/>
                        </a:rPr>
                        <a:t>Task prioritas + link booking test drive</a:t>
                      </a:r>
                    </a:p>
                  </a:txBody>
                  <a:tcPr marL="73152" marR="73152" marT="36576" marB="36576" anchor="ctr">
                    <a:solidFill>
                      <a:srgbClr val="FFFFFF"/>
                    </a:solidFill>
                  </a:tcPr>
                </a:tc>
                <a:tc>
                  <a:txBody>
                    <a:bodyPr wrap="square"/>
                    <a:lstStyle/>
                    <a:p>
                      <a:r>
                        <a:rPr sz="1200" b="0">
                          <a:solidFill>
                            <a:srgbClr val="20343D"/>
                          </a:solidFill>
                          <a:latin typeface="Calibri"/>
                        </a:rPr>
                        <a:t>Hot → test drive</a:t>
                      </a:r>
                    </a:p>
                  </a:txBody>
                  <a:tcPr marL="73152" marR="73152" marT="36576" marB="36576" anchor="ctr">
                    <a:solidFill>
                      <a:srgbClr val="FFFFFF"/>
                    </a:solidFill>
                  </a:tcPr>
                </a:tc>
              </a:tr>
              <a:tr h="356616">
                <a:tc>
                  <a:txBody>
                    <a:bodyPr wrap="square"/>
                    <a:lstStyle/>
                    <a:p>
                      <a:r>
                        <a:rPr sz="1200" b="1">
                          <a:solidFill>
                            <a:srgbClr val="20343D"/>
                          </a:solidFill>
                          <a:latin typeface="Calibri"/>
                        </a:rPr>
                        <a:t>testdrive.booked</a:t>
                      </a:r>
                    </a:p>
                  </a:txBody>
                  <a:tcPr marL="73152" marR="73152" marT="36576" marB="36576" anchor="ctr">
                    <a:solidFill>
                      <a:srgbClr val="F6F8F6"/>
                    </a:solidFill>
                  </a:tcPr>
                </a:tc>
                <a:tc>
                  <a:txBody>
                    <a:bodyPr wrap="square"/>
                    <a:lstStyle/>
                    <a:p>
                      <a:r>
                        <a:rPr sz="1200" b="0">
                          <a:solidFill>
                            <a:srgbClr val="20343D"/>
                          </a:solidFill>
                          <a:latin typeface="Calibri"/>
                        </a:rPr>
                        <a:t>Reminder H-1 &amp; 2 jam; no-show → task</a:t>
                      </a:r>
                    </a:p>
                  </a:txBody>
                  <a:tcPr marL="73152" marR="73152" marT="36576" marB="36576" anchor="ctr">
                    <a:solidFill>
                      <a:srgbClr val="F6F8F6"/>
                    </a:solidFill>
                  </a:tcPr>
                </a:tc>
                <a:tc>
                  <a:txBody>
                    <a:bodyPr wrap="square"/>
                    <a:lstStyle/>
                    <a:p>
                      <a:r>
                        <a:rPr sz="1200" b="0">
                          <a:solidFill>
                            <a:srgbClr val="20343D"/>
                          </a:solidFill>
                          <a:latin typeface="Calibri"/>
                        </a:rPr>
                        <a:t>Show rate</a:t>
                      </a:r>
                    </a:p>
                  </a:txBody>
                  <a:tcPr marL="73152" marR="73152" marT="36576" marB="36576" anchor="ctr">
                    <a:solidFill>
                      <a:srgbClr val="F6F8F6"/>
                    </a:solidFill>
                  </a:tcPr>
                </a:tc>
              </a:tr>
              <a:tr h="356616">
                <a:tc>
                  <a:txBody>
                    <a:bodyPr wrap="square"/>
                    <a:lstStyle/>
                    <a:p>
                      <a:r>
                        <a:rPr sz="1200" b="1">
                          <a:solidFill>
                            <a:srgbClr val="20343D"/>
                          </a:solidFill>
                          <a:latin typeface="Calibri"/>
                        </a:rPr>
                        <a:t>followup.due H+1/3/7</a:t>
                      </a:r>
                    </a:p>
                  </a:txBody>
                  <a:tcPr marL="73152" marR="73152" marT="36576" marB="36576" anchor="ctr">
                    <a:solidFill>
                      <a:srgbClr val="FFFFFF"/>
                    </a:solidFill>
                  </a:tcPr>
                </a:tc>
                <a:tc>
                  <a:txBody>
                    <a:bodyPr wrap="square"/>
                    <a:lstStyle/>
                    <a:p>
                      <a:r>
                        <a:rPr sz="1200" b="0">
                          <a:solidFill>
                            <a:srgbClr val="20343D"/>
                          </a:solidFill>
                          <a:latin typeface="Calibri"/>
                        </a:rPr>
                        <a:t>Task + template sesuai tahap</a:t>
                      </a:r>
                    </a:p>
                  </a:txBody>
                  <a:tcPr marL="73152" marR="73152" marT="36576" marB="36576" anchor="ctr">
                    <a:solidFill>
                      <a:srgbClr val="FFFFFF"/>
                    </a:solidFill>
                  </a:tcPr>
                </a:tc>
                <a:tc>
                  <a:txBody>
                    <a:bodyPr wrap="square"/>
                    <a:lstStyle/>
                    <a:p>
                      <a:r>
                        <a:rPr sz="1200" b="0">
                          <a:solidFill>
                            <a:srgbClr val="20343D"/>
                          </a:solidFill>
                          <a:latin typeface="Calibri"/>
                        </a:rPr>
                        <a:t>% follow-up lengkap</a:t>
                      </a:r>
                    </a:p>
                  </a:txBody>
                  <a:tcPr marL="73152" marR="73152" marT="36576" marB="36576" anchor="ctr">
                    <a:solidFill>
                      <a:srgbClr val="FFFFFF"/>
                    </a:solidFill>
                  </a:tcPr>
                </a:tc>
              </a:tr>
              <a:tr h="356616">
                <a:tc>
                  <a:txBody>
                    <a:bodyPr wrap="square"/>
                    <a:lstStyle/>
                    <a:p>
                      <a:r>
                        <a:rPr sz="1200" b="1">
                          <a:solidFill>
                            <a:srgbClr val="20343D"/>
                          </a:solidFill>
                          <a:latin typeface="Calibri"/>
                        </a:rPr>
                        <a:t>erp.spk.created</a:t>
                      </a:r>
                    </a:p>
                  </a:txBody>
                  <a:tcPr marL="73152" marR="73152" marT="36576" marB="36576" anchor="ctr">
                    <a:solidFill>
                      <a:srgbClr val="F6F8F6"/>
                    </a:solidFill>
                  </a:tcPr>
                </a:tc>
                <a:tc>
                  <a:txBody>
                    <a:bodyPr wrap="square"/>
                    <a:lstStyle/>
                    <a:p>
                      <a:r>
                        <a:rPr sz="1200" b="0">
                          <a:solidFill>
                            <a:srgbClr val="20343D"/>
                          </a:solidFill>
                          <a:latin typeface="Calibri"/>
                        </a:rPr>
                        <a:t>Stage Order, hentikan prospecting</a:t>
                      </a:r>
                    </a:p>
                  </a:txBody>
                  <a:tcPr marL="73152" marR="73152" marT="36576" marB="36576" anchor="ctr">
                    <a:solidFill>
                      <a:srgbClr val="F6F8F6"/>
                    </a:solidFill>
                  </a:tcPr>
                </a:tc>
                <a:tc>
                  <a:txBody>
                    <a:bodyPr wrap="square"/>
                    <a:lstStyle/>
                    <a:p>
                      <a:r>
                        <a:rPr sz="1200" b="0">
                          <a:solidFill>
                            <a:srgbClr val="20343D"/>
                          </a:solidFill>
                          <a:latin typeface="Calibri"/>
                        </a:rPr>
                        <a:t>0 pembeli diprospek</a:t>
                      </a:r>
                    </a:p>
                  </a:txBody>
                  <a:tcPr marL="73152" marR="73152" marT="36576" marB="36576" anchor="ctr">
                    <a:solidFill>
                      <a:srgbClr val="F6F8F6"/>
                    </a:solidFill>
                  </a:tcPr>
                </a:tc>
              </a:tr>
              <a:tr h="356616">
                <a:tc>
                  <a:txBody>
                    <a:bodyPr wrap="square"/>
                    <a:lstStyle/>
                    <a:p>
                      <a:r>
                        <a:rPr sz="1200" b="1">
                          <a:solidFill>
                            <a:srgbClr val="20343D"/>
                          </a:solidFill>
                          <a:latin typeface="Calibri"/>
                        </a:rPr>
                        <a:t>erp.do.delivered</a:t>
                      </a:r>
                    </a:p>
                  </a:txBody>
                  <a:tcPr marL="73152" marR="73152" marT="36576" marB="36576" anchor="ctr">
                    <a:solidFill>
                      <a:srgbClr val="FFFFFF"/>
                    </a:solidFill>
                  </a:tcPr>
                </a:tc>
                <a:tc>
                  <a:txBody>
                    <a:bodyPr wrap="square"/>
                    <a:lstStyle/>
                    <a:p>
                      <a:r>
                        <a:rPr sz="1200" b="0">
                          <a:solidFill>
                            <a:srgbClr val="20343D"/>
                          </a:solidFill>
                          <a:latin typeface="Calibri"/>
                        </a:rPr>
                        <a:t>Stage Won, survey H+1, aftersales journey</a:t>
                      </a:r>
                    </a:p>
                  </a:txBody>
                  <a:tcPr marL="73152" marR="73152" marT="36576" marB="36576" anchor="ctr">
                    <a:solidFill>
                      <a:srgbClr val="FFFFFF"/>
                    </a:solidFill>
                  </a:tcPr>
                </a:tc>
                <a:tc>
                  <a:txBody>
                    <a:bodyPr wrap="square"/>
                    <a:lstStyle/>
                    <a:p>
                      <a:r>
                        <a:rPr sz="1200" b="0">
                          <a:solidFill>
                            <a:srgbClr val="20343D"/>
                          </a:solidFill>
                          <a:latin typeface="Calibri"/>
                        </a:rPr>
                        <a:t>CSAT / NPS</a:t>
                      </a:r>
                    </a:p>
                  </a:txBody>
                  <a:tcPr marL="73152" marR="73152" marT="36576" marB="36576" anchor="ctr">
                    <a:solidFill>
                      <a:srgbClr val="FFFFFF"/>
                    </a:solidFill>
                  </a:tcPr>
                </a:tc>
              </a:tr>
              <a:tr h="356616">
                <a:tc>
                  <a:txBody>
                    <a:bodyPr wrap="square"/>
                    <a:lstStyle/>
                    <a:p>
                      <a:r>
                        <a:rPr sz="1200" b="1">
                          <a:solidFill>
                            <a:srgbClr val="20343D"/>
                          </a:solidFill>
                          <a:latin typeface="Calibri"/>
                        </a:rPr>
                        <a:t>optout.received</a:t>
                      </a:r>
                    </a:p>
                  </a:txBody>
                  <a:tcPr marL="73152" marR="73152" marT="36576" marB="36576" anchor="ctr">
                    <a:solidFill>
                      <a:srgbClr val="F6F8F6"/>
                    </a:solidFill>
                  </a:tcPr>
                </a:tc>
                <a:tc>
                  <a:txBody>
                    <a:bodyPr wrap="square"/>
                    <a:lstStyle/>
                    <a:p>
                      <a:r>
                        <a:rPr sz="1200" b="0">
                          <a:solidFill>
                            <a:srgbClr val="20343D"/>
                          </a:solidFill>
                          <a:latin typeface="Calibri"/>
                        </a:rPr>
                        <a:t>Cabut consent, blok marketing</a:t>
                      </a:r>
                    </a:p>
                  </a:txBody>
                  <a:tcPr marL="73152" marR="73152" marT="36576" marB="36576" anchor="ctr">
                    <a:solidFill>
                      <a:srgbClr val="F6F8F6"/>
                    </a:solidFill>
                  </a:tcPr>
                </a:tc>
                <a:tc>
                  <a:txBody>
                    <a:bodyPr wrap="square"/>
                    <a:lstStyle/>
                    <a:p>
                      <a:r>
                        <a:rPr sz="1200" b="0">
                          <a:solidFill>
                            <a:srgbClr val="20343D"/>
                          </a:solidFill>
                          <a:latin typeface="Calibri"/>
                        </a:rPr>
                        <a:t>Diproses &lt;1 menit</a:t>
                      </a:r>
                    </a:p>
                  </a:txBody>
                  <a:tcPr marL="73152" marR="73152" marT="36576" marB="36576" anchor="ctr">
                    <a:solidFill>
                      <a:srgbClr val="F6F8F6"/>
                    </a:solidFill>
                  </a:tcPr>
                </a:tc>
              </a:tr>
              <a:tr h="356616">
                <a:tc>
                  <a:txBody>
                    <a:bodyPr wrap="square"/>
                    <a:lstStyle/>
                    <a:p>
                      <a:r>
                        <a:rPr sz="1200" b="1">
                          <a:solidFill>
                            <a:srgbClr val="20343D"/>
                          </a:solidFill>
                          <a:latin typeface="Calibri"/>
                        </a:rPr>
                        <a:t>user.deactivated</a:t>
                      </a:r>
                    </a:p>
                  </a:txBody>
                  <a:tcPr marL="73152" marR="73152" marT="36576" marB="36576" anchor="ctr">
                    <a:solidFill>
                      <a:srgbClr val="FFFFFF"/>
                    </a:solidFill>
                  </a:tcPr>
                </a:tc>
                <a:tc>
                  <a:txBody>
                    <a:bodyPr wrap="square"/>
                    <a:lstStyle/>
                    <a:p>
                      <a:r>
                        <a:rPr sz="1200" b="0">
                          <a:solidFill>
                            <a:srgbClr val="20343D"/>
                          </a:solidFill>
                          <a:latin typeface="Calibri"/>
                        </a:rPr>
                        <a:t>Bulk reassign lead &amp; percakapan</a:t>
                      </a:r>
                    </a:p>
                  </a:txBody>
                  <a:tcPr marL="73152" marR="73152" marT="36576" marB="36576" anchor="ctr">
                    <a:solidFill>
                      <a:srgbClr val="FFFFFF"/>
                    </a:solidFill>
                  </a:tcPr>
                </a:tc>
                <a:tc>
                  <a:txBody>
                    <a:bodyPr wrap="square"/>
                    <a:lstStyle/>
                    <a:p>
                      <a:r>
                        <a:rPr sz="1200" b="0">
                          <a:solidFill>
                            <a:srgbClr val="20343D"/>
                          </a:solidFill>
                          <a:latin typeface="Calibri"/>
                        </a:rPr>
                        <a:t>0 lead tanpa owner</a:t>
                      </a:r>
                    </a:p>
                  </a:txBody>
                  <a:tcPr marL="73152" marR="73152" marT="36576" marB="36576" anchor="ctr">
                    <a:solidFill>
                      <a:srgbClr val="FFFFFF"/>
                    </a:solidFill>
                  </a:tcPr>
                </a:tc>
              </a:tr>
              <a:tr h="356616">
                <a:tc>
                  <a:txBody>
                    <a:bodyPr wrap="square"/>
                    <a:lstStyle/>
                    <a:p>
                      <a:r>
                        <a:rPr sz="1200" b="1">
                          <a:solidFill>
                            <a:srgbClr val="20343D"/>
                          </a:solidFill>
                          <a:latin typeface="Calibri"/>
                        </a:rPr>
                        <a:t>campaign.send</a:t>
                      </a:r>
                    </a:p>
                  </a:txBody>
                  <a:tcPr marL="73152" marR="73152" marT="36576" marB="36576" anchor="ctr">
                    <a:solidFill>
                      <a:srgbClr val="F6F8F6"/>
                    </a:solidFill>
                  </a:tcPr>
                </a:tc>
                <a:tc>
                  <a:txBody>
                    <a:bodyPr wrap="square"/>
                    <a:lstStyle/>
                    <a:p>
                      <a:r>
                        <a:rPr sz="1200" b="0">
                          <a:solidFill>
                            <a:srgbClr val="20343D"/>
                          </a:solidFill>
                          <a:latin typeface="Calibri"/>
                        </a:rPr>
                        <a:t>Cek ERP segar, consent, stage, cap, template</a:t>
                      </a:r>
                    </a:p>
                  </a:txBody>
                  <a:tcPr marL="73152" marR="73152" marT="36576" marB="36576" anchor="ctr">
                    <a:solidFill>
                      <a:srgbClr val="F6F8F6"/>
                    </a:solidFill>
                  </a:tcPr>
                </a:tc>
                <a:tc>
                  <a:txBody>
                    <a:bodyPr wrap="square"/>
                    <a:lstStyle/>
                    <a:p>
                      <a:r>
                        <a:rPr sz="1200" b="0">
                          <a:solidFill>
                            <a:srgbClr val="20343D"/>
                          </a:solidFill>
                          <a:latin typeface="Calibri"/>
                        </a:rPr>
                        <a:t>0 pelanggaran</a:t>
                      </a:r>
                    </a:p>
                  </a:txBody>
                  <a:tcPr marL="73152" marR="73152" marT="36576" marB="36576" anchor="ctr">
                    <a:solidFill>
                      <a:srgbClr val="F6F8F6"/>
                    </a:solidFill>
                  </a:tcPr>
                </a:tc>
              </a:tr>
            </a:tbl>
          </a:graphicData>
        </a:graphic>
      </p:graphicFrame>
      <p:sp>
        <p:nvSpPr>
          <p:cNvPr id="5" name="TextBox 4"/>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6" name="TextBox 5"/>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DASHBOARD PENJUALAN · IDE</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Satu dashboard untuk direksi, cabang, supervisor, dan marketing</a:t>
            </a:r>
          </a:p>
        </p:txBody>
      </p:sp>
      <p:sp>
        <p:nvSpPr>
          <p:cNvPr id="4" name="Rounded Rectangle 3"/>
          <p:cNvSpPr/>
          <p:nvPr/>
        </p:nvSpPr>
        <p:spPr>
          <a:xfrm>
            <a:off x="548640" y="1554480"/>
            <a:ext cx="4480560" cy="1024128"/>
          </a:xfrm>
          <a:prstGeom prst="roundRect">
            <a:avLst>
              <a:gd name="adj" fmla="val 8000"/>
            </a:avLst>
          </a:prstGeom>
          <a:solidFill>
            <a:srgbClr val="E9F4EF"/>
          </a:solidFill>
          <a:ln>
            <a:noFill/>
          </a:ln>
        </p:spPr>
        <p:txBody>
          <a:bodyPr rtlCol="0" anchor="ctr"/>
          <a:lstStyle/>
          <a:p/>
        </p:txBody>
      </p:sp>
      <p:sp>
        <p:nvSpPr>
          <p:cNvPr id="5" name="TextBox 4"/>
          <p:cNvSpPr txBox="1"/>
          <p:nvPr/>
        </p:nvSpPr>
        <p:spPr>
          <a:xfrm>
            <a:off x="777240" y="1673352"/>
            <a:ext cx="4023360" cy="292608"/>
          </a:xfrm>
          <a:prstGeom prst="rect">
            <a:avLst/>
          </a:prstGeom>
          <a:noFill/>
        </p:spPr>
        <p:txBody>
          <a:bodyPr wrap="square" lIns="0" rIns="0" tIns="0" bIns="0" anchor="t">
            <a:spAutoFit/>
          </a:bodyPr>
          <a:lstStyle/>
          <a:p>
            <a:pPr algn="l"/>
            <a:r>
              <a:rPr sz="1500" b="1" i="0">
                <a:solidFill>
                  <a:srgbClr val="20343D"/>
                </a:solidFill>
                <a:latin typeface="Calibri"/>
              </a:rPr>
              <a:t>Direksi</a:t>
            </a:r>
          </a:p>
        </p:txBody>
      </p:sp>
      <p:sp>
        <p:nvSpPr>
          <p:cNvPr id="6" name="TextBox 5"/>
          <p:cNvSpPr txBox="1"/>
          <p:nvPr/>
        </p:nvSpPr>
        <p:spPr>
          <a:xfrm>
            <a:off x="777240" y="1984248"/>
            <a:ext cx="4069080" cy="566928"/>
          </a:xfrm>
          <a:prstGeom prst="rect">
            <a:avLst/>
          </a:prstGeom>
          <a:noFill/>
        </p:spPr>
        <p:txBody>
          <a:bodyPr wrap="square" lIns="0" rIns="0" tIns="0" bIns="0" anchor="t">
            <a:spAutoFit/>
          </a:bodyPr>
          <a:lstStyle/>
          <a:p>
            <a:pPr algn="l"/>
            <a:r>
              <a:rPr sz="1300" b="0" i="0">
                <a:solidFill>
                  <a:srgbClr val="20343D"/>
                </a:solidFill>
                <a:latin typeface="Calibri"/>
              </a:rPr>
              <a:t>On-track terhadap target? Channel mana yang menghasilkan penjualan?</a:t>
            </a:r>
          </a:p>
        </p:txBody>
      </p:sp>
      <p:sp>
        <p:nvSpPr>
          <p:cNvPr id="7" name="Rounded Rectangle 6"/>
          <p:cNvSpPr/>
          <p:nvPr/>
        </p:nvSpPr>
        <p:spPr>
          <a:xfrm>
            <a:off x="548640" y="2715768"/>
            <a:ext cx="4480560" cy="1024128"/>
          </a:xfrm>
          <a:prstGeom prst="roundRect">
            <a:avLst>
              <a:gd name="adj" fmla="val 8000"/>
            </a:avLst>
          </a:prstGeom>
          <a:solidFill>
            <a:srgbClr val="E9F4EF"/>
          </a:solidFill>
          <a:ln>
            <a:noFill/>
          </a:ln>
        </p:spPr>
        <p:txBody>
          <a:bodyPr rtlCol="0" anchor="ctr"/>
          <a:lstStyle/>
          <a:p/>
        </p:txBody>
      </p:sp>
      <p:sp>
        <p:nvSpPr>
          <p:cNvPr id="8" name="TextBox 7"/>
          <p:cNvSpPr txBox="1"/>
          <p:nvPr/>
        </p:nvSpPr>
        <p:spPr>
          <a:xfrm>
            <a:off x="777240" y="2834639"/>
            <a:ext cx="4023360" cy="292608"/>
          </a:xfrm>
          <a:prstGeom prst="rect">
            <a:avLst/>
          </a:prstGeom>
          <a:noFill/>
        </p:spPr>
        <p:txBody>
          <a:bodyPr wrap="square" lIns="0" rIns="0" tIns="0" bIns="0" anchor="t">
            <a:spAutoFit/>
          </a:bodyPr>
          <a:lstStyle/>
          <a:p>
            <a:pPr algn="l"/>
            <a:r>
              <a:rPr sz="1500" b="1" i="0">
                <a:solidFill>
                  <a:srgbClr val="20343D"/>
                </a:solidFill>
                <a:latin typeface="Calibri"/>
              </a:rPr>
              <a:t>Kepala cabang</a:t>
            </a:r>
          </a:p>
        </p:txBody>
      </p:sp>
      <p:sp>
        <p:nvSpPr>
          <p:cNvPr id="9" name="TextBox 8"/>
          <p:cNvSpPr txBox="1"/>
          <p:nvPr/>
        </p:nvSpPr>
        <p:spPr>
          <a:xfrm>
            <a:off x="777240" y="3145535"/>
            <a:ext cx="4069080" cy="566928"/>
          </a:xfrm>
          <a:prstGeom prst="rect">
            <a:avLst/>
          </a:prstGeom>
          <a:noFill/>
        </p:spPr>
        <p:txBody>
          <a:bodyPr wrap="square" lIns="0" rIns="0" tIns="0" bIns="0" anchor="t">
            <a:spAutoFit/>
          </a:bodyPr>
          <a:lstStyle/>
          <a:p>
            <a:pPr algn="l"/>
            <a:r>
              <a:rPr sz="1300" b="0" i="0">
                <a:solidFill>
                  <a:srgbClr val="20343D"/>
                </a:solidFill>
                <a:latin typeface="Calibri"/>
              </a:rPr>
              <a:t>SPK &amp; DO vs target, backlog SPK, sales yang perlu dibantu</a:t>
            </a:r>
          </a:p>
        </p:txBody>
      </p:sp>
      <p:sp>
        <p:nvSpPr>
          <p:cNvPr id="10" name="Rounded Rectangle 9"/>
          <p:cNvSpPr/>
          <p:nvPr/>
        </p:nvSpPr>
        <p:spPr>
          <a:xfrm>
            <a:off x="548640" y="3877056"/>
            <a:ext cx="4480560" cy="1024128"/>
          </a:xfrm>
          <a:prstGeom prst="roundRect">
            <a:avLst>
              <a:gd name="adj" fmla="val 8000"/>
            </a:avLst>
          </a:prstGeom>
          <a:solidFill>
            <a:srgbClr val="E9F4EF"/>
          </a:solidFill>
          <a:ln>
            <a:noFill/>
          </a:ln>
        </p:spPr>
        <p:txBody>
          <a:bodyPr rtlCol="0" anchor="ctr"/>
          <a:lstStyle/>
          <a:p/>
        </p:txBody>
      </p:sp>
      <p:sp>
        <p:nvSpPr>
          <p:cNvPr id="11" name="TextBox 10"/>
          <p:cNvSpPr txBox="1"/>
          <p:nvPr/>
        </p:nvSpPr>
        <p:spPr>
          <a:xfrm>
            <a:off x="777240" y="3995928"/>
            <a:ext cx="4023360" cy="292608"/>
          </a:xfrm>
          <a:prstGeom prst="rect">
            <a:avLst/>
          </a:prstGeom>
          <a:noFill/>
        </p:spPr>
        <p:txBody>
          <a:bodyPr wrap="square" lIns="0" rIns="0" tIns="0" bIns="0" anchor="t">
            <a:spAutoFit/>
          </a:bodyPr>
          <a:lstStyle/>
          <a:p>
            <a:pPr algn="l"/>
            <a:r>
              <a:rPr sz="1500" b="1" i="0">
                <a:solidFill>
                  <a:srgbClr val="20343D"/>
                </a:solidFill>
                <a:latin typeface="Calibri"/>
              </a:rPr>
              <a:t>Sales supervisor</a:t>
            </a:r>
          </a:p>
        </p:txBody>
      </p:sp>
      <p:sp>
        <p:nvSpPr>
          <p:cNvPr id="12" name="TextBox 11"/>
          <p:cNvSpPr txBox="1"/>
          <p:nvPr/>
        </p:nvSpPr>
        <p:spPr>
          <a:xfrm>
            <a:off x="777240" y="4306824"/>
            <a:ext cx="4069080" cy="566928"/>
          </a:xfrm>
          <a:prstGeom prst="rect">
            <a:avLst/>
          </a:prstGeom>
          <a:noFill/>
        </p:spPr>
        <p:txBody>
          <a:bodyPr wrap="square" lIns="0" rIns="0" tIns="0" bIns="0" anchor="t">
            <a:spAutoFit/>
          </a:bodyPr>
          <a:lstStyle/>
          <a:p>
            <a:pPr algn="l"/>
            <a:r>
              <a:rPr sz="1300" b="0" i="0">
                <a:solidFill>
                  <a:srgbClr val="20343D"/>
                </a:solidFill>
                <a:latin typeface="Calibri"/>
              </a:rPr>
              <a:t>Leaderboard dan konversi lead → SPK per sumber</a:t>
            </a:r>
          </a:p>
        </p:txBody>
      </p:sp>
      <p:sp>
        <p:nvSpPr>
          <p:cNvPr id="13" name="Rounded Rectangle 12"/>
          <p:cNvSpPr/>
          <p:nvPr/>
        </p:nvSpPr>
        <p:spPr>
          <a:xfrm>
            <a:off x="548640" y="5038344"/>
            <a:ext cx="4480560" cy="1024128"/>
          </a:xfrm>
          <a:prstGeom prst="roundRect">
            <a:avLst>
              <a:gd name="adj" fmla="val 8000"/>
            </a:avLst>
          </a:prstGeom>
          <a:solidFill>
            <a:srgbClr val="E9F4EF"/>
          </a:solidFill>
          <a:ln>
            <a:noFill/>
          </a:ln>
        </p:spPr>
        <p:txBody>
          <a:bodyPr rtlCol="0" anchor="ctr"/>
          <a:lstStyle/>
          <a:p/>
        </p:txBody>
      </p:sp>
      <p:sp>
        <p:nvSpPr>
          <p:cNvPr id="14" name="TextBox 13"/>
          <p:cNvSpPr txBox="1"/>
          <p:nvPr/>
        </p:nvSpPr>
        <p:spPr>
          <a:xfrm>
            <a:off x="777240" y="5157216"/>
            <a:ext cx="4023360" cy="292608"/>
          </a:xfrm>
          <a:prstGeom prst="rect">
            <a:avLst/>
          </a:prstGeom>
          <a:noFill/>
        </p:spPr>
        <p:txBody>
          <a:bodyPr wrap="square" lIns="0" rIns="0" tIns="0" bIns="0" anchor="t">
            <a:spAutoFit/>
          </a:bodyPr>
          <a:lstStyle/>
          <a:p>
            <a:pPr algn="l"/>
            <a:r>
              <a:rPr sz="1500" b="1" i="0">
                <a:solidFill>
                  <a:srgbClr val="20343D"/>
                </a:solidFill>
                <a:latin typeface="Calibri"/>
              </a:rPr>
              <a:t>Marketing</a:t>
            </a:r>
          </a:p>
        </p:txBody>
      </p:sp>
      <p:sp>
        <p:nvSpPr>
          <p:cNvPr id="15" name="TextBox 14"/>
          <p:cNvSpPr txBox="1"/>
          <p:nvPr/>
        </p:nvSpPr>
        <p:spPr>
          <a:xfrm>
            <a:off x="777240" y="5468112"/>
            <a:ext cx="4069080" cy="566928"/>
          </a:xfrm>
          <a:prstGeom prst="rect">
            <a:avLst/>
          </a:prstGeom>
          <a:noFill/>
        </p:spPr>
        <p:txBody>
          <a:bodyPr wrap="square" lIns="0" rIns="0" tIns="0" bIns="0" anchor="t">
            <a:spAutoFit/>
          </a:bodyPr>
          <a:lstStyle/>
          <a:p>
            <a:pPr algn="l"/>
            <a:r>
              <a:rPr sz="1300" b="0" i="0">
                <a:solidFill>
                  <a:srgbClr val="20343D"/>
                </a:solidFill>
                <a:latin typeface="Calibri"/>
              </a:rPr>
              <a:t>Lead per sumber dan konversinya ke SPK/DO</a:t>
            </a:r>
          </a:p>
        </p:txBody>
      </p:sp>
      <p:graphicFrame>
        <p:nvGraphicFramePr>
          <p:cNvPr id="16" name="Table 15"/>
          <p:cNvGraphicFramePr>
            <a:graphicFrameLocks noGrp="1"/>
          </p:cNvGraphicFramePr>
          <p:nvPr/>
        </p:nvGraphicFramePr>
        <p:xfrm>
          <a:off x="5257800" y="1554480"/>
          <a:ext cx="6382512" cy="4402836"/>
        </p:xfrm>
        <a:graphic>
          <a:graphicData uri="http://schemas.openxmlformats.org/drawingml/2006/table">
            <a:tbl>
              <a:tblPr firstRow="1">
                <a:tableStyleId>{5C22544A-7EE6-4342-B048-85BDC9FD1C3A}</a:tableStyleId>
              </a:tblPr>
              <a:tblGrid>
                <a:gridCol w="1828800"/>
                <a:gridCol w="4553712"/>
              </a:tblGrid>
              <a:tr h="489204">
                <a:tc>
                  <a:txBody>
                    <a:bodyPr wrap="square"/>
                    <a:lstStyle/>
                    <a:p>
                      <a:r>
                        <a:rPr sz="1200" b="1">
                          <a:solidFill>
                            <a:srgbClr val="FFFFFF"/>
                          </a:solidFill>
                          <a:latin typeface="Calibri"/>
                        </a:rPr>
                        <a:t>KPI</a:t>
                      </a:r>
                    </a:p>
                  </a:txBody>
                  <a:tcPr marL="73152" marR="73152" marT="36576" marB="36576" anchor="ctr">
                    <a:solidFill>
                      <a:srgbClr val="152D36"/>
                    </a:solidFill>
                  </a:tcPr>
                </a:tc>
                <a:tc>
                  <a:txBody>
                    <a:bodyPr wrap="square"/>
                    <a:lstStyle/>
                    <a:p>
                      <a:r>
                        <a:rPr sz="1200" b="1">
                          <a:solidFill>
                            <a:srgbClr val="FFFFFF"/>
                          </a:solidFill>
                          <a:latin typeface="Calibri"/>
                        </a:rPr>
                        <a:t>Definisi (identik di TypeScript &amp; SQL)</a:t>
                      </a:r>
                    </a:p>
                  </a:txBody>
                  <a:tcPr marL="73152" marR="73152" marT="36576" marB="36576" anchor="ctr">
                    <a:solidFill>
                      <a:srgbClr val="152D36"/>
                    </a:solidFill>
                  </a:tcPr>
                </a:tc>
              </a:tr>
              <a:tr h="489204">
                <a:tc>
                  <a:txBody>
                    <a:bodyPr wrap="square"/>
                    <a:lstStyle/>
                    <a:p>
                      <a:r>
                        <a:rPr sz="1200" b="1">
                          <a:solidFill>
                            <a:srgbClr val="20343D"/>
                          </a:solidFill>
                          <a:latin typeface="Calibri"/>
                        </a:rPr>
                        <a:t>SPK (gross)</a:t>
                      </a:r>
                    </a:p>
                  </a:txBody>
                  <a:tcPr marL="73152" marR="73152" marT="36576" marB="36576" anchor="ctr">
                    <a:solidFill>
                      <a:srgbClr val="FFFFFF"/>
                    </a:solidFill>
                  </a:tcPr>
                </a:tc>
                <a:tc>
                  <a:txBody>
                    <a:bodyPr wrap="square"/>
                    <a:lstStyle/>
                    <a:p>
                      <a:r>
                        <a:rPr sz="1200" b="0">
                          <a:solidFill>
                            <a:srgbClr val="20343D"/>
                          </a:solidFill>
                          <a:latin typeface="Calibri"/>
                        </a:rPr>
                        <a:t>SPK dibuat dalam periode, semua status</a:t>
                      </a:r>
                    </a:p>
                  </a:txBody>
                  <a:tcPr marL="73152" marR="73152" marT="36576" marB="36576" anchor="ctr">
                    <a:solidFill>
                      <a:srgbClr val="FFFFFF"/>
                    </a:solidFill>
                  </a:tcPr>
                </a:tc>
              </a:tr>
              <a:tr h="489204">
                <a:tc>
                  <a:txBody>
                    <a:bodyPr wrap="square"/>
                    <a:lstStyle/>
                    <a:p>
                      <a:r>
                        <a:rPr sz="1200" b="1">
                          <a:solidFill>
                            <a:srgbClr val="20343D"/>
                          </a:solidFill>
                          <a:latin typeface="Calibri"/>
                        </a:rPr>
                        <a:t>SPK batal</a:t>
                      </a:r>
                    </a:p>
                  </a:txBody>
                  <a:tcPr marL="73152" marR="73152" marT="36576" marB="36576" anchor="ctr">
                    <a:solidFill>
                      <a:srgbClr val="F6F8F6"/>
                    </a:solidFill>
                  </a:tcPr>
                </a:tc>
                <a:tc>
                  <a:txBody>
                    <a:bodyPr wrap="square"/>
                    <a:lstStyle/>
                    <a:p>
                      <a:r>
                        <a:rPr sz="1200" b="0">
                          <a:solidFill>
                            <a:srgbClr val="20343D"/>
                          </a:solidFill>
                          <a:latin typeface="Calibri"/>
                        </a:rPr>
                        <a:t>SPK dalam periode berstatus Cancelled</a:t>
                      </a:r>
                    </a:p>
                  </a:txBody>
                  <a:tcPr marL="73152" marR="73152" marT="36576" marB="36576" anchor="ctr">
                    <a:solidFill>
                      <a:srgbClr val="F6F8F6"/>
                    </a:solidFill>
                  </a:tcPr>
                </a:tc>
              </a:tr>
              <a:tr h="489204">
                <a:tc>
                  <a:txBody>
                    <a:bodyPr wrap="square"/>
                    <a:lstStyle/>
                    <a:p>
                      <a:r>
                        <a:rPr sz="1200" b="1">
                          <a:solidFill>
                            <a:srgbClr val="20343D"/>
                          </a:solidFill>
                          <a:latin typeface="Calibri"/>
                        </a:rPr>
                        <a:t>DO &amp; revenue</a:t>
                      </a:r>
                    </a:p>
                  </a:txBody>
                  <a:tcPr marL="73152" marR="73152" marT="36576" marB="36576" anchor="ctr">
                    <a:solidFill>
                      <a:srgbClr val="FFFFFF"/>
                    </a:solidFill>
                  </a:tcPr>
                </a:tc>
                <a:tc>
                  <a:txBody>
                    <a:bodyPr wrap="square"/>
                    <a:lstStyle/>
                    <a:p>
                      <a:r>
                        <a:rPr sz="1200" b="0">
                          <a:solidFill>
                            <a:srgbClr val="20343D"/>
                          </a:solidFill>
                          <a:latin typeface="Calibri"/>
                        </a:rPr>
                        <a:t>Unit &amp; nilai dengan tanggal DO dalam periode</a:t>
                      </a:r>
                    </a:p>
                  </a:txBody>
                  <a:tcPr marL="73152" marR="73152" marT="36576" marB="36576" anchor="ctr">
                    <a:solidFill>
                      <a:srgbClr val="FFFFFF"/>
                    </a:solidFill>
                  </a:tcPr>
                </a:tc>
              </a:tr>
              <a:tr h="489204">
                <a:tc>
                  <a:txBody>
                    <a:bodyPr wrap="square"/>
                    <a:lstStyle/>
                    <a:p>
                      <a:r>
                        <a:rPr sz="1200" b="1">
                          <a:solidFill>
                            <a:srgbClr val="20343D"/>
                          </a:solidFill>
                          <a:latin typeface="Calibri"/>
                        </a:rPr>
                        <a:t>Target · on-pace</a:t>
                      </a:r>
                    </a:p>
                  </a:txBody>
                  <a:tcPr marL="73152" marR="73152" marT="36576" marB="36576" anchor="ctr">
                    <a:solidFill>
                      <a:srgbClr val="F6F8F6"/>
                    </a:solidFill>
                  </a:tcPr>
                </a:tc>
                <a:tc>
                  <a:txBody>
                    <a:bodyPr wrap="square"/>
                    <a:lstStyle/>
                    <a:p>
                      <a:r>
                        <a:rPr sz="1200" b="0">
                          <a:solidFill>
                            <a:srgbClr val="20343D"/>
                          </a:solidFill>
                          <a:latin typeface="Calibri"/>
                        </a:rPr>
                        <a:t>Target bulanan penuh dari bulan yang disentuh; pro-rata hari</a:t>
                      </a:r>
                    </a:p>
                  </a:txBody>
                  <a:tcPr marL="73152" marR="73152" marT="36576" marB="36576" anchor="ctr">
                    <a:solidFill>
                      <a:srgbClr val="F6F8F6"/>
                    </a:solidFill>
                  </a:tcPr>
                </a:tc>
              </a:tr>
              <a:tr h="489204">
                <a:tc>
                  <a:txBody>
                    <a:bodyPr wrap="square"/>
                    <a:lstStyle/>
                    <a:p>
                      <a:r>
                        <a:rPr sz="1200" b="1">
                          <a:solidFill>
                            <a:srgbClr val="20343D"/>
                          </a:solidFill>
                          <a:latin typeface="Calibri"/>
                        </a:rPr>
                        <a:t>Outstanding SPK</a:t>
                      </a:r>
                    </a:p>
                  </a:txBody>
                  <a:tcPr marL="73152" marR="73152" marT="36576" marB="36576" anchor="ctr">
                    <a:solidFill>
                      <a:srgbClr val="FFFFFF"/>
                    </a:solidFill>
                  </a:tcPr>
                </a:tc>
                <a:tc>
                  <a:txBody>
                    <a:bodyPr wrap="square"/>
                    <a:lstStyle/>
                    <a:p>
                      <a:r>
                        <a:rPr sz="1200" b="0">
                          <a:solidFill>
                            <a:srgbClr val="20343D"/>
                          </a:solidFill>
                          <a:latin typeface="Calibri"/>
                        </a:rPr>
                        <a:t>Backlog akhir periode: tidak batal, belum DO</a:t>
                      </a:r>
                    </a:p>
                  </a:txBody>
                  <a:tcPr marL="73152" marR="73152" marT="36576" marB="36576" anchor="ctr">
                    <a:solidFill>
                      <a:srgbClr val="FFFFFF"/>
                    </a:solidFill>
                  </a:tcPr>
                </a:tc>
              </a:tr>
              <a:tr h="489204">
                <a:tc>
                  <a:txBody>
                    <a:bodyPr wrap="square"/>
                    <a:lstStyle/>
                    <a:p>
                      <a:r>
                        <a:rPr sz="1200" b="1">
                          <a:solidFill>
                            <a:srgbClr val="20343D"/>
                          </a:solidFill>
                          <a:latin typeface="Calibri"/>
                        </a:rPr>
                        <a:t>Kredit share</a:t>
                      </a:r>
                    </a:p>
                  </a:txBody>
                  <a:tcPr marL="73152" marR="73152" marT="36576" marB="36576" anchor="ctr">
                    <a:solidFill>
                      <a:srgbClr val="F6F8F6"/>
                    </a:solidFill>
                  </a:tcPr>
                </a:tc>
                <a:tc>
                  <a:txBody>
                    <a:bodyPr wrap="square"/>
                    <a:lstStyle/>
                    <a:p>
                      <a:r>
                        <a:rPr sz="1200" b="0">
                          <a:solidFill>
                            <a:srgbClr val="20343D"/>
                          </a:solidFill>
                          <a:latin typeface="Calibri"/>
                        </a:rPr>
                        <a:t>DO melalui leasing ÷ total DO</a:t>
                      </a:r>
                    </a:p>
                  </a:txBody>
                  <a:tcPr marL="73152" marR="73152" marT="36576" marB="36576" anchor="ctr">
                    <a:solidFill>
                      <a:srgbClr val="F6F8F6"/>
                    </a:solidFill>
                  </a:tcPr>
                </a:tc>
              </a:tr>
              <a:tr h="489204">
                <a:tc>
                  <a:txBody>
                    <a:bodyPr wrap="square"/>
                    <a:lstStyle/>
                    <a:p>
                      <a:r>
                        <a:rPr sz="1200" b="1">
                          <a:solidFill>
                            <a:srgbClr val="20343D"/>
                          </a:solidFill>
                          <a:latin typeface="Calibri"/>
                        </a:rPr>
                        <a:t>Lead → SPK</a:t>
                      </a:r>
                    </a:p>
                  </a:txBody>
                  <a:tcPr marL="73152" marR="73152" marT="36576" marB="36576" anchor="ctr">
                    <a:solidFill>
                      <a:srgbClr val="FFFFFF"/>
                    </a:solidFill>
                  </a:tcPr>
                </a:tc>
                <a:tc>
                  <a:txBody>
                    <a:bodyPr wrap="square"/>
                    <a:lstStyle/>
                    <a:p>
                      <a:r>
                        <a:rPr sz="1200" b="0">
                          <a:solidFill>
                            <a:srgbClr val="20343D"/>
                          </a:solidFill>
                          <a:latin typeface="Calibri"/>
                        </a:rPr>
                        <a:t>SPK ÷ lead unik CRM, per sumber lead</a:t>
                      </a:r>
                    </a:p>
                  </a:txBody>
                  <a:tcPr marL="73152" marR="73152" marT="36576" marB="36576" anchor="ctr">
                    <a:solidFill>
                      <a:srgbClr val="FFFFFF"/>
                    </a:solidFill>
                  </a:tcPr>
                </a:tc>
              </a:tr>
              <a:tr h="489204">
                <a:tc>
                  <a:txBody>
                    <a:bodyPr wrap="square"/>
                    <a:lstStyle/>
                    <a:p>
                      <a:r>
                        <a:rPr sz="1200" b="1">
                          <a:solidFill>
                            <a:srgbClr val="20343D"/>
                          </a:solidFill>
                          <a:latin typeface="Calibri"/>
                        </a:rPr>
                        <a:t>Trend 6 bulan</a:t>
                      </a:r>
                    </a:p>
                  </a:txBody>
                  <a:tcPr marL="73152" marR="73152" marT="36576" marB="36576" anchor="ctr">
                    <a:solidFill>
                      <a:srgbClr val="F6F8F6"/>
                    </a:solidFill>
                  </a:tcPr>
                </a:tc>
                <a:tc>
                  <a:txBody>
                    <a:bodyPr wrap="square"/>
                    <a:lstStyle/>
                    <a:p>
                      <a:r>
                        <a:rPr sz="1200" b="0">
                          <a:solidFill>
                            <a:srgbClr val="20343D"/>
                          </a:solidFill>
                          <a:latin typeface="Calibri"/>
                        </a:rPr>
                        <a:t>SPK, DO, target per bulan</a:t>
                      </a:r>
                    </a:p>
                  </a:txBody>
                  <a:tcPr marL="73152" marR="73152" marT="36576" marB="36576" anchor="ctr">
                    <a:solidFill>
                      <a:srgbClr val="F6F8F6"/>
                    </a:solidFill>
                  </a:tcPr>
                </a:tc>
              </a:tr>
            </a:tbl>
          </a:graphicData>
        </a:graphic>
      </p:graphicFrame>
      <p:sp>
        <p:nvSpPr>
          <p:cNvPr id="17" name="TextBox 16"/>
          <p:cNvSpPr txBox="1"/>
          <p:nvPr/>
        </p:nvSpPr>
        <p:spPr>
          <a:xfrm>
            <a:off x="5257800" y="6080760"/>
            <a:ext cx="6382512" cy="274320"/>
          </a:xfrm>
          <a:prstGeom prst="rect">
            <a:avLst/>
          </a:prstGeom>
          <a:noFill/>
        </p:spPr>
        <p:txBody>
          <a:bodyPr wrap="square" lIns="0" rIns="0" tIns="0" bIns="0" anchor="t">
            <a:spAutoFit/>
          </a:bodyPr>
          <a:lstStyle/>
          <a:p>
            <a:pPr algn="l"/>
            <a:r>
              <a:rPr sz="1100" b="0" i="0">
                <a:solidFill>
                  <a:srgbClr val="5F6F74"/>
                </a:solidFill>
                <a:latin typeface="Calibri"/>
              </a:rPr>
              <a:t>Dashboard hanya membawa angka hitungan; rasio dihitung di UI agar tidak ada selisih pembulatan.</a:t>
            </a:r>
          </a:p>
        </p:txBody>
      </p:sp>
      <p:sp>
        <p:nvSpPr>
          <p:cNvPr id="18" name="TextBox 1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19" name="TextBox 1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DASHBOARD PENJUALAN · INTEGRASI MS SQL</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Dari DMS/ERP MS SQL ke dashboard tanpa membebani OLTP</a:t>
            </a:r>
          </a:p>
        </p:txBody>
      </p:sp>
      <p:sp>
        <p:nvSpPr>
          <p:cNvPr id="4" name="Rounded Rectangle 3"/>
          <p:cNvSpPr/>
          <p:nvPr/>
        </p:nvSpPr>
        <p:spPr>
          <a:xfrm>
            <a:off x="548640" y="1600200"/>
            <a:ext cx="2542032" cy="1143000"/>
          </a:xfrm>
          <a:prstGeom prst="roundRect">
            <a:avLst>
              <a:gd name="adj" fmla="val 8000"/>
            </a:avLst>
          </a:prstGeom>
          <a:solidFill>
            <a:srgbClr val="152D36"/>
          </a:solidFill>
          <a:ln>
            <a:noFill/>
          </a:ln>
        </p:spPr>
        <p:txBody>
          <a:bodyPr rtlCol="0" anchor="ctr"/>
          <a:lstStyle/>
          <a:p/>
        </p:txBody>
      </p:sp>
      <p:sp>
        <p:nvSpPr>
          <p:cNvPr id="5" name="TextBox 4"/>
          <p:cNvSpPr txBox="1"/>
          <p:nvPr/>
        </p:nvSpPr>
        <p:spPr>
          <a:xfrm>
            <a:off x="731520" y="1719072"/>
            <a:ext cx="2176272" cy="320040"/>
          </a:xfrm>
          <a:prstGeom prst="rect">
            <a:avLst/>
          </a:prstGeom>
          <a:noFill/>
        </p:spPr>
        <p:txBody>
          <a:bodyPr wrap="square" lIns="0" rIns="0" tIns="0" bIns="0" anchor="t">
            <a:spAutoFit/>
          </a:bodyPr>
          <a:lstStyle/>
          <a:p>
            <a:pPr algn="l"/>
            <a:r>
              <a:rPr sz="1400" b="1" i="0">
                <a:solidFill>
                  <a:srgbClr val="FFFFFF"/>
                </a:solidFill>
                <a:latin typeface="Calibri"/>
              </a:rPr>
              <a:t>DMS/ERP MS SQL</a:t>
            </a:r>
          </a:p>
        </p:txBody>
      </p:sp>
      <p:sp>
        <p:nvSpPr>
          <p:cNvPr id="6" name="TextBox 5"/>
          <p:cNvSpPr txBox="1"/>
          <p:nvPr/>
        </p:nvSpPr>
        <p:spPr>
          <a:xfrm>
            <a:off x="731520" y="2075688"/>
            <a:ext cx="2176272" cy="594360"/>
          </a:xfrm>
          <a:prstGeom prst="rect">
            <a:avLst/>
          </a:prstGeom>
          <a:noFill/>
        </p:spPr>
        <p:txBody>
          <a:bodyPr wrap="square" lIns="0" rIns="0" tIns="0" bIns="0" anchor="t">
            <a:spAutoFit/>
          </a:bodyPr>
          <a:lstStyle/>
          <a:p>
            <a:pPr algn="l"/>
            <a:r>
              <a:rPr sz="1200" b="0" i="0">
                <a:solidFill>
                  <a:srgbClr val="FFFFFF"/>
                </a:solidFill>
                <a:latin typeface="Calibri"/>
              </a:rPr>
              <a:t>OLTP: SPK, DO, target</a:t>
            </a:r>
          </a:p>
        </p:txBody>
      </p:sp>
      <p:cxnSp>
        <p:nvCxnSpPr>
          <p:cNvPr id="7" name="Connector 6"/>
          <p:cNvCxnSpPr/>
          <p:nvPr/>
        </p:nvCxnSpPr>
        <p:spPr>
          <a:xfrm>
            <a:off x="3127248" y="2167128"/>
            <a:ext cx="228600"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92424" y="1600200"/>
            <a:ext cx="2542032" cy="1143000"/>
          </a:xfrm>
          <a:prstGeom prst="roundRect">
            <a:avLst>
              <a:gd name="adj" fmla="val 8000"/>
            </a:avLst>
          </a:prstGeom>
          <a:solidFill>
            <a:srgbClr val="FFFFFF"/>
          </a:solidFill>
          <a:ln w="12700">
            <a:solidFill>
              <a:srgbClr val="E7EBE9"/>
            </a:solidFill>
          </a:ln>
        </p:spPr>
        <p:txBody>
          <a:bodyPr rtlCol="0" anchor="ctr"/>
          <a:lstStyle/>
          <a:p/>
        </p:txBody>
      </p:sp>
      <p:sp>
        <p:nvSpPr>
          <p:cNvPr id="9" name="TextBox 8"/>
          <p:cNvSpPr txBox="1"/>
          <p:nvPr/>
        </p:nvSpPr>
        <p:spPr>
          <a:xfrm>
            <a:off x="3575304" y="1719072"/>
            <a:ext cx="2176272" cy="320040"/>
          </a:xfrm>
          <a:prstGeom prst="rect">
            <a:avLst/>
          </a:prstGeom>
          <a:noFill/>
        </p:spPr>
        <p:txBody>
          <a:bodyPr wrap="square" lIns="0" rIns="0" tIns="0" bIns="0" anchor="t">
            <a:spAutoFit/>
          </a:bodyPr>
          <a:lstStyle/>
          <a:p>
            <a:pPr algn="l"/>
            <a:r>
              <a:rPr sz="1400" b="1" i="0">
                <a:solidFill>
                  <a:srgbClr val="20343D"/>
                </a:solidFill>
                <a:latin typeface="Calibri"/>
              </a:rPr>
              <a:t>Change Tracking / CDC</a:t>
            </a:r>
          </a:p>
        </p:txBody>
      </p:sp>
      <p:sp>
        <p:nvSpPr>
          <p:cNvPr id="10" name="TextBox 9"/>
          <p:cNvSpPr txBox="1"/>
          <p:nvPr/>
        </p:nvSpPr>
        <p:spPr>
          <a:xfrm>
            <a:off x="3575304" y="2075688"/>
            <a:ext cx="2176272" cy="594360"/>
          </a:xfrm>
          <a:prstGeom prst="rect">
            <a:avLst/>
          </a:prstGeom>
          <a:noFill/>
        </p:spPr>
        <p:txBody>
          <a:bodyPr wrap="square" lIns="0" rIns="0" tIns="0" bIns="0" anchor="t">
            <a:spAutoFit/>
          </a:bodyPr>
          <a:lstStyle/>
          <a:p>
            <a:pPr algn="l"/>
            <a:r>
              <a:rPr sz="1200" b="0" i="0">
                <a:solidFill>
                  <a:srgbClr val="20343D"/>
                </a:solidFill>
                <a:latin typeface="Calibri"/>
              </a:rPr>
              <a:t>read-only login atau readable secondary</a:t>
            </a:r>
          </a:p>
        </p:txBody>
      </p:sp>
      <p:cxnSp>
        <p:nvCxnSpPr>
          <p:cNvPr id="11" name="Connector 10"/>
          <p:cNvCxnSpPr/>
          <p:nvPr/>
        </p:nvCxnSpPr>
        <p:spPr>
          <a:xfrm>
            <a:off x="5971032" y="2167128"/>
            <a:ext cx="228600"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36207" y="1600200"/>
            <a:ext cx="2542032" cy="1143000"/>
          </a:xfrm>
          <a:prstGeom prst="roundRect">
            <a:avLst>
              <a:gd name="adj" fmla="val 8000"/>
            </a:avLst>
          </a:prstGeom>
          <a:solidFill>
            <a:srgbClr val="FFFFFF"/>
          </a:solidFill>
          <a:ln w="12700">
            <a:solidFill>
              <a:srgbClr val="E7EBE9"/>
            </a:solidFill>
          </a:ln>
        </p:spPr>
        <p:txBody>
          <a:bodyPr rtlCol="0" anchor="ctr"/>
          <a:lstStyle/>
          <a:p/>
        </p:txBody>
      </p:sp>
      <p:sp>
        <p:nvSpPr>
          <p:cNvPr id="13" name="TextBox 12"/>
          <p:cNvSpPr txBox="1"/>
          <p:nvPr/>
        </p:nvSpPr>
        <p:spPr>
          <a:xfrm>
            <a:off x="6419088" y="1719072"/>
            <a:ext cx="2176272" cy="320040"/>
          </a:xfrm>
          <a:prstGeom prst="rect">
            <a:avLst/>
          </a:prstGeom>
          <a:noFill/>
        </p:spPr>
        <p:txBody>
          <a:bodyPr wrap="square" lIns="0" rIns="0" tIns="0" bIns="0" anchor="t">
            <a:spAutoFit/>
          </a:bodyPr>
          <a:lstStyle/>
          <a:p>
            <a:pPr algn="l"/>
            <a:r>
              <a:rPr sz="1400" b="1" i="0">
                <a:solidFill>
                  <a:srgbClr val="20343D"/>
                </a:solidFill>
                <a:latin typeface="Calibri"/>
              </a:rPr>
              <a:t>Go sync worker</a:t>
            </a:r>
          </a:p>
        </p:txBody>
      </p:sp>
      <p:sp>
        <p:nvSpPr>
          <p:cNvPr id="14" name="TextBox 13"/>
          <p:cNvSpPr txBox="1"/>
          <p:nvPr/>
        </p:nvSpPr>
        <p:spPr>
          <a:xfrm>
            <a:off x="6419088" y="2075688"/>
            <a:ext cx="2176272" cy="594360"/>
          </a:xfrm>
          <a:prstGeom prst="rect">
            <a:avLst/>
          </a:prstGeom>
          <a:noFill/>
        </p:spPr>
        <p:txBody>
          <a:bodyPr wrap="square" lIns="0" rIns="0" tIns="0" bIns="0" anchor="t">
            <a:spAutoFit/>
          </a:bodyPr>
          <a:lstStyle/>
          <a:p>
            <a:pPr algn="l"/>
            <a:r>
              <a:rPr sz="1200" b="0" i="0">
                <a:solidFill>
                  <a:srgbClr val="20343D"/>
                </a:solidFill>
                <a:latin typeface="Calibri"/>
              </a:rPr>
              <a:t>incremental · rpt.EtlWatermark</a:t>
            </a:r>
          </a:p>
        </p:txBody>
      </p:sp>
      <p:cxnSp>
        <p:nvCxnSpPr>
          <p:cNvPr id="15" name="Connector 14"/>
          <p:cNvCxnSpPr/>
          <p:nvPr/>
        </p:nvCxnSpPr>
        <p:spPr>
          <a:xfrm>
            <a:off x="8814815" y="2167128"/>
            <a:ext cx="228601"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79992" y="1600200"/>
            <a:ext cx="2542032" cy="1143000"/>
          </a:xfrm>
          <a:prstGeom prst="roundRect">
            <a:avLst>
              <a:gd name="adj" fmla="val 8000"/>
            </a:avLst>
          </a:prstGeom>
          <a:solidFill>
            <a:srgbClr val="177F6C"/>
          </a:solidFill>
          <a:ln>
            <a:noFill/>
          </a:ln>
        </p:spPr>
        <p:txBody>
          <a:bodyPr rtlCol="0" anchor="ctr"/>
          <a:lstStyle/>
          <a:p/>
        </p:txBody>
      </p:sp>
      <p:sp>
        <p:nvSpPr>
          <p:cNvPr id="17" name="TextBox 16"/>
          <p:cNvSpPr txBox="1"/>
          <p:nvPr/>
        </p:nvSpPr>
        <p:spPr>
          <a:xfrm>
            <a:off x="9262872" y="1719072"/>
            <a:ext cx="2176272" cy="320040"/>
          </a:xfrm>
          <a:prstGeom prst="rect">
            <a:avLst/>
          </a:prstGeom>
          <a:noFill/>
        </p:spPr>
        <p:txBody>
          <a:bodyPr wrap="square" lIns="0" rIns="0" tIns="0" bIns="0" anchor="t">
            <a:spAutoFit/>
          </a:bodyPr>
          <a:lstStyle/>
          <a:p>
            <a:pPr algn="l"/>
            <a:r>
              <a:rPr sz="1400" b="1" i="0">
                <a:solidFill>
                  <a:srgbClr val="FFFFFF"/>
                </a:solidFill>
                <a:latin typeface="Calibri"/>
              </a:rPr>
              <a:t>Reporting mart rpt</a:t>
            </a:r>
          </a:p>
        </p:txBody>
      </p:sp>
      <p:sp>
        <p:nvSpPr>
          <p:cNvPr id="18" name="TextBox 17"/>
          <p:cNvSpPr txBox="1"/>
          <p:nvPr/>
        </p:nvSpPr>
        <p:spPr>
          <a:xfrm>
            <a:off x="9262872" y="2075688"/>
            <a:ext cx="2176272" cy="594360"/>
          </a:xfrm>
          <a:prstGeom prst="rect">
            <a:avLst/>
          </a:prstGeom>
          <a:noFill/>
        </p:spPr>
        <p:txBody>
          <a:bodyPr wrap="square" lIns="0" rIns="0" tIns="0" bIns="0" anchor="t">
            <a:spAutoFit/>
          </a:bodyPr>
          <a:lstStyle/>
          <a:p>
            <a:pPr algn="l"/>
            <a:r>
              <a:rPr sz="1200" b="0" i="0">
                <a:solidFill>
                  <a:srgbClr val="FFFFFF"/>
                </a:solidFill>
                <a:latin typeface="Calibri"/>
              </a:rPr>
              <a:t>onecrm_reporting · star schema</a:t>
            </a:r>
          </a:p>
        </p:txBody>
      </p:sp>
      <p:cxnSp>
        <p:nvCxnSpPr>
          <p:cNvPr id="19" name="Connector 18"/>
          <p:cNvCxnSpPr/>
          <p:nvPr/>
        </p:nvCxnSpPr>
        <p:spPr>
          <a:xfrm>
            <a:off x="10351008" y="2779776"/>
            <a:ext cx="0" cy="329184"/>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79992" y="3154680"/>
            <a:ext cx="2542032" cy="1143000"/>
          </a:xfrm>
          <a:prstGeom prst="roundRect">
            <a:avLst>
              <a:gd name="adj" fmla="val 8000"/>
            </a:avLst>
          </a:prstGeom>
          <a:solidFill>
            <a:srgbClr val="E9F4EF"/>
          </a:solidFill>
          <a:ln>
            <a:noFill/>
          </a:ln>
        </p:spPr>
        <p:txBody>
          <a:bodyPr rtlCol="0" anchor="ctr"/>
          <a:lstStyle/>
          <a:p/>
        </p:txBody>
      </p:sp>
      <p:sp>
        <p:nvSpPr>
          <p:cNvPr id="21" name="TextBox 20"/>
          <p:cNvSpPr txBox="1"/>
          <p:nvPr/>
        </p:nvSpPr>
        <p:spPr>
          <a:xfrm>
            <a:off x="9262872" y="3273552"/>
            <a:ext cx="2176272" cy="320040"/>
          </a:xfrm>
          <a:prstGeom prst="rect">
            <a:avLst/>
          </a:prstGeom>
          <a:noFill/>
        </p:spPr>
        <p:txBody>
          <a:bodyPr wrap="square" lIns="0" rIns="0" tIns="0" bIns="0" anchor="t">
            <a:spAutoFit/>
          </a:bodyPr>
          <a:lstStyle/>
          <a:p>
            <a:pPr algn="l"/>
            <a:r>
              <a:rPr sz="1400" b="1" i="0">
                <a:solidFill>
                  <a:srgbClr val="20343D"/>
                </a:solidFill>
                <a:latin typeface="Calibri"/>
              </a:rPr>
              <a:t>rpt.usp_SalesDashboard</a:t>
            </a:r>
          </a:p>
        </p:txBody>
      </p:sp>
      <p:sp>
        <p:nvSpPr>
          <p:cNvPr id="22" name="TextBox 21"/>
          <p:cNvSpPr txBox="1"/>
          <p:nvPr/>
        </p:nvSpPr>
        <p:spPr>
          <a:xfrm>
            <a:off x="9262872" y="3630168"/>
            <a:ext cx="2176272" cy="594360"/>
          </a:xfrm>
          <a:prstGeom prst="rect">
            <a:avLst/>
          </a:prstGeom>
          <a:noFill/>
        </p:spPr>
        <p:txBody>
          <a:bodyPr wrap="square" lIns="0" rIns="0" tIns="0" bIns="0" anchor="t">
            <a:spAutoFit/>
          </a:bodyPr>
          <a:lstStyle/>
          <a:p>
            <a:pPr algn="l"/>
            <a:r>
              <a:rPr sz="1200" b="0" i="0">
                <a:solidFill>
                  <a:srgbClr val="20343D"/>
                </a:solidFill>
                <a:latin typeface="Calibri"/>
              </a:rPr>
              <a:t>@DateFrom, @DateTo, @Branch → 6 result set</a:t>
            </a:r>
          </a:p>
        </p:txBody>
      </p:sp>
      <p:cxnSp>
        <p:nvCxnSpPr>
          <p:cNvPr id="23" name="Connector 22"/>
          <p:cNvCxnSpPr/>
          <p:nvPr/>
        </p:nvCxnSpPr>
        <p:spPr>
          <a:xfrm flipH="1">
            <a:off x="8814815" y="3721608"/>
            <a:ext cx="228601"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36207" y="3154680"/>
            <a:ext cx="2542032" cy="1143000"/>
          </a:xfrm>
          <a:prstGeom prst="roundRect">
            <a:avLst>
              <a:gd name="adj" fmla="val 8000"/>
            </a:avLst>
          </a:prstGeom>
          <a:solidFill>
            <a:srgbClr val="FFFFFF"/>
          </a:solidFill>
          <a:ln w="12700">
            <a:solidFill>
              <a:srgbClr val="E7EBE9"/>
            </a:solidFill>
          </a:ln>
        </p:spPr>
        <p:txBody>
          <a:bodyPr rtlCol="0" anchor="ctr"/>
          <a:lstStyle/>
          <a:p/>
        </p:txBody>
      </p:sp>
      <p:sp>
        <p:nvSpPr>
          <p:cNvPr id="25" name="TextBox 24"/>
          <p:cNvSpPr txBox="1"/>
          <p:nvPr/>
        </p:nvSpPr>
        <p:spPr>
          <a:xfrm>
            <a:off x="6419088" y="3273552"/>
            <a:ext cx="2176272" cy="320040"/>
          </a:xfrm>
          <a:prstGeom prst="rect">
            <a:avLst/>
          </a:prstGeom>
          <a:noFill/>
        </p:spPr>
        <p:txBody>
          <a:bodyPr wrap="square" lIns="0" rIns="0" tIns="0" bIns="0" anchor="t">
            <a:spAutoFit/>
          </a:bodyPr>
          <a:lstStyle/>
          <a:p>
            <a:pPr algn="l"/>
            <a:r>
              <a:rPr sz="1400" b="1" i="0">
                <a:solidFill>
                  <a:srgbClr val="20343D"/>
                </a:solidFill>
                <a:latin typeface="Calibri"/>
              </a:rPr>
              <a:t>Go API</a:t>
            </a:r>
          </a:p>
        </p:txBody>
      </p:sp>
      <p:sp>
        <p:nvSpPr>
          <p:cNvPr id="26" name="TextBox 25"/>
          <p:cNvSpPr txBox="1"/>
          <p:nvPr/>
        </p:nvSpPr>
        <p:spPr>
          <a:xfrm>
            <a:off x="6419088" y="3630168"/>
            <a:ext cx="2176272" cy="594360"/>
          </a:xfrm>
          <a:prstGeom prst="rect">
            <a:avLst/>
          </a:prstGeom>
          <a:noFill/>
        </p:spPr>
        <p:txBody>
          <a:bodyPr wrap="square" lIns="0" rIns="0" tIns="0" bIns="0" anchor="t">
            <a:spAutoFit/>
          </a:bodyPr>
          <a:lstStyle/>
          <a:p>
            <a:pPr algn="l"/>
            <a:r>
              <a:rPr sz="1200" b="0" i="0">
                <a:solidFill>
                  <a:srgbClr val="20343D"/>
                </a:solidFill>
                <a:latin typeface="Calibri"/>
              </a:rPr>
              <a:t>GET /api/sales/dashboard · validasi filter</a:t>
            </a:r>
          </a:p>
        </p:txBody>
      </p:sp>
      <p:cxnSp>
        <p:nvCxnSpPr>
          <p:cNvPr id="27" name="Connector 26"/>
          <p:cNvCxnSpPr/>
          <p:nvPr/>
        </p:nvCxnSpPr>
        <p:spPr>
          <a:xfrm flipH="1">
            <a:off x="5971031" y="3721608"/>
            <a:ext cx="228600" cy="0"/>
          </a:xfrm>
          <a:prstGeom prst="line">
            <a:avLst/>
          </a:prstGeom>
          <a:ln w="22225">
            <a:solidFill>
              <a:srgbClr val="177F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392424" y="3154680"/>
            <a:ext cx="2542032" cy="1143000"/>
          </a:xfrm>
          <a:prstGeom prst="roundRect">
            <a:avLst>
              <a:gd name="adj" fmla="val 8000"/>
            </a:avLst>
          </a:prstGeom>
          <a:solidFill>
            <a:srgbClr val="152D36"/>
          </a:solidFill>
          <a:ln>
            <a:noFill/>
          </a:ln>
        </p:spPr>
        <p:txBody>
          <a:bodyPr rtlCol="0" anchor="ctr"/>
          <a:lstStyle/>
          <a:p/>
        </p:txBody>
      </p:sp>
      <p:sp>
        <p:nvSpPr>
          <p:cNvPr id="29" name="TextBox 28"/>
          <p:cNvSpPr txBox="1"/>
          <p:nvPr/>
        </p:nvSpPr>
        <p:spPr>
          <a:xfrm>
            <a:off x="3575304" y="3273552"/>
            <a:ext cx="2176272" cy="320040"/>
          </a:xfrm>
          <a:prstGeom prst="rect">
            <a:avLst/>
          </a:prstGeom>
          <a:noFill/>
        </p:spPr>
        <p:txBody>
          <a:bodyPr wrap="square" lIns="0" rIns="0" tIns="0" bIns="0" anchor="t">
            <a:spAutoFit/>
          </a:bodyPr>
          <a:lstStyle/>
          <a:p>
            <a:pPr algn="l"/>
            <a:r>
              <a:rPr sz="1400" b="1" i="0">
                <a:solidFill>
                  <a:srgbClr val="FFFFFF"/>
                </a:solidFill>
                <a:latin typeface="Calibri"/>
              </a:rPr>
              <a:t>Next.js UI</a:t>
            </a:r>
          </a:p>
        </p:txBody>
      </p:sp>
      <p:sp>
        <p:nvSpPr>
          <p:cNvPr id="30" name="TextBox 29"/>
          <p:cNvSpPr txBox="1"/>
          <p:nvPr/>
        </p:nvSpPr>
        <p:spPr>
          <a:xfrm>
            <a:off x="3575304" y="3630168"/>
            <a:ext cx="2176272" cy="594360"/>
          </a:xfrm>
          <a:prstGeom prst="rect">
            <a:avLst/>
          </a:prstGeom>
          <a:noFill/>
        </p:spPr>
        <p:txBody>
          <a:bodyPr wrap="square" lIns="0" rIns="0" tIns="0" bIns="0" anchor="t">
            <a:spAutoFit/>
          </a:bodyPr>
          <a:lstStyle/>
          <a:p>
            <a:pPr algn="l"/>
            <a:r>
              <a:rPr sz="1200" b="0" i="0">
                <a:solidFill>
                  <a:srgbClr val="FFFFFF"/>
                </a:solidFill>
                <a:latin typeface="Calibri"/>
              </a:rPr>
              <a:t>label sumber &amp; freshness</a:t>
            </a:r>
          </a:p>
        </p:txBody>
      </p:sp>
      <p:sp>
        <p:nvSpPr>
          <p:cNvPr id="31" name="Rounded Rectangle 30"/>
          <p:cNvSpPr/>
          <p:nvPr/>
        </p:nvSpPr>
        <p:spPr>
          <a:xfrm>
            <a:off x="548640" y="3154680"/>
            <a:ext cx="2542032" cy="1143000"/>
          </a:xfrm>
          <a:prstGeom prst="roundRect">
            <a:avLst>
              <a:gd name="adj" fmla="val 8000"/>
            </a:avLst>
          </a:prstGeom>
          <a:solidFill>
            <a:srgbClr val="F6F8F6"/>
          </a:solidFill>
          <a:ln>
            <a:noFill/>
          </a:ln>
        </p:spPr>
        <p:txBody>
          <a:bodyPr rtlCol="0" anchor="ctr"/>
          <a:lstStyle/>
          <a:p/>
        </p:txBody>
      </p:sp>
      <p:sp>
        <p:nvSpPr>
          <p:cNvPr id="32" name="TextBox 31"/>
          <p:cNvSpPr txBox="1"/>
          <p:nvPr/>
        </p:nvSpPr>
        <p:spPr>
          <a:xfrm>
            <a:off x="731520" y="3273552"/>
            <a:ext cx="2176272" cy="320040"/>
          </a:xfrm>
          <a:prstGeom prst="rect">
            <a:avLst/>
          </a:prstGeom>
          <a:noFill/>
        </p:spPr>
        <p:txBody>
          <a:bodyPr wrap="square" lIns="0" rIns="0" tIns="0" bIns="0" anchor="t">
            <a:spAutoFit/>
          </a:bodyPr>
          <a:lstStyle/>
          <a:p>
            <a:pPr algn="l"/>
            <a:r>
              <a:rPr sz="1400" b="1" i="0">
                <a:solidFill>
                  <a:srgbClr val="20343D"/>
                </a:solidFill>
                <a:latin typeface="Calibri"/>
              </a:rPr>
              <a:t>OneCRM → FactLeadDaily</a:t>
            </a:r>
          </a:p>
        </p:txBody>
      </p:sp>
      <p:sp>
        <p:nvSpPr>
          <p:cNvPr id="33" name="TextBox 32"/>
          <p:cNvSpPr txBox="1"/>
          <p:nvPr/>
        </p:nvSpPr>
        <p:spPr>
          <a:xfrm>
            <a:off x="731520" y="3630168"/>
            <a:ext cx="2176272" cy="594360"/>
          </a:xfrm>
          <a:prstGeom prst="rect">
            <a:avLst/>
          </a:prstGeom>
          <a:noFill/>
        </p:spPr>
        <p:txBody>
          <a:bodyPr wrap="square" lIns="0" rIns="0" tIns="0" bIns="0" anchor="t">
            <a:spAutoFit/>
          </a:bodyPr>
          <a:lstStyle/>
          <a:p>
            <a:pPr algn="l"/>
            <a:r>
              <a:rPr sz="1200" b="0" i="0">
                <a:solidFill>
                  <a:srgbClr val="20343D"/>
                </a:solidFill>
                <a:latin typeface="Calibri"/>
              </a:rPr>
              <a:t>lead harian per sumber, dimuat sync worker untuk attribution</a:t>
            </a:r>
          </a:p>
        </p:txBody>
      </p:sp>
      <p:sp>
        <p:nvSpPr>
          <p:cNvPr id="34" name="TextBox 33"/>
          <p:cNvSpPr txBox="1"/>
          <p:nvPr/>
        </p:nvSpPr>
        <p:spPr>
          <a:xfrm>
            <a:off x="548640" y="4526280"/>
            <a:ext cx="5486400" cy="274320"/>
          </a:xfrm>
          <a:prstGeom prst="rect">
            <a:avLst/>
          </a:prstGeom>
          <a:noFill/>
        </p:spPr>
        <p:txBody>
          <a:bodyPr wrap="square" lIns="0" rIns="0" tIns="0" bIns="0" anchor="t">
            <a:spAutoFit/>
          </a:bodyPr>
          <a:lstStyle/>
          <a:p>
            <a:pPr algn="l"/>
            <a:r>
              <a:rPr sz="1100" b="1" i="0">
                <a:solidFill>
                  <a:srgbClr val="5F6F74"/>
                </a:solidFill>
                <a:latin typeface="Calibri"/>
              </a:rPr>
              <a:t>STAR SCHEMA rpt</a:t>
            </a:r>
          </a:p>
        </p:txBody>
      </p:sp>
      <p:sp>
        <p:nvSpPr>
          <p:cNvPr id="35" name="Rounded Rectangle 34"/>
          <p:cNvSpPr/>
          <p:nvPr/>
        </p:nvSpPr>
        <p:spPr>
          <a:xfrm>
            <a:off x="548640" y="4818888"/>
            <a:ext cx="1298448" cy="347472"/>
          </a:xfrm>
          <a:prstGeom prst="roundRect">
            <a:avLst>
              <a:gd name="adj" fmla="val 25000"/>
            </a:avLst>
          </a:prstGeom>
          <a:solidFill>
            <a:srgbClr val="F6F8F6"/>
          </a:solidFill>
          <a:ln>
            <a:noFill/>
          </a:ln>
        </p:spPr>
        <p:txBody>
          <a:bodyPr rtlCol="0" anchor="ctr" wrap="square" lIns="73152" rIns="73152" tIns="27432" bIns="27432"/>
          <a:lstStyle/>
          <a:p>
            <a:pPr algn="ctr"/>
            <a:r>
              <a:rPr sz="1100" b="1">
                <a:solidFill>
                  <a:srgbClr val="20343D"/>
                </a:solidFill>
                <a:latin typeface="Calibri"/>
              </a:rPr>
              <a:t>DimBranch</a:t>
            </a:r>
          </a:p>
        </p:txBody>
      </p:sp>
      <p:sp>
        <p:nvSpPr>
          <p:cNvPr id="36" name="Rounded Rectangle 35"/>
          <p:cNvSpPr/>
          <p:nvPr/>
        </p:nvSpPr>
        <p:spPr>
          <a:xfrm>
            <a:off x="1947672" y="4818888"/>
            <a:ext cx="1298448" cy="347472"/>
          </a:xfrm>
          <a:prstGeom prst="roundRect">
            <a:avLst>
              <a:gd name="adj" fmla="val 25000"/>
            </a:avLst>
          </a:prstGeom>
          <a:solidFill>
            <a:srgbClr val="F6F8F6"/>
          </a:solidFill>
          <a:ln>
            <a:noFill/>
          </a:ln>
        </p:spPr>
        <p:txBody>
          <a:bodyPr rtlCol="0" anchor="ctr" wrap="square" lIns="73152" rIns="73152" tIns="27432" bIns="27432"/>
          <a:lstStyle/>
          <a:p>
            <a:pPr algn="ctr"/>
            <a:r>
              <a:rPr sz="1100" b="1">
                <a:solidFill>
                  <a:srgbClr val="20343D"/>
                </a:solidFill>
                <a:latin typeface="Calibri"/>
              </a:rPr>
              <a:t>DimProduct</a:t>
            </a:r>
          </a:p>
        </p:txBody>
      </p:sp>
      <p:sp>
        <p:nvSpPr>
          <p:cNvPr id="37" name="Rounded Rectangle 36"/>
          <p:cNvSpPr/>
          <p:nvPr/>
        </p:nvSpPr>
        <p:spPr>
          <a:xfrm>
            <a:off x="3346704" y="4818888"/>
            <a:ext cx="1298448" cy="347472"/>
          </a:xfrm>
          <a:prstGeom prst="roundRect">
            <a:avLst>
              <a:gd name="adj" fmla="val 25000"/>
            </a:avLst>
          </a:prstGeom>
          <a:solidFill>
            <a:srgbClr val="F6F8F6"/>
          </a:solidFill>
          <a:ln>
            <a:noFill/>
          </a:ln>
        </p:spPr>
        <p:txBody>
          <a:bodyPr rtlCol="0" anchor="ctr" wrap="square" lIns="73152" rIns="73152" tIns="27432" bIns="27432"/>
          <a:lstStyle/>
          <a:p>
            <a:pPr algn="ctr"/>
            <a:r>
              <a:rPr sz="1100" b="1">
                <a:solidFill>
                  <a:srgbClr val="20343D"/>
                </a:solidFill>
                <a:latin typeface="Calibri"/>
              </a:rPr>
              <a:t>DimSalesperson</a:t>
            </a:r>
          </a:p>
        </p:txBody>
      </p:sp>
      <p:sp>
        <p:nvSpPr>
          <p:cNvPr id="38" name="Rounded Rectangle 37"/>
          <p:cNvSpPr/>
          <p:nvPr/>
        </p:nvSpPr>
        <p:spPr>
          <a:xfrm>
            <a:off x="4745736" y="4818888"/>
            <a:ext cx="1298448" cy="347472"/>
          </a:xfrm>
          <a:prstGeom prst="roundRect">
            <a:avLst>
              <a:gd name="adj" fmla="val 25000"/>
            </a:avLst>
          </a:prstGeom>
          <a:solidFill>
            <a:srgbClr val="F6F8F6"/>
          </a:solidFill>
          <a:ln>
            <a:noFill/>
          </a:ln>
        </p:spPr>
        <p:txBody>
          <a:bodyPr rtlCol="0" anchor="ctr" wrap="square" lIns="73152" rIns="73152" tIns="27432" bIns="27432"/>
          <a:lstStyle/>
          <a:p>
            <a:pPr algn="ctr"/>
            <a:r>
              <a:rPr sz="1100" b="1">
                <a:solidFill>
                  <a:srgbClr val="20343D"/>
                </a:solidFill>
                <a:latin typeface="Calibri"/>
              </a:rPr>
              <a:t>DimLeadSource</a:t>
            </a:r>
          </a:p>
        </p:txBody>
      </p:sp>
      <p:sp>
        <p:nvSpPr>
          <p:cNvPr id="39" name="Rounded Rectangle 38"/>
          <p:cNvSpPr/>
          <p:nvPr/>
        </p:nvSpPr>
        <p:spPr>
          <a:xfrm>
            <a:off x="6144768" y="4818888"/>
            <a:ext cx="1298448" cy="347472"/>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FactSpk</a:t>
            </a:r>
          </a:p>
        </p:txBody>
      </p:sp>
      <p:sp>
        <p:nvSpPr>
          <p:cNvPr id="40" name="Rounded Rectangle 39"/>
          <p:cNvSpPr/>
          <p:nvPr/>
        </p:nvSpPr>
        <p:spPr>
          <a:xfrm>
            <a:off x="7543800" y="4818888"/>
            <a:ext cx="1298448" cy="347472"/>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FactLeadDaily</a:t>
            </a:r>
          </a:p>
        </p:txBody>
      </p:sp>
      <p:sp>
        <p:nvSpPr>
          <p:cNvPr id="41" name="Rounded Rectangle 40"/>
          <p:cNvSpPr/>
          <p:nvPr/>
        </p:nvSpPr>
        <p:spPr>
          <a:xfrm>
            <a:off x="8942832" y="4818888"/>
            <a:ext cx="1298448" cy="347472"/>
          </a:xfrm>
          <a:prstGeom prst="roundRect">
            <a:avLst>
              <a:gd name="adj" fmla="val 25000"/>
            </a:avLst>
          </a:prstGeom>
          <a:solidFill>
            <a:srgbClr val="E9F4EF"/>
          </a:solidFill>
          <a:ln>
            <a:noFill/>
          </a:ln>
        </p:spPr>
        <p:txBody>
          <a:bodyPr rtlCol="0" anchor="ctr" wrap="square" lIns="73152" rIns="73152" tIns="27432" bIns="27432"/>
          <a:lstStyle/>
          <a:p>
            <a:pPr algn="ctr"/>
            <a:r>
              <a:rPr sz="1100" b="1">
                <a:solidFill>
                  <a:srgbClr val="20343D"/>
                </a:solidFill>
                <a:latin typeface="Calibri"/>
              </a:rPr>
              <a:t>FactTarget</a:t>
            </a:r>
          </a:p>
        </p:txBody>
      </p:sp>
      <p:sp>
        <p:nvSpPr>
          <p:cNvPr id="42" name="Rounded Rectangle 41"/>
          <p:cNvSpPr/>
          <p:nvPr/>
        </p:nvSpPr>
        <p:spPr>
          <a:xfrm>
            <a:off x="10341864" y="4818888"/>
            <a:ext cx="1298448" cy="347472"/>
          </a:xfrm>
          <a:prstGeom prst="roundRect">
            <a:avLst>
              <a:gd name="adj" fmla="val 25000"/>
            </a:avLst>
          </a:prstGeom>
          <a:solidFill>
            <a:srgbClr val="F6F8F6"/>
          </a:solidFill>
          <a:ln>
            <a:noFill/>
          </a:ln>
        </p:spPr>
        <p:txBody>
          <a:bodyPr rtlCol="0" anchor="ctr" wrap="square" lIns="73152" rIns="73152" tIns="27432" bIns="27432"/>
          <a:lstStyle/>
          <a:p>
            <a:pPr algn="ctr"/>
            <a:r>
              <a:rPr sz="1100" b="1">
                <a:solidFill>
                  <a:srgbClr val="20343D"/>
                </a:solidFill>
                <a:latin typeface="Calibri"/>
              </a:rPr>
              <a:t>EtlWatermark</a:t>
            </a:r>
          </a:p>
        </p:txBody>
      </p:sp>
      <p:sp>
        <p:nvSpPr>
          <p:cNvPr id="43" name="Rounded Rectangle 42"/>
          <p:cNvSpPr/>
          <p:nvPr/>
        </p:nvSpPr>
        <p:spPr>
          <a:xfrm>
            <a:off x="548640" y="5349240"/>
            <a:ext cx="2103120" cy="868680"/>
          </a:xfrm>
          <a:prstGeom prst="roundRect">
            <a:avLst>
              <a:gd name="adj" fmla="val 8000"/>
            </a:avLst>
          </a:prstGeom>
          <a:solidFill>
            <a:srgbClr val="FFFFFF"/>
          </a:solidFill>
          <a:ln w="12700">
            <a:solidFill>
              <a:srgbClr val="E7EBE9"/>
            </a:solidFill>
          </a:ln>
        </p:spPr>
        <p:txBody>
          <a:bodyPr rtlCol="0" anchor="ctr"/>
          <a:lstStyle/>
          <a:p/>
        </p:txBody>
      </p:sp>
      <p:sp>
        <p:nvSpPr>
          <p:cNvPr id="44" name="TextBox 43"/>
          <p:cNvSpPr txBox="1"/>
          <p:nvPr/>
        </p:nvSpPr>
        <p:spPr>
          <a:xfrm>
            <a:off x="713232" y="5440680"/>
            <a:ext cx="1828800" cy="274320"/>
          </a:xfrm>
          <a:prstGeom prst="rect">
            <a:avLst/>
          </a:prstGeom>
          <a:noFill/>
        </p:spPr>
        <p:txBody>
          <a:bodyPr wrap="square" lIns="0" rIns="0" tIns="0" bIns="0" anchor="t">
            <a:spAutoFit/>
          </a:bodyPr>
          <a:lstStyle/>
          <a:p>
            <a:pPr algn="l"/>
            <a:r>
              <a:rPr sz="1300" b="1" i="0">
                <a:solidFill>
                  <a:srgbClr val="126653"/>
                </a:solidFill>
                <a:latin typeface="Calibri"/>
              </a:rPr>
              <a:t>Least privilege</a:t>
            </a:r>
          </a:p>
        </p:txBody>
      </p:sp>
      <p:sp>
        <p:nvSpPr>
          <p:cNvPr id="45" name="TextBox 44"/>
          <p:cNvSpPr txBox="1"/>
          <p:nvPr/>
        </p:nvSpPr>
        <p:spPr>
          <a:xfrm>
            <a:off x="713232" y="5733288"/>
            <a:ext cx="1828800" cy="457200"/>
          </a:xfrm>
          <a:prstGeom prst="rect">
            <a:avLst/>
          </a:prstGeom>
          <a:noFill/>
        </p:spPr>
        <p:txBody>
          <a:bodyPr wrap="square" lIns="0" rIns="0" tIns="0" bIns="0" anchor="t">
            <a:spAutoFit/>
          </a:bodyPr>
          <a:lstStyle/>
          <a:p>
            <a:pPr algn="l"/>
            <a:r>
              <a:rPr sz="1100" b="0" i="0">
                <a:solidFill>
                  <a:srgbClr val="5F6F74"/>
                </a:solidFill>
                <a:latin typeface="Calibri"/>
              </a:rPr>
              <a:t>EXECUTE pada prosedur saja</a:t>
            </a:r>
          </a:p>
        </p:txBody>
      </p:sp>
      <p:sp>
        <p:nvSpPr>
          <p:cNvPr id="46" name="Rounded Rectangle 45"/>
          <p:cNvSpPr/>
          <p:nvPr/>
        </p:nvSpPr>
        <p:spPr>
          <a:xfrm>
            <a:off x="2807208" y="5349240"/>
            <a:ext cx="2103120" cy="868680"/>
          </a:xfrm>
          <a:prstGeom prst="roundRect">
            <a:avLst>
              <a:gd name="adj" fmla="val 8000"/>
            </a:avLst>
          </a:prstGeom>
          <a:solidFill>
            <a:srgbClr val="FFFFFF"/>
          </a:solidFill>
          <a:ln w="12700">
            <a:solidFill>
              <a:srgbClr val="E7EBE9"/>
            </a:solidFill>
          </a:ln>
        </p:spPr>
        <p:txBody>
          <a:bodyPr rtlCol="0" anchor="ctr"/>
          <a:lstStyle/>
          <a:p/>
        </p:txBody>
      </p:sp>
      <p:sp>
        <p:nvSpPr>
          <p:cNvPr id="47" name="TextBox 46"/>
          <p:cNvSpPr txBox="1"/>
          <p:nvPr/>
        </p:nvSpPr>
        <p:spPr>
          <a:xfrm>
            <a:off x="2971800" y="5440680"/>
            <a:ext cx="1828800" cy="274320"/>
          </a:xfrm>
          <a:prstGeom prst="rect">
            <a:avLst/>
          </a:prstGeom>
          <a:noFill/>
        </p:spPr>
        <p:txBody>
          <a:bodyPr wrap="square" lIns="0" rIns="0" tIns="0" bIns="0" anchor="t">
            <a:spAutoFit/>
          </a:bodyPr>
          <a:lstStyle/>
          <a:p>
            <a:pPr algn="l"/>
            <a:r>
              <a:rPr sz="1300" b="1" i="0">
                <a:solidFill>
                  <a:srgbClr val="126653"/>
                </a:solidFill>
                <a:latin typeface="Calibri"/>
              </a:rPr>
              <a:t>RLS per cabang</a:t>
            </a:r>
          </a:p>
        </p:txBody>
      </p:sp>
      <p:sp>
        <p:nvSpPr>
          <p:cNvPr id="48" name="TextBox 47"/>
          <p:cNvSpPr txBox="1"/>
          <p:nvPr/>
        </p:nvSpPr>
        <p:spPr>
          <a:xfrm>
            <a:off x="2971800" y="5733288"/>
            <a:ext cx="1828800" cy="457200"/>
          </a:xfrm>
          <a:prstGeom prst="rect">
            <a:avLst/>
          </a:prstGeom>
          <a:noFill/>
        </p:spPr>
        <p:txBody>
          <a:bodyPr wrap="square" lIns="0" rIns="0" tIns="0" bIns="0" anchor="t">
            <a:spAutoFit/>
          </a:bodyPr>
          <a:lstStyle/>
          <a:p>
            <a:pPr algn="l"/>
            <a:r>
              <a:rPr sz="1100" b="0" i="0">
                <a:solidFill>
                  <a:srgbClr val="5F6F74"/>
                </a:solidFill>
                <a:latin typeface="Calibri"/>
              </a:rPr>
              <a:t>SESSION_CONTEXT(branch)</a:t>
            </a:r>
          </a:p>
        </p:txBody>
      </p:sp>
      <p:sp>
        <p:nvSpPr>
          <p:cNvPr id="49" name="Rounded Rectangle 48"/>
          <p:cNvSpPr/>
          <p:nvPr/>
        </p:nvSpPr>
        <p:spPr>
          <a:xfrm>
            <a:off x="5065776" y="5349240"/>
            <a:ext cx="2103120" cy="868680"/>
          </a:xfrm>
          <a:prstGeom prst="roundRect">
            <a:avLst>
              <a:gd name="adj" fmla="val 8000"/>
            </a:avLst>
          </a:prstGeom>
          <a:solidFill>
            <a:srgbClr val="FFFFFF"/>
          </a:solidFill>
          <a:ln w="12700">
            <a:solidFill>
              <a:srgbClr val="E7EBE9"/>
            </a:solidFill>
          </a:ln>
        </p:spPr>
        <p:txBody>
          <a:bodyPr rtlCol="0" anchor="ctr"/>
          <a:lstStyle/>
          <a:p/>
        </p:txBody>
      </p:sp>
      <p:sp>
        <p:nvSpPr>
          <p:cNvPr id="50" name="TextBox 49"/>
          <p:cNvSpPr txBox="1"/>
          <p:nvPr/>
        </p:nvSpPr>
        <p:spPr>
          <a:xfrm>
            <a:off x="5230368" y="5440680"/>
            <a:ext cx="1828800" cy="274320"/>
          </a:xfrm>
          <a:prstGeom prst="rect">
            <a:avLst/>
          </a:prstGeom>
          <a:noFill/>
        </p:spPr>
        <p:txBody>
          <a:bodyPr wrap="square" lIns="0" rIns="0" tIns="0" bIns="0" anchor="t">
            <a:spAutoFit/>
          </a:bodyPr>
          <a:lstStyle/>
          <a:p>
            <a:pPr algn="l"/>
            <a:r>
              <a:rPr sz="1300" b="1" i="0">
                <a:solidFill>
                  <a:srgbClr val="126653"/>
                </a:solidFill>
                <a:latin typeface="Calibri"/>
              </a:rPr>
              <a:t>Koneksi aman</a:t>
            </a:r>
          </a:p>
        </p:txBody>
      </p:sp>
      <p:sp>
        <p:nvSpPr>
          <p:cNvPr id="51" name="TextBox 50"/>
          <p:cNvSpPr txBox="1"/>
          <p:nvPr/>
        </p:nvSpPr>
        <p:spPr>
          <a:xfrm>
            <a:off x="5230368" y="5733288"/>
            <a:ext cx="1828800" cy="457200"/>
          </a:xfrm>
          <a:prstGeom prst="rect">
            <a:avLst/>
          </a:prstGeom>
          <a:noFill/>
        </p:spPr>
        <p:txBody>
          <a:bodyPr wrap="square" lIns="0" rIns="0" tIns="0" bIns="0" anchor="t">
            <a:spAutoFit/>
          </a:bodyPr>
          <a:lstStyle/>
          <a:p>
            <a:pPr algn="l"/>
            <a:r>
              <a:rPr sz="1100" b="0" i="0">
                <a:solidFill>
                  <a:srgbClr val="5F6F74"/>
                </a:solidFill>
                <a:latin typeface="Calibri"/>
              </a:rPr>
              <a:t>TLS, secret di server</a:t>
            </a:r>
          </a:p>
        </p:txBody>
      </p:sp>
      <p:sp>
        <p:nvSpPr>
          <p:cNvPr id="52" name="Rounded Rectangle 51"/>
          <p:cNvSpPr/>
          <p:nvPr/>
        </p:nvSpPr>
        <p:spPr>
          <a:xfrm>
            <a:off x="7324344" y="5349240"/>
            <a:ext cx="2103120" cy="868680"/>
          </a:xfrm>
          <a:prstGeom prst="roundRect">
            <a:avLst>
              <a:gd name="adj" fmla="val 8000"/>
            </a:avLst>
          </a:prstGeom>
          <a:solidFill>
            <a:srgbClr val="FFFFFF"/>
          </a:solidFill>
          <a:ln w="12700">
            <a:solidFill>
              <a:srgbClr val="E7EBE9"/>
            </a:solidFill>
          </a:ln>
        </p:spPr>
        <p:txBody>
          <a:bodyPr rtlCol="0" anchor="ctr"/>
          <a:lstStyle/>
          <a:p/>
        </p:txBody>
      </p:sp>
      <p:sp>
        <p:nvSpPr>
          <p:cNvPr id="53" name="TextBox 52"/>
          <p:cNvSpPr txBox="1"/>
          <p:nvPr/>
        </p:nvSpPr>
        <p:spPr>
          <a:xfrm>
            <a:off x="7488936" y="5440680"/>
            <a:ext cx="1828800" cy="274320"/>
          </a:xfrm>
          <a:prstGeom prst="rect">
            <a:avLst/>
          </a:prstGeom>
          <a:noFill/>
        </p:spPr>
        <p:txBody>
          <a:bodyPr wrap="square" lIns="0" rIns="0" tIns="0" bIns="0" anchor="t">
            <a:spAutoFit/>
          </a:bodyPr>
          <a:lstStyle/>
          <a:p>
            <a:pPr algn="l"/>
            <a:r>
              <a:rPr sz="1300" b="1" i="0">
                <a:solidFill>
                  <a:srgbClr val="126653"/>
                </a:solidFill>
                <a:latin typeface="Calibri"/>
              </a:rPr>
              <a:t>Refresh</a:t>
            </a:r>
          </a:p>
        </p:txBody>
      </p:sp>
      <p:sp>
        <p:nvSpPr>
          <p:cNvPr id="54" name="TextBox 53"/>
          <p:cNvSpPr txBox="1"/>
          <p:nvPr/>
        </p:nvSpPr>
        <p:spPr>
          <a:xfrm>
            <a:off x="7488936" y="5733288"/>
            <a:ext cx="1828800" cy="457200"/>
          </a:xfrm>
          <a:prstGeom prst="rect">
            <a:avLst/>
          </a:prstGeom>
          <a:noFill/>
        </p:spPr>
        <p:txBody>
          <a:bodyPr wrap="square" lIns="0" rIns="0" tIns="0" bIns="0" anchor="t">
            <a:spAutoFit/>
          </a:bodyPr>
          <a:lstStyle/>
          <a:p>
            <a:pPr algn="l"/>
            <a:r>
              <a:rPr sz="1100" b="0" i="0">
                <a:solidFill>
                  <a:srgbClr val="5F6F74"/>
                </a:solidFill>
                <a:latin typeface="Calibri"/>
              </a:rPr>
              <a:t>±5 menit + rekonsiliasi malam</a:t>
            </a:r>
          </a:p>
        </p:txBody>
      </p:sp>
      <p:sp>
        <p:nvSpPr>
          <p:cNvPr id="55" name="Rounded Rectangle 54"/>
          <p:cNvSpPr/>
          <p:nvPr/>
        </p:nvSpPr>
        <p:spPr>
          <a:xfrm>
            <a:off x="9582912" y="5349240"/>
            <a:ext cx="2103120" cy="868680"/>
          </a:xfrm>
          <a:prstGeom prst="roundRect">
            <a:avLst>
              <a:gd name="adj" fmla="val 8000"/>
            </a:avLst>
          </a:prstGeom>
          <a:solidFill>
            <a:srgbClr val="FFFFFF"/>
          </a:solidFill>
          <a:ln w="12700">
            <a:solidFill>
              <a:srgbClr val="E7EBE9"/>
            </a:solidFill>
          </a:ln>
        </p:spPr>
        <p:txBody>
          <a:bodyPr rtlCol="0" anchor="ctr"/>
          <a:lstStyle/>
          <a:p/>
        </p:txBody>
      </p:sp>
      <p:sp>
        <p:nvSpPr>
          <p:cNvPr id="56" name="TextBox 55"/>
          <p:cNvSpPr txBox="1"/>
          <p:nvPr/>
        </p:nvSpPr>
        <p:spPr>
          <a:xfrm>
            <a:off x="9747504" y="5440680"/>
            <a:ext cx="1828800" cy="274320"/>
          </a:xfrm>
          <a:prstGeom prst="rect">
            <a:avLst/>
          </a:prstGeom>
          <a:noFill/>
        </p:spPr>
        <p:txBody>
          <a:bodyPr wrap="square" lIns="0" rIns="0" tIns="0" bIns="0" anchor="t">
            <a:spAutoFit/>
          </a:bodyPr>
          <a:lstStyle/>
          <a:p>
            <a:pPr algn="l"/>
            <a:r>
              <a:rPr sz="1300" b="1" i="0">
                <a:solidFill>
                  <a:srgbClr val="126653"/>
                </a:solidFill>
                <a:latin typeface="Calibri"/>
              </a:rPr>
              <a:t>Reuse</a:t>
            </a:r>
          </a:p>
        </p:txBody>
      </p:sp>
      <p:sp>
        <p:nvSpPr>
          <p:cNvPr id="57" name="TextBox 56"/>
          <p:cNvSpPr txBox="1"/>
          <p:nvPr/>
        </p:nvSpPr>
        <p:spPr>
          <a:xfrm>
            <a:off x="9747504" y="5733288"/>
            <a:ext cx="1828800" cy="457200"/>
          </a:xfrm>
          <a:prstGeom prst="rect">
            <a:avLst/>
          </a:prstGeom>
          <a:noFill/>
        </p:spPr>
        <p:txBody>
          <a:bodyPr wrap="square" lIns="0" rIns="0" tIns="0" bIns="0" anchor="t">
            <a:spAutoFit/>
          </a:bodyPr>
          <a:lstStyle/>
          <a:p>
            <a:pPr algn="l"/>
            <a:r>
              <a:rPr sz="1100" b="0" i="0">
                <a:solidFill>
                  <a:srgbClr val="5F6F74"/>
                </a:solidFill>
                <a:latin typeface="Calibri"/>
              </a:rPr>
              <a:t>Power BI memakai schema rpt</a:t>
            </a:r>
          </a:p>
        </p:txBody>
      </p:sp>
      <p:sp>
        <p:nvSpPr>
          <p:cNvPr id="58" name="TextBox 5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59" name="TextBox 5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DASHBOARD PENJUALAN · UI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Satu layar: on-track, sumber penjualan, sales, dan backlog</a:t>
            </a:r>
          </a:p>
        </p:txBody>
      </p:sp>
      <p:pic>
        <p:nvPicPr>
          <p:cNvPr id="4" name="Screenshot Sales Dashboard" descr="sales-dashboard.png"/>
          <p:cNvPicPr>
            <a:picLocks noChangeAspect="1"/>
          </p:cNvPicPr>
          <p:nvPr/>
        </p:nvPicPr>
        <p:blipFill>
          <a:blip r:embed="rId2"/>
          <a:stretch>
            <a:fillRect/>
          </a:stretch>
        </p:blipFill>
        <p:spPr>
          <a:xfrm>
            <a:off x="585216" y="1508759"/>
            <a:ext cx="7607808" cy="4754880"/>
          </a:xfrm>
          <a:prstGeom prst="rect">
            <a:avLst/>
          </a:prstGeom>
          <a:ln w="12700">
            <a:solidFill>
              <a:srgbClr val="E7EBE9"/>
            </a:solidFill>
          </a:ln>
        </p:spPr>
      </p:pic>
      <p:sp>
        <p:nvSpPr>
          <p:cNvPr id="5" name="Oval 4"/>
          <p:cNvSpPr/>
          <p:nvPr/>
        </p:nvSpPr>
        <p:spPr>
          <a:xfrm>
            <a:off x="8503920" y="1572768"/>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1</a:t>
            </a:r>
          </a:p>
        </p:txBody>
      </p:sp>
      <p:sp>
        <p:nvSpPr>
          <p:cNvPr id="6" name="TextBox 5"/>
          <p:cNvSpPr txBox="1"/>
          <p:nvPr/>
        </p:nvSpPr>
        <p:spPr>
          <a:xfrm>
            <a:off x="8961120" y="1536192"/>
            <a:ext cx="2679192" cy="457200"/>
          </a:xfrm>
          <a:prstGeom prst="rect">
            <a:avLst/>
          </a:prstGeom>
          <a:noFill/>
        </p:spPr>
        <p:txBody>
          <a:bodyPr wrap="square" lIns="0" rIns="0" tIns="0" bIns="0" anchor="ctr">
            <a:spAutoFit/>
          </a:bodyPr>
          <a:lstStyle/>
          <a:p>
            <a:pPr algn="l"/>
            <a:r>
              <a:rPr sz="1300" b="0" i="0">
                <a:solidFill>
                  <a:srgbClr val="20343D"/>
                </a:solidFill>
                <a:latin typeface="Calibri"/>
              </a:rPr>
              <a:t>Filter periode (MTD, 3 bulan, 6 bulan) &amp; cabang</a:t>
            </a:r>
          </a:p>
        </p:txBody>
      </p:sp>
      <p:sp>
        <p:nvSpPr>
          <p:cNvPr id="7" name="Oval 6"/>
          <p:cNvSpPr/>
          <p:nvPr/>
        </p:nvSpPr>
        <p:spPr>
          <a:xfrm>
            <a:off x="8503920" y="2093976"/>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2</a:t>
            </a:r>
          </a:p>
        </p:txBody>
      </p:sp>
      <p:sp>
        <p:nvSpPr>
          <p:cNvPr id="8" name="TextBox 7"/>
          <p:cNvSpPr txBox="1"/>
          <p:nvPr/>
        </p:nvSpPr>
        <p:spPr>
          <a:xfrm>
            <a:off x="8961120" y="2057400"/>
            <a:ext cx="2679192" cy="457200"/>
          </a:xfrm>
          <a:prstGeom prst="rect">
            <a:avLst/>
          </a:prstGeom>
          <a:noFill/>
        </p:spPr>
        <p:txBody>
          <a:bodyPr wrap="square" lIns="0" rIns="0" tIns="0" bIns="0" anchor="ctr">
            <a:spAutoFit/>
          </a:bodyPr>
          <a:lstStyle/>
          <a:p>
            <a:pPr algn="l"/>
            <a:r>
              <a:rPr sz="1300" b="0" i="0">
                <a:solidFill>
                  <a:srgbClr val="20343D"/>
                </a:solidFill>
                <a:latin typeface="Calibri"/>
              </a:rPr>
              <a:t>Label sumber: MS SQL atau simulasi + freshness</a:t>
            </a:r>
          </a:p>
        </p:txBody>
      </p:sp>
      <p:sp>
        <p:nvSpPr>
          <p:cNvPr id="9" name="Oval 8"/>
          <p:cNvSpPr/>
          <p:nvPr/>
        </p:nvSpPr>
        <p:spPr>
          <a:xfrm>
            <a:off x="8503920" y="2615184"/>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3</a:t>
            </a:r>
          </a:p>
        </p:txBody>
      </p:sp>
      <p:sp>
        <p:nvSpPr>
          <p:cNvPr id="10" name="TextBox 9"/>
          <p:cNvSpPr txBox="1"/>
          <p:nvPr/>
        </p:nvSpPr>
        <p:spPr>
          <a:xfrm>
            <a:off x="8961120" y="2578608"/>
            <a:ext cx="2679192" cy="457200"/>
          </a:xfrm>
          <a:prstGeom prst="rect">
            <a:avLst/>
          </a:prstGeom>
          <a:noFill/>
        </p:spPr>
        <p:txBody>
          <a:bodyPr wrap="square" lIns="0" rIns="0" tIns="0" bIns="0" anchor="ctr">
            <a:spAutoFit/>
          </a:bodyPr>
          <a:lstStyle/>
          <a:p>
            <a:pPr algn="l"/>
            <a:r>
              <a:rPr sz="1300" b="0" i="0">
                <a:solidFill>
                  <a:srgbClr val="20343D"/>
                </a:solidFill>
                <a:latin typeface="Calibri"/>
              </a:rPr>
              <a:t>KPI: SPK, DO, revenue, achievement &amp; on-pace</a:t>
            </a:r>
          </a:p>
        </p:txBody>
      </p:sp>
      <p:sp>
        <p:nvSpPr>
          <p:cNvPr id="11" name="Oval 10"/>
          <p:cNvSpPr/>
          <p:nvPr/>
        </p:nvSpPr>
        <p:spPr>
          <a:xfrm>
            <a:off x="8503920" y="3136391"/>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4</a:t>
            </a:r>
          </a:p>
        </p:txBody>
      </p:sp>
      <p:sp>
        <p:nvSpPr>
          <p:cNvPr id="12" name="TextBox 11"/>
          <p:cNvSpPr txBox="1"/>
          <p:nvPr/>
        </p:nvSpPr>
        <p:spPr>
          <a:xfrm>
            <a:off x="8961120" y="3099815"/>
            <a:ext cx="2679192" cy="457200"/>
          </a:xfrm>
          <a:prstGeom prst="rect">
            <a:avLst/>
          </a:prstGeom>
          <a:noFill/>
        </p:spPr>
        <p:txBody>
          <a:bodyPr wrap="square" lIns="0" rIns="0" tIns="0" bIns="0" anchor="ctr">
            <a:spAutoFit/>
          </a:bodyPr>
          <a:lstStyle/>
          <a:p>
            <a:pPr algn="l"/>
            <a:r>
              <a:rPr sz="1300" b="0" i="0">
                <a:solidFill>
                  <a:srgbClr val="20343D"/>
                </a:solidFill>
                <a:latin typeface="Calibri"/>
              </a:rPr>
              <a:t>Trend 6 bulan: SPK vs DO vs target</a:t>
            </a:r>
          </a:p>
        </p:txBody>
      </p:sp>
      <p:sp>
        <p:nvSpPr>
          <p:cNvPr id="13" name="Oval 12"/>
          <p:cNvSpPr/>
          <p:nvPr/>
        </p:nvSpPr>
        <p:spPr>
          <a:xfrm>
            <a:off x="8503920" y="365760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5</a:t>
            </a:r>
          </a:p>
        </p:txBody>
      </p:sp>
      <p:sp>
        <p:nvSpPr>
          <p:cNvPr id="14" name="TextBox 13"/>
          <p:cNvSpPr txBox="1"/>
          <p:nvPr/>
        </p:nvSpPr>
        <p:spPr>
          <a:xfrm>
            <a:off x="8961120" y="3621024"/>
            <a:ext cx="2679192" cy="457200"/>
          </a:xfrm>
          <a:prstGeom prst="rect">
            <a:avLst/>
          </a:prstGeom>
          <a:noFill/>
        </p:spPr>
        <p:txBody>
          <a:bodyPr wrap="square" lIns="0" rIns="0" tIns="0" bIns="0" anchor="ctr">
            <a:spAutoFit/>
          </a:bodyPr>
          <a:lstStyle/>
          <a:p>
            <a:pPr algn="l"/>
            <a:r>
              <a:rPr sz="1300" b="0" i="0">
                <a:solidFill>
                  <a:srgbClr val="20343D"/>
                </a:solidFill>
                <a:latin typeface="Calibri"/>
              </a:rPr>
              <a:t>Target vs aktual per cabang</a:t>
            </a:r>
          </a:p>
        </p:txBody>
      </p:sp>
      <p:sp>
        <p:nvSpPr>
          <p:cNvPr id="15" name="Oval 14"/>
          <p:cNvSpPr/>
          <p:nvPr/>
        </p:nvSpPr>
        <p:spPr>
          <a:xfrm>
            <a:off x="8503920" y="4178807"/>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6</a:t>
            </a:r>
          </a:p>
        </p:txBody>
      </p:sp>
      <p:sp>
        <p:nvSpPr>
          <p:cNvPr id="16" name="TextBox 15"/>
          <p:cNvSpPr txBox="1"/>
          <p:nvPr/>
        </p:nvSpPr>
        <p:spPr>
          <a:xfrm>
            <a:off x="8961120" y="4142231"/>
            <a:ext cx="2679192" cy="457200"/>
          </a:xfrm>
          <a:prstGeom prst="rect">
            <a:avLst/>
          </a:prstGeom>
          <a:noFill/>
        </p:spPr>
        <p:txBody>
          <a:bodyPr wrap="square" lIns="0" rIns="0" tIns="0" bIns="0" anchor="ctr">
            <a:spAutoFit/>
          </a:bodyPr>
          <a:lstStyle/>
          <a:p>
            <a:pPr algn="l"/>
            <a:r>
              <a:rPr sz="1300" b="0" i="0">
                <a:solidFill>
                  <a:srgbClr val="20343D"/>
                </a:solidFill>
                <a:latin typeface="Calibri"/>
              </a:rPr>
              <a:t>Product mix &amp; kredit share</a:t>
            </a:r>
          </a:p>
        </p:txBody>
      </p:sp>
      <p:sp>
        <p:nvSpPr>
          <p:cNvPr id="17" name="Oval 16"/>
          <p:cNvSpPr/>
          <p:nvPr/>
        </p:nvSpPr>
        <p:spPr>
          <a:xfrm>
            <a:off x="8503920" y="4700016"/>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7</a:t>
            </a:r>
          </a:p>
        </p:txBody>
      </p:sp>
      <p:sp>
        <p:nvSpPr>
          <p:cNvPr id="18" name="TextBox 17"/>
          <p:cNvSpPr txBox="1"/>
          <p:nvPr/>
        </p:nvSpPr>
        <p:spPr>
          <a:xfrm>
            <a:off x="8961120" y="4663440"/>
            <a:ext cx="2679192" cy="457200"/>
          </a:xfrm>
          <a:prstGeom prst="rect">
            <a:avLst/>
          </a:prstGeom>
          <a:noFill/>
        </p:spPr>
        <p:txBody>
          <a:bodyPr wrap="square" lIns="0" rIns="0" tIns="0" bIns="0" anchor="ctr">
            <a:spAutoFit/>
          </a:bodyPr>
          <a:lstStyle/>
          <a:p>
            <a:pPr algn="l"/>
            <a:r>
              <a:rPr sz="1300" b="0" i="0">
                <a:solidFill>
                  <a:srgbClr val="20343D"/>
                </a:solidFill>
                <a:latin typeface="Calibri"/>
              </a:rPr>
              <a:t>Lead-source funnel: lead → SPK → DO</a:t>
            </a:r>
          </a:p>
        </p:txBody>
      </p:sp>
      <p:sp>
        <p:nvSpPr>
          <p:cNvPr id="19" name="Oval 18"/>
          <p:cNvSpPr/>
          <p:nvPr/>
        </p:nvSpPr>
        <p:spPr>
          <a:xfrm>
            <a:off x="8503920" y="5221224"/>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8</a:t>
            </a:r>
          </a:p>
        </p:txBody>
      </p:sp>
      <p:sp>
        <p:nvSpPr>
          <p:cNvPr id="20" name="TextBox 19"/>
          <p:cNvSpPr txBox="1"/>
          <p:nvPr/>
        </p:nvSpPr>
        <p:spPr>
          <a:xfrm>
            <a:off x="8961120" y="5184648"/>
            <a:ext cx="2679192" cy="457200"/>
          </a:xfrm>
          <a:prstGeom prst="rect">
            <a:avLst/>
          </a:prstGeom>
          <a:noFill/>
        </p:spPr>
        <p:txBody>
          <a:bodyPr wrap="square" lIns="0" rIns="0" tIns="0" bIns="0" anchor="ctr">
            <a:spAutoFit/>
          </a:bodyPr>
          <a:lstStyle/>
          <a:p>
            <a:pPr algn="l"/>
            <a:r>
              <a:rPr sz="1300" b="0" i="0">
                <a:solidFill>
                  <a:srgbClr val="20343D"/>
                </a:solidFill>
                <a:latin typeface="Calibri"/>
              </a:rPr>
              <a:t>Leaderboard sales</a:t>
            </a:r>
          </a:p>
        </p:txBody>
      </p:sp>
      <p:sp>
        <p:nvSpPr>
          <p:cNvPr id="21" name="Oval 20"/>
          <p:cNvSpPr/>
          <p:nvPr/>
        </p:nvSpPr>
        <p:spPr>
          <a:xfrm>
            <a:off x="8503920" y="5742431"/>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9</a:t>
            </a:r>
          </a:p>
        </p:txBody>
      </p:sp>
      <p:sp>
        <p:nvSpPr>
          <p:cNvPr id="22" name="TextBox 21"/>
          <p:cNvSpPr txBox="1"/>
          <p:nvPr/>
        </p:nvSpPr>
        <p:spPr>
          <a:xfrm>
            <a:off x="8961120" y="5705855"/>
            <a:ext cx="2679192" cy="457200"/>
          </a:xfrm>
          <a:prstGeom prst="rect">
            <a:avLst/>
          </a:prstGeom>
          <a:noFill/>
        </p:spPr>
        <p:txBody>
          <a:bodyPr wrap="square" lIns="0" rIns="0" tIns="0" bIns="0" anchor="ctr">
            <a:spAutoFit/>
          </a:bodyPr>
          <a:lstStyle/>
          <a:p>
            <a:pPr algn="l"/>
            <a:r>
              <a:rPr sz="1300" b="0" i="0">
                <a:solidFill>
                  <a:srgbClr val="20343D"/>
                </a:solidFill>
                <a:latin typeface="Calibri"/>
              </a:rPr>
              <a:t>Panel alur data &amp; integrasi</a:t>
            </a:r>
          </a:p>
        </p:txBody>
      </p:sp>
      <p:sp>
        <p:nvSpPr>
          <p:cNvPr id="23" name="TextBox 22"/>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24" name="TextBox 23"/>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PROTOTYPE · UI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CRM Overview dan Omnichannel Inbox dalam satu workspace</a:t>
            </a:r>
          </a:p>
        </p:txBody>
      </p:sp>
      <p:pic>
        <p:nvPicPr>
          <p:cNvPr id="4" name="Screenshot CRM Overview" descr="crm-overview.png"/>
          <p:cNvPicPr>
            <a:picLocks noChangeAspect="1"/>
          </p:cNvPicPr>
          <p:nvPr/>
        </p:nvPicPr>
        <p:blipFill>
          <a:blip r:embed="rId2"/>
          <a:stretch>
            <a:fillRect/>
          </a:stretch>
        </p:blipFill>
        <p:spPr>
          <a:xfrm>
            <a:off x="548640" y="1808797"/>
            <a:ext cx="5404104" cy="3377565"/>
          </a:xfrm>
          <a:prstGeom prst="rect">
            <a:avLst/>
          </a:prstGeom>
          <a:ln w="12700">
            <a:solidFill>
              <a:srgbClr val="E7EBE9"/>
            </a:solidFill>
          </a:ln>
        </p:spPr>
      </p:pic>
      <p:sp>
        <p:nvSpPr>
          <p:cNvPr id="5" name="TextBox 4"/>
          <p:cNvSpPr txBox="1"/>
          <p:nvPr/>
        </p:nvSpPr>
        <p:spPr>
          <a:xfrm>
            <a:off x="548640" y="5596128"/>
            <a:ext cx="5404104" cy="274320"/>
          </a:xfrm>
          <a:prstGeom prst="rect">
            <a:avLst/>
          </a:prstGeom>
          <a:noFill/>
        </p:spPr>
        <p:txBody>
          <a:bodyPr wrap="square" lIns="0" rIns="0" tIns="0" bIns="0" anchor="t">
            <a:spAutoFit/>
          </a:bodyPr>
          <a:lstStyle/>
          <a:p>
            <a:pPr algn="l"/>
            <a:r>
              <a:rPr sz="1400" b="1" i="0">
                <a:solidFill>
                  <a:srgbClr val="20343D"/>
                </a:solidFill>
                <a:latin typeface="Calibri"/>
              </a:rPr>
              <a:t>CRM Overview</a:t>
            </a:r>
          </a:p>
        </p:txBody>
      </p:sp>
      <p:sp>
        <p:nvSpPr>
          <p:cNvPr id="6" name="TextBox 5"/>
          <p:cNvSpPr txBox="1"/>
          <p:nvPr/>
        </p:nvSpPr>
        <p:spPr>
          <a:xfrm>
            <a:off x="548640" y="5897880"/>
            <a:ext cx="5404104" cy="411480"/>
          </a:xfrm>
          <a:prstGeom prst="rect">
            <a:avLst/>
          </a:prstGeom>
          <a:noFill/>
        </p:spPr>
        <p:txBody>
          <a:bodyPr wrap="square" lIns="0" rIns="0" tIns="0" bIns="0" anchor="t">
            <a:spAutoFit/>
          </a:bodyPr>
          <a:lstStyle/>
          <a:p>
            <a:pPr algn="l"/>
            <a:r>
              <a:rPr sz="1200" b="0" i="0">
                <a:solidFill>
                  <a:srgbClr val="5F6F74"/>
                </a:solidFill>
                <a:latin typeface="Calibri"/>
              </a:rPr>
              <a:t>Inquiry vs lead unik, pipeline, konversi, SLA respons manusia</a:t>
            </a:r>
          </a:p>
        </p:txBody>
      </p:sp>
      <p:pic>
        <p:nvPicPr>
          <p:cNvPr id="7" name="Screenshot Omnichannel Inbox" descr="inbox.png"/>
          <p:cNvPicPr>
            <a:picLocks noChangeAspect="1"/>
          </p:cNvPicPr>
          <p:nvPr/>
        </p:nvPicPr>
        <p:blipFill>
          <a:blip r:embed="rId3"/>
          <a:stretch>
            <a:fillRect/>
          </a:stretch>
        </p:blipFill>
        <p:spPr>
          <a:xfrm>
            <a:off x="6236207" y="1808797"/>
            <a:ext cx="5404104" cy="3377565"/>
          </a:xfrm>
          <a:prstGeom prst="rect">
            <a:avLst/>
          </a:prstGeom>
          <a:ln w="12700">
            <a:solidFill>
              <a:srgbClr val="E7EBE9"/>
            </a:solidFill>
          </a:ln>
        </p:spPr>
      </p:pic>
      <p:sp>
        <p:nvSpPr>
          <p:cNvPr id="8" name="TextBox 7"/>
          <p:cNvSpPr txBox="1"/>
          <p:nvPr/>
        </p:nvSpPr>
        <p:spPr>
          <a:xfrm>
            <a:off x="6236207" y="5596128"/>
            <a:ext cx="5404104" cy="274320"/>
          </a:xfrm>
          <a:prstGeom prst="rect">
            <a:avLst/>
          </a:prstGeom>
          <a:noFill/>
        </p:spPr>
        <p:txBody>
          <a:bodyPr wrap="square" lIns="0" rIns="0" tIns="0" bIns="0" anchor="t">
            <a:spAutoFit/>
          </a:bodyPr>
          <a:lstStyle/>
          <a:p>
            <a:pPr algn="l"/>
            <a:r>
              <a:rPr sz="1400" b="1" i="0">
                <a:solidFill>
                  <a:srgbClr val="20343D"/>
                </a:solidFill>
                <a:latin typeface="Calibri"/>
              </a:rPr>
              <a:t>Omnichannel Inbox</a:t>
            </a:r>
          </a:p>
        </p:txBody>
      </p:sp>
      <p:sp>
        <p:nvSpPr>
          <p:cNvPr id="9" name="TextBox 8"/>
          <p:cNvSpPr txBox="1"/>
          <p:nvPr/>
        </p:nvSpPr>
        <p:spPr>
          <a:xfrm>
            <a:off x="6236207" y="5897880"/>
            <a:ext cx="5404104" cy="411480"/>
          </a:xfrm>
          <a:prstGeom prst="rect">
            <a:avLst/>
          </a:prstGeom>
          <a:noFill/>
        </p:spPr>
        <p:txBody>
          <a:bodyPr wrap="square" lIns="0" rIns="0" tIns="0" bIns="0" anchor="t">
            <a:spAutoFit/>
          </a:bodyPr>
          <a:lstStyle/>
          <a:p>
            <a:pPr algn="l"/>
            <a:r>
              <a:rPr sz="1200" b="0" i="0">
                <a:solidFill>
                  <a:srgbClr val="5F6F74"/>
                </a:solidFill>
                <a:latin typeface="Calibri"/>
              </a:rPr>
              <a:t>Shared inbox lintas channel dengan draft AI yang wajib ditinjau</a:t>
            </a:r>
          </a:p>
        </p:txBody>
      </p:sp>
      <p:sp>
        <p:nvSpPr>
          <p:cNvPr id="10" name="TextBox 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11" name="TextBox 1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PROTOTYPE · UI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Journey Automation dan AI Playbook</a:t>
            </a:r>
          </a:p>
        </p:txBody>
      </p:sp>
      <p:pic>
        <p:nvPicPr>
          <p:cNvPr id="4" name="Screenshot Journey Automation" descr="journey.png"/>
          <p:cNvPicPr>
            <a:picLocks noChangeAspect="1"/>
          </p:cNvPicPr>
          <p:nvPr/>
        </p:nvPicPr>
        <p:blipFill>
          <a:blip r:embed="rId2"/>
          <a:stretch>
            <a:fillRect/>
          </a:stretch>
        </p:blipFill>
        <p:spPr>
          <a:xfrm>
            <a:off x="548640" y="1808797"/>
            <a:ext cx="5404104" cy="3377565"/>
          </a:xfrm>
          <a:prstGeom prst="rect">
            <a:avLst/>
          </a:prstGeom>
          <a:ln w="12700">
            <a:solidFill>
              <a:srgbClr val="E7EBE9"/>
            </a:solidFill>
          </a:ln>
        </p:spPr>
      </p:pic>
      <p:sp>
        <p:nvSpPr>
          <p:cNvPr id="5" name="TextBox 4"/>
          <p:cNvSpPr txBox="1"/>
          <p:nvPr/>
        </p:nvSpPr>
        <p:spPr>
          <a:xfrm>
            <a:off x="548640" y="5596128"/>
            <a:ext cx="5404104" cy="274320"/>
          </a:xfrm>
          <a:prstGeom prst="rect">
            <a:avLst/>
          </a:prstGeom>
          <a:noFill/>
        </p:spPr>
        <p:txBody>
          <a:bodyPr wrap="square" lIns="0" rIns="0" tIns="0" bIns="0" anchor="t">
            <a:spAutoFit/>
          </a:bodyPr>
          <a:lstStyle/>
          <a:p>
            <a:pPr algn="l"/>
            <a:r>
              <a:rPr sz="1400" b="1" i="0">
                <a:solidFill>
                  <a:srgbClr val="20343D"/>
                </a:solidFill>
                <a:latin typeface="Calibri"/>
              </a:rPr>
              <a:t>Journey Automation</a:t>
            </a:r>
          </a:p>
        </p:txBody>
      </p:sp>
      <p:sp>
        <p:nvSpPr>
          <p:cNvPr id="6" name="TextBox 5"/>
          <p:cNvSpPr txBox="1"/>
          <p:nvPr/>
        </p:nvSpPr>
        <p:spPr>
          <a:xfrm>
            <a:off x="548640" y="5897880"/>
            <a:ext cx="5404104" cy="411480"/>
          </a:xfrm>
          <a:prstGeom prst="rect">
            <a:avLst/>
          </a:prstGeom>
          <a:noFill/>
        </p:spPr>
        <p:txBody>
          <a:bodyPr wrap="square" lIns="0" rIns="0" tIns="0" bIns="0" anchor="t">
            <a:spAutoFit/>
          </a:bodyPr>
          <a:lstStyle/>
          <a:p>
            <a:pPr algn="l"/>
            <a:r>
              <a:rPr sz="1200" b="0" i="0">
                <a:solidFill>
                  <a:srgbClr val="5F6F74"/>
                </a:solidFill>
                <a:latin typeface="Calibri"/>
              </a:rPr>
              <a:t>Journey standar dengan aturan routing, SLA, dan suppression</a:t>
            </a:r>
          </a:p>
        </p:txBody>
      </p:sp>
      <p:pic>
        <p:nvPicPr>
          <p:cNvPr id="7" name="Screenshot AI Playbook" descr="ai-playbook.png"/>
          <p:cNvPicPr>
            <a:picLocks noChangeAspect="1"/>
          </p:cNvPicPr>
          <p:nvPr/>
        </p:nvPicPr>
        <p:blipFill>
          <a:blip r:embed="rId3"/>
          <a:stretch>
            <a:fillRect/>
          </a:stretch>
        </p:blipFill>
        <p:spPr>
          <a:xfrm>
            <a:off x="6236207" y="1808797"/>
            <a:ext cx="5404104" cy="3377565"/>
          </a:xfrm>
          <a:prstGeom prst="rect">
            <a:avLst/>
          </a:prstGeom>
          <a:ln w="12700">
            <a:solidFill>
              <a:srgbClr val="E7EBE9"/>
            </a:solidFill>
          </a:ln>
        </p:spPr>
      </p:pic>
      <p:sp>
        <p:nvSpPr>
          <p:cNvPr id="8" name="TextBox 7"/>
          <p:cNvSpPr txBox="1"/>
          <p:nvPr/>
        </p:nvSpPr>
        <p:spPr>
          <a:xfrm>
            <a:off x="6236207" y="5596128"/>
            <a:ext cx="5404104" cy="274320"/>
          </a:xfrm>
          <a:prstGeom prst="rect">
            <a:avLst/>
          </a:prstGeom>
          <a:noFill/>
        </p:spPr>
        <p:txBody>
          <a:bodyPr wrap="square" lIns="0" rIns="0" tIns="0" bIns="0" anchor="t">
            <a:spAutoFit/>
          </a:bodyPr>
          <a:lstStyle/>
          <a:p>
            <a:pPr algn="l"/>
            <a:r>
              <a:rPr sz="1400" b="1" i="0">
                <a:solidFill>
                  <a:srgbClr val="20343D"/>
                </a:solidFill>
                <a:latin typeface="Calibri"/>
              </a:rPr>
              <a:t>AI Playbook</a:t>
            </a:r>
          </a:p>
        </p:txBody>
      </p:sp>
      <p:sp>
        <p:nvSpPr>
          <p:cNvPr id="9" name="TextBox 8"/>
          <p:cNvSpPr txBox="1"/>
          <p:nvPr/>
        </p:nvSpPr>
        <p:spPr>
          <a:xfrm>
            <a:off x="6236207" y="5897880"/>
            <a:ext cx="5404104" cy="411480"/>
          </a:xfrm>
          <a:prstGeom prst="rect">
            <a:avLst/>
          </a:prstGeom>
          <a:noFill/>
        </p:spPr>
        <p:txBody>
          <a:bodyPr wrap="square" lIns="0" rIns="0" tIns="0" bIns="0" anchor="t">
            <a:spAutoFit/>
          </a:bodyPr>
          <a:lstStyle/>
          <a:p>
            <a:pPr algn="l"/>
            <a:r>
              <a:rPr sz="1200" b="0" i="0">
                <a:solidFill>
                  <a:srgbClr val="5F6F74"/>
                </a:solidFill>
                <a:latin typeface="Calibri"/>
              </a:rPr>
              <a:t>AI yang sudah diterapkan, portofolio usulan, dan governance</a:t>
            </a:r>
          </a:p>
        </p:txBody>
      </p:sp>
      <p:sp>
        <p:nvSpPr>
          <p:cNvPr id="10" name="TextBox 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11" name="TextBox 1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PENGGUNAAN AI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AI sebagai asisten sales, dengan manusia tetap memutuskan</a:t>
            </a:r>
          </a:p>
        </p:txBody>
      </p:sp>
      <p:sp>
        <p:nvSpPr>
          <p:cNvPr id="4" name="Rounded Rectangle 3"/>
          <p:cNvSpPr/>
          <p:nvPr/>
        </p:nvSpPr>
        <p:spPr>
          <a:xfrm>
            <a:off x="548640" y="1554480"/>
            <a:ext cx="3931920" cy="4617720"/>
          </a:xfrm>
          <a:prstGeom prst="roundRect">
            <a:avLst>
              <a:gd name="adj" fmla="val 8000"/>
            </a:avLst>
          </a:prstGeom>
          <a:solidFill>
            <a:srgbClr val="152D36"/>
          </a:solidFill>
          <a:ln>
            <a:noFill/>
          </a:ln>
        </p:spPr>
        <p:txBody>
          <a:bodyPr rtlCol="0" anchor="ctr"/>
          <a:lstStyle/>
          <a:p/>
        </p:txBody>
      </p:sp>
      <p:sp>
        <p:nvSpPr>
          <p:cNvPr id="5" name="TextBox 4"/>
          <p:cNvSpPr txBox="1"/>
          <p:nvPr/>
        </p:nvSpPr>
        <p:spPr>
          <a:xfrm>
            <a:off x="777240" y="1737360"/>
            <a:ext cx="3566160" cy="274320"/>
          </a:xfrm>
          <a:prstGeom prst="rect">
            <a:avLst/>
          </a:prstGeom>
          <a:noFill/>
        </p:spPr>
        <p:txBody>
          <a:bodyPr wrap="square" lIns="0" rIns="0" tIns="0" bIns="0" anchor="t">
            <a:spAutoFit/>
          </a:bodyPr>
          <a:lstStyle/>
          <a:p>
            <a:pPr algn="l"/>
            <a:r>
              <a:rPr sz="1100" b="1" i="0">
                <a:solidFill>
                  <a:srgbClr val="A8D3B5"/>
                </a:solidFill>
                <a:latin typeface="Calibri"/>
              </a:rPr>
              <a:t>SUDAH DITERAPKAN DI PROTOTYPE</a:t>
            </a:r>
          </a:p>
        </p:txBody>
      </p:sp>
      <p:sp>
        <p:nvSpPr>
          <p:cNvPr id="6" name="TextBox 5"/>
          <p:cNvSpPr txBox="1"/>
          <p:nvPr/>
        </p:nvSpPr>
        <p:spPr>
          <a:xfrm>
            <a:off x="777240" y="2057400"/>
            <a:ext cx="3566160" cy="640080"/>
          </a:xfrm>
          <a:prstGeom prst="rect">
            <a:avLst/>
          </a:prstGeom>
          <a:noFill/>
        </p:spPr>
        <p:txBody>
          <a:bodyPr wrap="square" lIns="0" rIns="0" tIns="0" bIns="0" anchor="t">
            <a:spAutoFit/>
          </a:bodyPr>
          <a:lstStyle/>
          <a:p>
            <a:pPr algn="l"/>
            <a:r>
              <a:rPr sz="1700" b="1" i="0">
                <a:solidFill>
                  <a:srgbClr val="FFFFFF"/>
                </a:solidFill>
                <a:latin typeface="Calibri"/>
              </a:rPr>
              <a:t>Draft follow-up dengan DeepSeek melalui Go backend</a:t>
            </a:r>
          </a:p>
        </p:txBody>
      </p:sp>
      <p:sp>
        <p:nvSpPr>
          <p:cNvPr id="7" name="TextBox 6"/>
          <p:cNvSpPr txBox="1"/>
          <p:nvPr/>
        </p:nvSpPr>
        <p:spPr>
          <a:xfrm>
            <a:off x="777240" y="2852928"/>
            <a:ext cx="3520440" cy="3200400"/>
          </a:xfrm>
          <a:prstGeom prst="rect">
            <a:avLst/>
          </a:prstGeom>
          <a:noFill/>
        </p:spPr>
        <p:txBody>
          <a:bodyPr wrap="square" lIns="0" rIns="0" tIns="0" bIns="0" anchor="t">
            <a:spAutoFit/>
          </a:bodyPr>
          <a:lstStyle/>
          <a:p>
            <a:pPr algn="l" marL="201168" indent="-201168">
              <a:spcAft>
                <a:spcPts val="600"/>
              </a:spcAft>
              <a:buClr>
                <a:srgbClr val="A8D3B5"/>
              </a:buClr>
              <a:buFont typeface="Arial"/>
              <a:buChar char="•"/>
            </a:pPr>
            <a:r>
              <a:rPr sz="1400" b="0" i="0">
                <a:solidFill>
                  <a:srgbClr val="FFFFFF"/>
                </a:solidFill>
                <a:latin typeface="Calibri"/>
              </a:rPr>
              <a:t>API key hanya di server</a:t>
            </a:r>
          </a:p>
          <a:p>
            <a:pPr algn="l" marL="201168" indent="-201168">
              <a:spcAft>
                <a:spcPts val="600"/>
              </a:spcAft>
              <a:buClr>
                <a:srgbClr val="A8D3B5"/>
              </a:buClr>
              <a:buFont typeface="Arial"/>
              <a:buChar char="•"/>
            </a:pPr>
            <a:r>
              <a:rPr sz="1400" b="0" i="0">
                <a:solidFill>
                  <a:srgbClr val="FFFFFF"/>
                </a:solidFill>
                <a:latin typeface="Calibri"/>
              </a:rPr>
              <a:t>Hanya label produk &amp; intent yang keluar — tanpa nama, nomor, atau chat mentah</a:t>
            </a:r>
          </a:p>
          <a:p>
            <a:pPr algn="l" marL="201168" indent="-201168">
              <a:spcAft>
                <a:spcPts val="600"/>
              </a:spcAft>
              <a:buClr>
                <a:srgbClr val="A8D3B5"/>
              </a:buClr>
              <a:buFont typeface="Arial"/>
              <a:buChar char="•"/>
            </a:pPr>
            <a:r>
              <a:rPr sz="1400" b="0" i="0">
                <a:solidFill>
                  <a:srgbClr val="FFFFFF"/>
                </a:solidFill>
                <a:latin typeface="Calibri"/>
              </a:rPr>
              <a:t>Tidak boleh mengarang harga, stok, diskon, kredit</a:t>
            </a:r>
          </a:p>
          <a:p>
            <a:pPr algn="l" marL="201168" indent="-201168">
              <a:spcAft>
                <a:spcPts val="600"/>
              </a:spcAft>
              <a:buClr>
                <a:srgbClr val="A8D3B5"/>
              </a:buClr>
              <a:buFont typeface="Arial"/>
              <a:buChar char="•"/>
            </a:pPr>
            <a:r>
              <a:rPr sz="1400" b="0" i="0">
                <a:solidFill>
                  <a:srgbClr val="FFFFFF"/>
                </a:solidFill>
                <a:latin typeface="Calibri"/>
              </a:rPr>
              <a:t>Wajib ditinjau sales sebelum dikirim</a:t>
            </a:r>
          </a:p>
          <a:p>
            <a:pPr algn="l" marL="201168" indent="-201168">
              <a:spcAft>
                <a:spcPts val="600"/>
              </a:spcAft>
              <a:buClr>
                <a:srgbClr val="A8D3B5"/>
              </a:buClr>
              <a:buFont typeface="Arial"/>
              <a:buChar char="•"/>
            </a:pPr>
            <a:r>
              <a:rPr sz="1400" b="0" i="0">
                <a:solidFill>
                  <a:srgbClr val="FFFFFF"/>
                </a:solidFill>
                <a:latin typeface="Calibri"/>
              </a:rPr>
              <a:t>Fallback template berlabel bila tanpa key</a:t>
            </a:r>
          </a:p>
        </p:txBody>
      </p:sp>
      <p:sp>
        <p:nvSpPr>
          <p:cNvPr id="8" name="TextBox 7"/>
          <p:cNvSpPr txBox="1"/>
          <p:nvPr/>
        </p:nvSpPr>
        <p:spPr>
          <a:xfrm>
            <a:off x="777240" y="5486400"/>
            <a:ext cx="3520440" cy="548640"/>
          </a:xfrm>
          <a:prstGeom prst="rect">
            <a:avLst/>
          </a:prstGeom>
          <a:noFill/>
        </p:spPr>
        <p:txBody>
          <a:bodyPr wrap="square" lIns="0" rIns="0" tIns="0" bIns="0" anchor="t">
            <a:spAutoFit/>
          </a:bodyPr>
          <a:lstStyle/>
          <a:p>
            <a:pPr algn="l"/>
            <a:r>
              <a:rPr sz="1200" b="0" i="0">
                <a:solidFill>
                  <a:srgbClr val="A8D3B5"/>
                </a:solidFill>
                <a:latin typeface="Calibri"/>
              </a:rPr>
              <a:t>Coba di prototype: Omnichannel Inbox → “Draft dengan DeepSeek”</a:t>
            </a:r>
          </a:p>
        </p:txBody>
      </p:sp>
      <p:sp>
        <p:nvSpPr>
          <p:cNvPr id="9" name="TextBox 8"/>
          <p:cNvSpPr txBox="1"/>
          <p:nvPr/>
        </p:nvSpPr>
        <p:spPr>
          <a:xfrm>
            <a:off x="4709160" y="1572768"/>
            <a:ext cx="2194560" cy="274320"/>
          </a:xfrm>
          <a:prstGeom prst="rect">
            <a:avLst/>
          </a:prstGeom>
          <a:noFill/>
        </p:spPr>
        <p:txBody>
          <a:bodyPr wrap="square" lIns="0" rIns="0" tIns="0" bIns="0" anchor="t">
            <a:spAutoFit/>
          </a:bodyPr>
          <a:lstStyle/>
          <a:p>
            <a:pPr algn="l"/>
            <a:r>
              <a:rPr sz="1200" b="1" i="0">
                <a:solidFill>
                  <a:srgbClr val="177F6C"/>
                </a:solidFill>
                <a:latin typeface="Calibri"/>
              </a:rPr>
              <a:t>PILOT</a:t>
            </a:r>
          </a:p>
        </p:txBody>
      </p:sp>
      <p:sp>
        <p:nvSpPr>
          <p:cNvPr id="10" name="Rounded Rectangle 9"/>
          <p:cNvSpPr/>
          <p:nvPr/>
        </p:nvSpPr>
        <p:spPr>
          <a:xfrm>
            <a:off x="4709160" y="1920240"/>
            <a:ext cx="2194560" cy="731520"/>
          </a:xfrm>
          <a:prstGeom prst="roundRect">
            <a:avLst>
              <a:gd name="adj" fmla="val 8000"/>
            </a:avLst>
          </a:prstGeom>
          <a:solidFill>
            <a:srgbClr val="E9F4EF"/>
          </a:solidFill>
          <a:ln>
            <a:noFill/>
          </a:ln>
        </p:spPr>
        <p:txBody>
          <a:bodyPr rtlCol="0" anchor="ctr"/>
          <a:lstStyle/>
          <a:p/>
        </p:txBody>
      </p:sp>
      <p:sp>
        <p:nvSpPr>
          <p:cNvPr id="11" name="TextBox 10"/>
          <p:cNvSpPr txBox="1"/>
          <p:nvPr/>
        </p:nvSpPr>
        <p:spPr>
          <a:xfrm>
            <a:off x="4846320" y="1920240"/>
            <a:ext cx="1938528" cy="731520"/>
          </a:xfrm>
          <a:prstGeom prst="rect">
            <a:avLst/>
          </a:prstGeom>
          <a:noFill/>
        </p:spPr>
        <p:txBody>
          <a:bodyPr wrap="square" lIns="0" rIns="0" tIns="0" bIns="0" anchor="ctr">
            <a:spAutoFit/>
          </a:bodyPr>
          <a:lstStyle/>
          <a:p>
            <a:pPr algn="l"/>
            <a:r>
              <a:rPr sz="1200" b="0" i="0">
                <a:solidFill>
                  <a:srgbClr val="20343D"/>
                </a:solidFill>
                <a:latin typeface="Calibri"/>
              </a:rPr>
              <a:t>Ekstraksi intent &amp; entitas dari chat</a:t>
            </a:r>
          </a:p>
        </p:txBody>
      </p:sp>
      <p:sp>
        <p:nvSpPr>
          <p:cNvPr id="12" name="Rounded Rectangle 11"/>
          <p:cNvSpPr/>
          <p:nvPr/>
        </p:nvSpPr>
        <p:spPr>
          <a:xfrm>
            <a:off x="4709160" y="2770632"/>
            <a:ext cx="2194560" cy="731520"/>
          </a:xfrm>
          <a:prstGeom prst="roundRect">
            <a:avLst>
              <a:gd name="adj" fmla="val 8000"/>
            </a:avLst>
          </a:prstGeom>
          <a:solidFill>
            <a:srgbClr val="E9F4EF"/>
          </a:solidFill>
          <a:ln>
            <a:noFill/>
          </a:ln>
        </p:spPr>
        <p:txBody>
          <a:bodyPr rtlCol="0" anchor="ctr"/>
          <a:lstStyle/>
          <a:p/>
        </p:txBody>
      </p:sp>
      <p:sp>
        <p:nvSpPr>
          <p:cNvPr id="13" name="TextBox 12"/>
          <p:cNvSpPr txBox="1"/>
          <p:nvPr/>
        </p:nvSpPr>
        <p:spPr>
          <a:xfrm>
            <a:off x="4846320" y="2770632"/>
            <a:ext cx="1938528" cy="731520"/>
          </a:xfrm>
          <a:prstGeom prst="rect">
            <a:avLst/>
          </a:prstGeom>
          <a:noFill/>
        </p:spPr>
        <p:txBody>
          <a:bodyPr wrap="square" lIns="0" rIns="0" tIns="0" bIns="0" anchor="ctr">
            <a:spAutoFit/>
          </a:bodyPr>
          <a:lstStyle/>
          <a:p>
            <a:pPr algn="l"/>
            <a:r>
              <a:rPr sz="1200" b="0" i="0">
                <a:solidFill>
                  <a:srgbClr val="20343D"/>
                </a:solidFill>
                <a:latin typeface="Calibri"/>
              </a:rPr>
              <a:t>Ringkasan percakapan saat handover</a:t>
            </a:r>
          </a:p>
        </p:txBody>
      </p:sp>
      <p:sp>
        <p:nvSpPr>
          <p:cNvPr id="14" name="Rounded Rectangle 13"/>
          <p:cNvSpPr/>
          <p:nvPr/>
        </p:nvSpPr>
        <p:spPr>
          <a:xfrm>
            <a:off x="4709160" y="3621024"/>
            <a:ext cx="2194560" cy="731520"/>
          </a:xfrm>
          <a:prstGeom prst="roundRect">
            <a:avLst>
              <a:gd name="adj" fmla="val 8000"/>
            </a:avLst>
          </a:prstGeom>
          <a:solidFill>
            <a:srgbClr val="E9F4EF"/>
          </a:solidFill>
          <a:ln>
            <a:noFill/>
          </a:ln>
        </p:spPr>
        <p:txBody>
          <a:bodyPr rtlCol="0" anchor="ctr"/>
          <a:lstStyle/>
          <a:p/>
        </p:txBody>
      </p:sp>
      <p:sp>
        <p:nvSpPr>
          <p:cNvPr id="15" name="TextBox 14"/>
          <p:cNvSpPr txBox="1"/>
          <p:nvPr/>
        </p:nvSpPr>
        <p:spPr>
          <a:xfrm>
            <a:off x="4846320" y="3621024"/>
            <a:ext cx="1938528" cy="731520"/>
          </a:xfrm>
          <a:prstGeom prst="rect">
            <a:avLst/>
          </a:prstGeom>
          <a:noFill/>
        </p:spPr>
        <p:txBody>
          <a:bodyPr wrap="square" lIns="0" rIns="0" tIns="0" bIns="0" anchor="ctr">
            <a:spAutoFit/>
          </a:bodyPr>
          <a:lstStyle/>
          <a:p>
            <a:pPr algn="l"/>
            <a:r>
              <a:rPr sz="1200" b="0" i="0">
                <a:solidFill>
                  <a:srgbClr val="20343D"/>
                </a:solidFill>
                <a:latin typeface="Calibri"/>
              </a:rPr>
              <a:t>Draft balasan dengan RAG (price list, promo, stok)</a:t>
            </a:r>
          </a:p>
        </p:txBody>
      </p:sp>
      <p:sp>
        <p:nvSpPr>
          <p:cNvPr id="16" name="TextBox 15"/>
          <p:cNvSpPr txBox="1"/>
          <p:nvPr/>
        </p:nvSpPr>
        <p:spPr>
          <a:xfrm>
            <a:off x="7050024" y="1572768"/>
            <a:ext cx="2194560" cy="274320"/>
          </a:xfrm>
          <a:prstGeom prst="rect">
            <a:avLst/>
          </a:prstGeom>
          <a:noFill/>
        </p:spPr>
        <p:txBody>
          <a:bodyPr wrap="square" lIns="0" rIns="0" tIns="0" bIns="0" anchor="t">
            <a:spAutoFit/>
          </a:bodyPr>
          <a:lstStyle/>
          <a:p>
            <a:pPr algn="l"/>
            <a:r>
              <a:rPr sz="1200" b="1" i="0">
                <a:solidFill>
                  <a:srgbClr val="24414C"/>
                </a:solidFill>
                <a:latin typeface="Calibri"/>
              </a:rPr>
              <a:t>FASE 2</a:t>
            </a:r>
          </a:p>
        </p:txBody>
      </p:sp>
      <p:sp>
        <p:nvSpPr>
          <p:cNvPr id="17" name="Rounded Rectangle 16"/>
          <p:cNvSpPr/>
          <p:nvPr/>
        </p:nvSpPr>
        <p:spPr>
          <a:xfrm>
            <a:off x="7050024" y="1920240"/>
            <a:ext cx="2194560" cy="731520"/>
          </a:xfrm>
          <a:prstGeom prst="roundRect">
            <a:avLst>
              <a:gd name="adj" fmla="val 8000"/>
            </a:avLst>
          </a:prstGeom>
          <a:solidFill>
            <a:srgbClr val="F6F8F6"/>
          </a:solidFill>
          <a:ln>
            <a:noFill/>
          </a:ln>
        </p:spPr>
        <p:txBody>
          <a:bodyPr rtlCol="0" anchor="ctr"/>
          <a:lstStyle/>
          <a:p/>
        </p:txBody>
      </p:sp>
      <p:sp>
        <p:nvSpPr>
          <p:cNvPr id="18" name="TextBox 17"/>
          <p:cNvSpPr txBox="1"/>
          <p:nvPr/>
        </p:nvSpPr>
        <p:spPr>
          <a:xfrm>
            <a:off x="7187184" y="1920240"/>
            <a:ext cx="1938528" cy="731520"/>
          </a:xfrm>
          <a:prstGeom prst="rect">
            <a:avLst/>
          </a:prstGeom>
          <a:noFill/>
        </p:spPr>
        <p:txBody>
          <a:bodyPr wrap="square" lIns="0" rIns="0" tIns="0" bIns="0" anchor="ctr">
            <a:spAutoFit/>
          </a:bodyPr>
          <a:lstStyle/>
          <a:p>
            <a:pPr algn="l"/>
            <a:r>
              <a:rPr sz="1200" b="0" i="0">
                <a:solidFill>
                  <a:srgbClr val="20343D"/>
                </a:solidFill>
                <a:latin typeface="Calibri"/>
              </a:rPr>
              <a:t>Lead scoring (rules → ML histori SPK)</a:t>
            </a:r>
          </a:p>
        </p:txBody>
      </p:sp>
      <p:sp>
        <p:nvSpPr>
          <p:cNvPr id="19" name="Rounded Rectangle 18"/>
          <p:cNvSpPr/>
          <p:nvPr/>
        </p:nvSpPr>
        <p:spPr>
          <a:xfrm>
            <a:off x="7050024" y="2770632"/>
            <a:ext cx="2194560" cy="731520"/>
          </a:xfrm>
          <a:prstGeom prst="roundRect">
            <a:avLst>
              <a:gd name="adj" fmla="val 8000"/>
            </a:avLst>
          </a:prstGeom>
          <a:solidFill>
            <a:srgbClr val="F6F8F6"/>
          </a:solidFill>
          <a:ln>
            <a:noFill/>
          </a:ln>
        </p:spPr>
        <p:txBody>
          <a:bodyPr rtlCol="0" anchor="ctr"/>
          <a:lstStyle/>
          <a:p/>
        </p:txBody>
      </p:sp>
      <p:sp>
        <p:nvSpPr>
          <p:cNvPr id="20" name="TextBox 19"/>
          <p:cNvSpPr txBox="1"/>
          <p:nvPr/>
        </p:nvSpPr>
        <p:spPr>
          <a:xfrm>
            <a:off x="7187184" y="2770632"/>
            <a:ext cx="1938528" cy="731520"/>
          </a:xfrm>
          <a:prstGeom prst="rect">
            <a:avLst/>
          </a:prstGeom>
          <a:noFill/>
        </p:spPr>
        <p:txBody>
          <a:bodyPr wrap="square" lIns="0" rIns="0" tIns="0" bIns="0" anchor="ctr">
            <a:spAutoFit/>
          </a:bodyPr>
          <a:lstStyle/>
          <a:p>
            <a:pPr algn="l"/>
            <a:r>
              <a:rPr sz="1200" b="0" i="0">
                <a:solidFill>
                  <a:srgbClr val="20343D"/>
                </a:solidFill>
                <a:latin typeface="Calibri"/>
              </a:rPr>
              <a:t>Bot kualifikasi after-hours</a:t>
            </a:r>
          </a:p>
        </p:txBody>
      </p:sp>
      <p:sp>
        <p:nvSpPr>
          <p:cNvPr id="21" name="Rounded Rectangle 20"/>
          <p:cNvSpPr/>
          <p:nvPr/>
        </p:nvSpPr>
        <p:spPr>
          <a:xfrm>
            <a:off x="7050024" y="3621024"/>
            <a:ext cx="2194560" cy="731520"/>
          </a:xfrm>
          <a:prstGeom prst="roundRect">
            <a:avLst>
              <a:gd name="adj" fmla="val 8000"/>
            </a:avLst>
          </a:prstGeom>
          <a:solidFill>
            <a:srgbClr val="F6F8F6"/>
          </a:solidFill>
          <a:ln>
            <a:noFill/>
          </a:ln>
        </p:spPr>
        <p:txBody>
          <a:bodyPr rtlCol="0" anchor="ctr"/>
          <a:lstStyle/>
          <a:p/>
        </p:txBody>
      </p:sp>
      <p:sp>
        <p:nvSpPr>
          <p:cNvPr id="22" name="TextBox 21"/>
          <p:cNvSpPr txBox="1"/>
          <p:nvPr/>
        </p:nvSpPr>
        <p:spPr>
          <a:xfrm>
            <a:off x="7187184" y="3621024"/>
            <a:ext cx="1938528" cy="731520"/>
          </a:xfrm>
          <a:prstGeom prst="rect">
            <a:avLst/>
          </a:prstGeom>
          <a:noFill/>
        </p:spPr>
        <p:txBody>
          <a:bodyPr wrap="square" lIns="0" rIns="0" tIns="0" bIns="0" anchor="ctr">
            <a:spAutoFit/>
          </a:bodyPr>
          <a:lstStyle/>
          <a:p>
            <a:pPr algn="l"/>
            <a:r>
              <a:rPr sz="1200" b="0" i="0">
                <a:solidFill>
                  <a:srgbClr val="20343D"/>
                </a:solidFill>
                <a:latin typeface="Calibri"/>
              </a:rPr>
              <a:t>Next-best-action &amp; waktu follow-up</a:t>
            </a:r>
          </a:p>
        </p:txBody>
      </p:sp>
      <p:sp>
        <p:nvSpPr>
          <p:cNvPr id="23" name="Rounded Rectangle 22"/>
          <p:cNvSpPr/>
          <p:nvPr/>
        </p:nvSpPr>
        <p:spPr>
          <a:xfrm>
            <a:off x="7050024" y="4471416"/>
            <a:ext cx="2194560" cy="731520"/>
          </a:xfrm>
          <a:prstGeom prst="roundRect">
            <a:avLst>
              <a:gd name="adj" fmla="val 8000"/>
            </a:avLst>
          </a:prstGeom>
          <a:solidFill>
            <a:srgbClr val="F6F8F6"/>
          </a:solidFill>
          <a:ln>
            <a:noFill/>
          </a:ln>
        </p:spPr>
        <p:txBody>
          <a:bodyPr rtlCol="0" anchor="ctr"/>
          <a:lstStyle/>
          <a:p/>
        </p:txBody>
      </p:sp>
      <p:sp>
        <p:nvSpPr>
          <p:cNvPr id="24" name="TextBox 23"/>
          <p:cNvSpPr txBox="1"/>
          <p:nvPr/>
        </p:nvSpPr>
        <p:spPr>
          <a:xfrm>
            <a:off x="7187184" y="4471416"/>
            <a:ext cx="1938528" cy="731520"/>
          </a:xfrm>
          <a:prstGeom prst="rect">
            <a:avLst/>
          </a:prstGeom>
          <a:noFill/>
        </p:spPr>
        <p:txBody>
          <a:bodyPr wrap="square" lIns="0" rIns="0" tIns="0" bIns="0" anchor="ctr">
            <a:spAutoFit/>
          </a:bodyPr>
          <a:lstStyle/>
          <a:p>
            <a:pPr algn="l"/>
            <a:r>
              <a:rPr sz="1200" b="0" i="0">
                <a:solidFill>
                  <a:srgbClr val="20343D"/>
                </a:solidFill>
                <a:latin typeface="Calibri"/>
              </a:rPr>
              <a:t>Deteksi sentimen &amp; komplain</a:t>
            </a:r>
          </a:p>
        </p:txBody>
      </p:sp>
      <p:sp>
        <p:nvSpPr>
          <p:cNvPr id="25" name="Rounded Rectangle 24"/>
          <p:cNvSpPr/>
          <p:nvPr/>
        </p:nvSpPr>
        <p:spPr>
          <a:xfrm>
            <a:off x="7050024" y="5321808"/>
            <a:ext cx="2194560" cy="731520"/>
          </a:xfrm>
          <a:prstGeom prst="roundRect">
            <a:avLst>
              <a:gd name="adj" fmla="val 8000"/>
            </a:avLst>
          </a:prstGeom>
          <a:solidFill>
            <a:srgbClr val="F6F8F6"/>
          </a:solidFill>
          <a:ln>
            <a:noFill/>
          </a:ln>
        </p:spPr>
        <p:txBody>
          <a:bodyPr rtlCol="0" anchor="ctr"/>
          <a:lstStyle/>
          <a:p/>
        </p:txBody>
      </p:sp>
      <p:sp>
        <p:nvSpPr>
          <p:cNvPr id="26" name="TextBox 25"/>
          <p:cNvSpPr txBox="1"/>
          <p:nvPr/>
        </p:nvSpPr>
        <p:spPr>
          <a:xfrm>
            <a:off x="7187184" y="5321808"/>
            <a:ext cx="1938528" cy="731520"/>
          </a:xfrm>
          <a:prstGeom prst="rect">
            <a:avLst/>
          </a:prstGeom>
          <a:noFill/>
        </p:spPr>
        <p:txBody>
          <a:bodyPr wrap="square" lIns="0" rIns="0" tIns="0" bIns="0" anchor="ctr">
            <a:spAutoFit/>
          </a:bodyPr>
          <a:lstStyle/>
          <a:p>
            <a:pPr algn="l"/>
            <a:r>
              <a:rPr sz="1200" b="0" i="0">
                <a:solidFill>
                  <a:srgbClr val="20343D"/>
                </a:solidFill>
                <a:latin typeface="Calibri"/>
              </a:rPr>
              <a:t>Segmentasi &amp; variasi copy campaign</a:t>
            </a:r>
          </a:p>
        </p:txBody>
      </p:sp>
      <p:sp>
        <p:nvSpPr>
          <p:cNvPr id="27" name="TextBox 26"/>
          <p:cNvSpPr txBox="1"/>
          <p:nvPr/>
        </p:nvSpPr>
        <p:spPr>
          <a:xfrm>
            <a:off x="9390888" y="1572768"/>
            <a:ext cx="2194560" cy="274320"/>
          </a:xfrm>
          <a:prstGeom prst="rect">
            <a:avLst/>
          </a:prstGeom>
          <a:noFill/>
        </p:spPr>
        <p:txBody>
          <a:bodyPr wrap="square" lIns="0" rIns="0" tIns="0" bIns="0" anchor="t">
            <a:spAutoFit/>
          </a:bodyPr>
          <a:lstStyle/>
          <a:p>
            <a:pPr algn="l"/>
            <a:r>
              <a:rPr sz="1200" b="1" i="0">
                <a:solidFill>
                  <a:srgbClr val="B58235"/>
                </a:solidFill>
                <a:latin typeface="Calibri"/>
              </a:rPr>
              <a:t>FASE 3</a:t>
            </a:r>
          </a:p>
        </p:txBody>
      </p:sp>
      <p:sp>
        <p:nvSpPr>
          <p:cNvPr id="28" name="Rounded Rectangle 27"/>
          <p:cNvSpPr/>
          <p:nvPr/>
        </p:nvSpPr>
        <p:spPr>
          <a:xfrm>
            <a:off x="9390888" y="1920240"/>
            <a:ext cx="2194560" cy="731520"/>
          </a:xfrm>
          <a:prstGeom prst="roundRect">
            <a:avLst>
              <a:gd name="adj" fmla="val 8000"/>
            </a:avLst>
          </a:prstGeom>
          <a:solidFill>
            <a:srgbClr val="F6F8F6"/>
          </a:solidFill>
          <a:ln>
            <a:noFill/>
          </a:ln>
        </p:spPr>
        <p:txBody>
          <a:bodyPr rtlCol="0" anchor="ctr"/>
          <a:lstStyle/>
          <a:p/>
        </p:txBody>
      </p:sp>
      <p:sp>
        <p:nvSpPr>
          <p:cNvPr id="29" name="TextBox 28"/>
          <p:cNvSpPr txBox="1"/>
          <p:nvPr/>
        </p:nvSpPr>
        <p:spPr>
          <a:xfrm>
            <a:off x="9528048" y="1920240"/>
            <a:ext cx="1938528" cy="731520"/>
          </a:xfrm>
          <a:prstGeom prst="rect">
            <a:avLst/>
          </a:prstGeom>
          <a:noFill/>
        </p:spPr>
        <p:txBody>
          <a:bodyPr wrap="square" lIns="0" rIns="0" tIns="0" bIns="0" anchor="ctr">
            <a:spAutoFit/>
          </a:bodyPr>
          <a:lstStyle/>
          <a:p>
            <a:pPr algn="l"/>
            <a:r>
              <a:rPr sz="1200" b="0" i="0">
                <a:solidFill>
                  <a:srgbClr val="20343D"/>
                </a:solidFill>
                <a:latin typeface="Calibri"/>
              </a:rPr>
              <a:t>Forecast SPK/DO &amp; stok</a:t>
            </a:r>
          </a:p>
        </p:txBody>
      </p:sp>
      <p:sp>
        <p:nvSpPr>
          <p:cNvPr id="30" name="Rounded Rectangle 29"/>
          <p:cNvSpPr/>
          <p:nvPr/>
        </p:nvSpPr>
        <p:spPr>
          <a:xfrm>
            <a:off x="9390888" y="2770632"/>
            <a:ext cx="2194560" cy="731520"/>
          </a:xfrm>
          <a:prstGeom prst="roundRect">
            <a:avLst>
              <a:gd name="adj" fmla="val 8000"/>
            </a:avLst>
          </a:prstGeom>
          <a:solidFill>
            <a:srgbClr val="F6F8F6"/>
          </a:solidFill>
          <a:ln>
            <a:noFill/>
          </a:ln>
        </p:spPr>
        <p:txBody>
          <a:bodyPr rtlCol="0" anchor="ctr"/>
          <a:lstStyle/>
          <a:p/>
        </p:txBody>
      </p:sp>
      <p:sp>
        <p:nvSpPr>
          <p:cNvPr id="31" name="TextBox 30"/>
          <p:cNvSpPr txBox="1"/>
          <p:nvPr/>
        </p:nvSpPr>
        <p:spPr>
          <a:xfrm>
            <a:off x="9528048" y="2770632"/>
            <a:ext cx="1938528" cy="731520"/>
          </a:xfrm>
          <a:prstGeom prst="rect">
            <a:avLst/>
          </a:prstGeom>
          <a:noFill/>
        </p:spPr>
        <p:txBody>
          <a:bodyPr wrap="square" lIns="0" rIns="0" tIns="0" bIns="0" anchor="ctr">
            <a:spAutoFit/>
          </a:bodyPr>
          <a:lstStyle/>
          <a:p>
            <a:pPr algn="l"/>
            <a:r>
              <a:rPr sz="1200" b="0" i="0">
                <a:solidFill>
                  <a:srgbClr val="20343D"/>
                </a:solidFill>
                <a:latin typeface="Calibri"/>
              </a:rPr>
              <a:t>“Tanya data” NL → SQL (view rpt)</a:t>
            </a:r>
          </a:p>
        </p:txBody>
      </p:sp>
      <p:sp>
        <p:nvSpPr>
          <p:cNvPr id="32" name="Rounded Rectangle 31"/>
          <p:cNvSpPr/>
          <p:nvPr/>
        </p:nvSpPr>
        <p:spPr>
          <a:xfrm>
            <a:off x="9390888" y="3621024"/>
            <a:ext cx="2194560" cy="731520"/>
          </a:xfrm>
          <a:prstGeom prst="roundRect">
            <a:avLst>
              <a:gd name="adj" fmla="val 8000"/>
            </a:avLst>
          </a:prstGeom>
          <a:solidFill>
            <a:srgbClr val="F6F8F6"/>
          </a:solidFill>
          <a:ln>
            <a:noFill/>
          </a:ln>
        </p:spPr>
        <p:txBody>
          <a:bodyPr rtlCol="0" anchor="ctr"/>
          <a:lstStyle/>
          <a:p/>
        </p:txBody>
      </p:sp>
      <p:sp>
        <p:nvSpPr>
          <p:cNvPr id="33" name="TextBox 32"/>
          <p:cNvSpPr txBox="1"/>
          <p:nvPr/>
        </p:nvSpPr>
        <p:spPr>
          <a:xfrm>
            <a:off x="9528048" y="3621024"/>
            <a:ext cx="1938528" cy="731520"/>
          </a:xfrm>
          <a:prstGeom prst="rect">
            <a:avLst/>
          </a:prstGeom>
          <a:noFill/>
        </p:spPr>
        <p:txBody>
          <a:bodyPr wrap="square" lIns="0" rIns="0" tIns="0" bIns="0" anchor="ctr">
            <a:spAutoFit/>
          </a:bodyPr>
          <a:lstStyle/>
          <a:p>
            <a:pPr algn="l"/>
            <a:r>
              <a:rPr sz="1200" b="0" i="0">
                <a:solidFill>
                  <a:srgbClr val="20343D"/>
                </a:solidFill>
                <a:latin typeface="Calibri"/>
              </a:rPr>
              <a:t>OCR KTP/NPWP/dokumen kredit</a:t>
            </a:r>
          </a:p>
        </p:txBody>
      </p:sp>
      <p:sp>
        <p:nvSpPr>
          <p:cNvPr id="34" name="Rounded Rectangle 33"/>
          <p:cNvSpPr/>
          <p:nvPr/>
        </p:nvSpPr>
        <p:spPr>
          <a:xfrm>
            <a:off x="9390888" y="4471416"/>
            <a:ext cx="2194560" cy="731520"/>
          </a:xfrm>
          <a:prstGeom prst="roundRect">
            <a:avLst>
              <a:gd name="adj" fmla="val 8000"/>
            </a:avLst>
          </a:prstGeom>
          <a:solidFill>
            <a:srgbClr val="F6F8F6"/>
          </a:solidFill>
          <a:ln>
            <a:noFill/>
          </a:ln>
        </p:spPr>
        <p:txBody>
          <a:bodyPr rtlCol="0" anchor="ctr"/>
          <a:lstStyle/>
          <a:p/>
        </p:txBody>
      </p:sp>
      <p:sp>
        <p:nvSpPr>
          <p:cNvPr id="35" name="TextBox 34"/>
          <p:cNvSpPr txBox="1"/>
          <p:nvPr/>
        </p:nvSpPr>
        <p:spPr>
          <a:xfrm>
            <a:off x="9528048" y="4471416"/>
            <a:ext cx="1938528" cy="731520"/>
          </a:xfrm>
          <a:prstGeom prst="rect">
            <a:avLst/>
          </a:prstGeom>
          <a:noFill/>
        </p:spPr>
        <p:txBody>
          <a:bodyPr wrap="square" lIns="0" rIns="0" tIns="0" bIns="0" anchor="ctr">
            <a:spAutoFit/>
          </a:bodyPr>
          <a:lstStyle/>
          <a:p>
            <a:pPr algn="l"/>
            <a:r>
              <a:rPr sz="1200" b="0" i="0">
                <a:solidFill>
                  <a:srgbClr val="20343D"/>
                </a:solidFill>
                <a:latin typeface="Calibri"/>
              </a:rPr>
              <a:t>Voice note → CRM</a:t>
            </a:r>
          </a:p>
        </p:txBody>
      </p:sp>
      <p:sp>
        <p:nvSpPr>
          <p:cNvPr id="36" name="Rounded Rectangle 35"/>
          <p:cNvSpPr/>
          <p:nvPr/>
        </p:nvSpPr>
        <p:spPr>
          <a:xfrm>
            <a:off x="9390888" y="5321808"/>
            <a:ext cx="2194560" cy="731520"/>
          </a:xfrm>
          <a:prstGeom prst="roundRect">
            <a:avLst>
              <a:gd name="adj" fmla="val 8000"/>
            </a:avLst>
          </a:prstGeom>
          <a:solidFill>
            <a:srgbClr val="F6F8F6"/>
          </a:solidFill>
          <a:ln>
            <a:noFill/>
          </a:ln>
        </p:spPr>
        <p:txBody>
          <a:bodyPr rtlCol="0" anchor="ctr"/>
          <a:lstStyle/>
          <a:p/>
        </p:txBody>
      </p:sp>
      <p:sp>
        <p:nvSpPr>
          <p:cNvPr id="37" name="TextBox 36"/>
          <p:cNvSpPr txBox="1"/>
          <p:nvPr/>
        </p:nvSpPr>
        <p:spPr>
          <a:xfrm>
            <a:off x="9528048" y="5321808"/>
            <a:ext cx="1938528" cy="731520"/>
          </a:xfrm>
          <a:prstGeom prst="rect">
            <a:avLst/>
          </a:prstGeom>
          <a:noFill/>
        </p:spPr>
        <p:txBody>
          <a:bodyPr wrap="square" lIns="0" rIns="0" tIns="0" bIns="0" anchor="ctr">
            <a:spAutoFit/>
          </a:bodyPr>
          <a:lstStyle/>
          <a:p>
            <a:pPr algn="l"/>
            <a:r>
              <a:rPr sz="1200" b="0" i="0">
                <a:solidFill>
                  <a:srgbClr val="20343D"/>
                </a:solidFill>
                <a:latin typeface="Calibri"/>
              </a:rPr>
              <a:t>Deteksi anomali</a:t>
            </a:r>
          </a:p>
        </p:txBody>
      </p:sp>
      <p:sp>
        <p:nvSpPr>
          <p:cNvPr id="38" name="TextBox 3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39" name="TextBox 3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PENGGUNAAN AI · TATA KELOLA &amp; PENGALAMAN</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Guardrail dulu, baru skala</a:t>
            </a:r>
          </a:p>
        </p:txBody>
      </p:sp>
      <p:sp>
        <p:nvSpPr>
          <p:cNvPr id="4" name="Oval 3"/>
          <p:cNvSpPr/>
          <p:nvPr/>
        </p:nvSpPr>
        <p:spPr>
          <a:xfrm>
            <a:off x="548640" y="1627632"/>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5" name="TextBox 4"/>
          <p:cNvSpPr txBox="1"/>
          <p:nvPr/>
        </p:nvSpPr>
        <p:spPr>
          <a:xfrm>
            <a:off x="1097280" y="1554480"/>
            <a:ext cx="2240280" cy="548640"/>
          </a:xfrm>
          <a:prstGeom prst="rect">
            <a:avLst/>
          </a:prstGeom>
          <a:noFill/>
        </p:spPr>
        <p:txBody>
          <a:bodyPr wrap="square" lIns="0" rIns="0" tIns="0" bIns="0" anchor="ctr">
            <a:spAutoFit/>
          </a:bodyPr>
          <a:lstStyle/>
          <a:p>
            <a:pPr algn="l"/>
            <a:r>
              <a:rPr sz="1400" b="1" i="0">
                <a:solidFill>
                  <a:srgbClr val="20343D"/>
                </a:solidFill>
                <a:latin typeface="Calibri"/>
              </a:rPr>
              <a:t>Human-in-the-loop</a:t>
            </a:r>
          </a:p>
        </p:txBody>
      </p:sp>
      <p:sp>
        <p:nvSpPr>
          <p:cNvPr id="6" name="TextBox 5"/>
          <p:cNvSpPr txBox="1"/>
          <p:nvPr/>
        </p:nvSpPr>
        <p:spPr>
          <a:xfrm>
            <a:off x="3337560" y="1554480"/>
            <a:ext cx="2834640" cy="548640"/>
          </a:xfrm>
          <a:prstGeom prst="rect">
            <a:avLst/>
          </a:prstGeom>
          <a:noFill/>
        </p:spPr>
        <p:txBody>
          <a:bodyPr wrap="square" lIns="0" rIns="0" tIns="0" bIns="0" anchor="ctr">
            <a:spAutoFit/>
          </a:bodyPr>
          <a:lstStyle/>
          <a:p>
            <a:pPr algn="l"/>
            <a:r>
              <a:rPr sz="1200" b="0" i="0">
                <a:solidFill>
                  <a:srgbClr val="5F6F74"/>
                </a:solidFill>
                <a:latin typeface="Calibri"/>
              </a:rPr>
              <a:t>AI menyiapkan, manusia memutuskan dan mengirim</a:t>
            </a:r>
          </a:p>
        </p:txBody>
      </p:sp>
      <p:sp>
        <p:nvSpPr>
          <p:cNvPr id="7" name="Oval 6"/>
          <p:cNvSpPr/>
          <p:nvPr/>
        </p:nvSpPr>
        <p:spPr>
          <a:xfrm>
            <a:off x="548640" y="2286000"/>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8" name="TextBox 7"/>
          <p:cNvSpPr txBox="1"/>
          <p:nvPr/>
        </p:nvSpPr>
        <p:spPr>
          <a:xfrm>
            <a:off x="1097280" y="2212848"/>
            <a:ext cx="2240280" cy="548640"/>
          </a:xfrm>
          <a:prstGeom prst="rect">
            <a:avLst/>
          </a:prstGeom>
          <a:noFill/>
        </p:spPr>
        <p:txBody>
          <a:bodyPr wrap="square" lIns="0" rIns="0" tIns="0" bIns="0" anchor="ctr">
            <a:spAutoFit/>
          </a:bodyPr>
          <a:lstStyle/>
          <a:p>
            <a:pPr algn="l"/>
            <a:r>
              <a:rPr sz="1400" b="1" i="0">
                <a:solidFill>
                  <a:srgbClr val="20343D"/>
                </a:solidFill>
                <a:latin typeface="Calibri"/>
              </a:rPr>
              <a:t>Minimisasi PII</a:t>
            </a:r>
          </a:p>
        </p:txBody>
      </p:sp>
      <p:sp>
        <p:nvSpPr>
          <p:cNvPr id="9" name="TextBox 8"/>
          <p:cNvSpPr txBox="1"/>
          <p:nvPr/>
        </p:nvSpPr>
        <p:spPr>
          <a:xfrm>
            <a:off x="3337560" y="2212848"/>
            <a:ext cx="2834640" cy="548640"/>
          </a:xfrm>
          <a:prstGeom prst="rect">
            <a:avLst/>
          </a:prstGeom>
          <a:noFill/>
        </p:spPr>
        <p:txBody>
          <a:bodyPr wrap="square" lIns="0" rIns="0" tIns="0" bIns="0" anchor="ctr">
            <a:spAutoFit/>
          </a:bodyPr>
          <a:lstStyle/>
          <a:p>
            <a:pPr algn="l"/>
            <a:r>
              <a:rPr sz="1200" b="0" i="0">
                <a:solidFill>
                  <a:srgbClr val="5F6F74"/>
                </a:solidFill>
                <a:latin typeface="Calibri"/>
              </a:rPr>
              <a:t>Masking nama/nomor; konteks seperlunya</a:t>
            </a:r>
          </a:p>
        </p:txBody>
      </p:sp>
      <p:sp>
        <p:nvSpPr>
          <p:cNvPr id="10" name="Oval 9"/>
          <p:cNvSpPr/>
          <p:nvPr/>
        </p:nvSpPr>
        <p:spPr>
          <a:xfrm>
            <a:off x="548640" y="2944368"/>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11" name="TextBox 10"/>
          <p:cNvSpPr txBox="1"/>
          <p:nvPr/>
        </p:nvSpPr>
        <p:spPr>
          <a:xfrm>
            <a:off x="1097280" y="2871215"/>
            <a:ext cx="2240280" cy="548640"/>
          </a:xfrm>
          <a:prstGeom prst="rect">
            <a:avLst/>
          </a:prstGeom>
          <a:noFill/>
        </p:spPr>
        <p:txBody>
          <a:bodyPr wrap="square" lIns="0" rIns="0" tIns="0" bIns="0" anchor="ctr">
            <a:spAutoFit/>
          </a:bodyPr>
          <a:lstStyle/>
          <a:p>
            <a:pPr algn="l"/>
            <a:r>
              <a:rPr sz="1400" b="1" i="0">
                <a:solidFill>
                  <a:srgbClr val="20343D"/>
                </a:solidFill>
                <a:latin typeface="Calibri"/>
              </a:rPr>
              <a:t>Tanpa janji komersial</a:t>
            </a:r>
          </a:p>
        </p:txBody>
      </p:sp>
      <p:sp>
        <p:nvSpPr>
          <p:cNvPr id="12" name="TextBox 11"/>
          <p:cNvSpPr txBox="1"/>
          <p:nvPr/>
        </p:nvSpPr>
        <p:spPr>
          <a:xfrm>
            <a:off x="3337560" y="2871215"/>
            <a:ext cx="2834640" cy="548640"/>
          </a:xfrm>
          <a:prstGeom prst="rect">
            <a:avLst/>
          </a:prstGeom>
          <a:noFill/>
        </p:spPr>
        <p:txBody>
          <a:bodyPr wrap="square" lIns="0" rIns="0" tIns="0" bIns="0" anchor="ctr">
            <a:spAutoFit/>
          </a:bodyPr>
          <a:lstStyle/>
          <a:p>
            <a:pPr algn="l"/>
            <a:r>
              <a:rPr sz="1200" b="0" i="0">
                <a:solidFill>
                  <a:srgbClr val="5F6F74"/>
                </a:solidFill>
                <a:latin typeface="Calibri"/>
              </a:rPr>
              <a:t>Harga, stok, diskon, kredit hanya dari sistem sumber</a:t>
            </a:r>
          </a:p>
        </p:txBody>
      </p:sp>
      <p:sp>
        <p:nvSpPr>
          <p:cNvPr id="13" name="Oval 12"/>
          <p:cNvSpPr/>
          <p:nvPr/>
        </p:nvSpPr>
        <p:spPr>
          <a:xfrm>
            <a:off x="548640" y="3602736"/>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14" name="TextBox 13"/>
          <p:cNvSpPr txBox="1"/>
          <p:nvPr/>
        </p:nvSpPr>
        <p:spPr>
          <a:xfrm>
            <a:off x="1097280" y="3529584"/>
            <a:ext cx="2240280" cy="548640"/>
          </a:xfrm>
          <a:prstGeom prst="rect">
            <a:avLst/>
          </a:prstGeom>
          <a:noFill/>
        </p:spPr>
        <p:txBody>
          <a:bodyPr wrap="square" lIns="0" rIns="0" tIns="0" bIns="0" anchor="ctr">
            <a:spAutoFit/>
          </a:bodyPr>
          <a:lstStyle/>
          <a:p>
            <a:pPr algn="l"/>
            <a:r>
              <a:rPr sz="1400" b="1" i="0">
                <a:solidFill>
                  <a:srgbClr val="20343D"/>
                </a:solidFill>
                <a:latin typeface="Calibri"/>
              </a:rPr>
              <a:t>Evaluation set</a:t>
            </a:r>
          </a:p>
        </p:txBody>
      </p:sp>
      <p:sp>
        <p:nvSpPr>
          <p:cNvPr id="15" name="TextBox 14"/>
          <p:cNvSpPr txBox="1"/>
          <p:nvPr/>
        </p:nvSpPr>
        <p:spPr>
          <a:xfrm>
            <a:off x="3337560" y="3529584"/>
            <a:ext cx="2834640" cy="548640"/>
          </a:xfrm>
          <a:prstGeom prst="rect">
            <a:avLst/>
          </a:prstGeom>
          <a:noFill/>
        </p:spPr>
        <p:txBody>
          <a:bodyPr wrap="square" lIns="0" rIns="0" tIns="0" bIns="0" anchor="ctr">
            <a:spAutoFit/>
          </a:bodyPr>
          <a:lstStyle/>
          <a:p>
            <a:pPr algn="l"/>
            <a:r>
              <a:rPr sz="1200" b="0" i="0">
                <a:solidFill>
                  <a:srgbClr val="5F6F74"/>
                </a:solidFill>
                <a:latin typeface="Calibri"/>
              </a:rPr>
              <a:t>Diuji setiap ganti model atau prompt</a:t>
            </a:r>
          </a:p>
        </p:txBody>
      </p:sp>
      <p:sp>
        <p:nvSpPr>
          <p:cNvPr id="16" name="Oval 15"/>
          <p:cNvSpPr/>
          <p:nvPr/>
        </p:nvSpPr>
        <p:spPr>
          <a:xfrm>
            <a:off x="548640" y="4261104"/>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17" name="TextBox 16"/>
          <p:cNvSpPr txBox="1"/>
          <p:nvPr/>
        </p:nvSpPr>
        <p:spPr>
          <a:xfrm>
            <a:off x="1097280" y="4187952"/>
            <a:ext cx="2240280" cy="548640"/>
          </a:xfrm>
          <a:prstGeom prst="rect">
            <a:avLst/>
          </a:prstGeom>
          <a:noFill/>
        </p:spPr>
        <p:txBody>
          <a:bodyPr wrap="square" lIns="0" rIns="0" tIns="0" bIns="0" anchor="ctr">
            <a:spAutoFit/>
          </a:bodyPr>
          <a:lstStyle/>
          <a:p>
            <a:pPr algn="l"/>
            <a:r>
              <a:rPr sz="1400" b="1" i="0">
                <a:solidFill>
                  <a:srgbClr val="20343D"/>
                </a:solidFill>
                <a:latin typeface="Calibri"/>
              </a:rPr>
              <a:t>Logging &amp; biaya</a:t>
            </a:r>
          </a:p>
        </p:txBody>
      </p:sp>
      <p:sp>
        <p:nvSpPr>
          <p:cNvPr id="18" name="TextBox 17"/>
          <p:cNvSpPr txBox="1"/>
          <p:nvPr/>
        </p:nvSpPr>
        <p:spPr>
          <a:xfrm>
            <a:off x="3337560" y="4187952"/>
            <a:ext cx="2834640" cy="548640"/>
          </a:xfrm>
          <a:prstGeom prst="rect">
            <a:avLst/>
          </a:prstGeom>
          <a:noFill/>
        </p:spPr>
        <p:txBody>
          <a:bodyPr wrap="square" lIns="0" rIns="0" tIns="0" bIns="0" anchor="ctr">
            <a:spAutoFit/>
          </a:bodyPr>
          <a:lstStyle/>
          <a:p>
            <a:pPr algn="l"/>
            <a:r>
              <a:rPr sz="1200" b="0" i="0">
                <a:solidFill>
                  <a:srgbClr val="5F6F74"/>
                </a:solidFill>
                <a:latin typeface="Calibri"/>
              </a:rPr>
              <a:t>Audit tanpa PII, kuota per fitur</a:t>
            </a:r>
          </a:p>
        </p:txBody>
      </p:sp>
      <p:sp>
        <p:nvSpPr>
          <p:cNvPr id="19" name="Oval 18"/>
          <p:cNvSpPr/>
          <p:nvPr/>
        </p:nvSpPr>
        <p:spPr>
          <a:xfrm>
            <a:off x="548640" y="4919472"/>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20" name="TextBox 19"/>
          <p:cNvSpPr txBox="1"/>
          <p:nvPr/>
        </p:nvSpPr>
        <p:spPr>
          <a:xfrm>
            <a:off x="1097280" y="4846320"/>
            <a:ext cx="2240280" cy="548640"/>
          </a:xfrm>
          <a:prstGeom prst="rect">
            <a:avLst/>
          </a:prstGeom>
          <a:noFill/>
        </p:spPr>
        <p:txBody>
          <a:bodyPr wrap="square" lIns="0" rIns="0" tIns="0" bIns="0" anchor="ctr">
            <a:spAutoFit/>
          </a:bodyPr>
          <a:lstStyle/>
          <a:p>
            <a:pPr algn="l"/>
            <a:r>
              <a:rPr sz="1400" b="1" i="0">
                <a:solidFill>
                  <a:srgbClr val="20343D"/>
                </a:solidFill>
                <a:latin typeface="Calibri"/>
              </a:rPr>
              <a:t>Model-agnostic</a:t>
            </a:r>
          </a:p>
        </p:txBody>
      </p:sp>
      <p:sp>
        <p:nvSpPr>
          <p:cNvPr id="21" name="TextBox 20"/>
          <p:cNvSpPr txBox="1"/>
          <p:nvPr/>
        </p:nvSpPr>
        <p:spPr>
          <a:xfrm>
            <a:off x="3337560" y="4846320"/>
            <a:ext cx="2834640" cy="548640"/>
          </a:xfrm>
          <a:prstGeom prst="rect">
            <a:avLst/>
          </a:prstGeom>
          <a:noFill/>
        </p:spPr>
        <p:txBody>
          <a:bodyPr wrap="square" lIns="0" rIns="0" tIns="0" bIns="0" anchor="ctr">
            <a:spAutoFit/>
          </a:bodyPr>
          <a:lstStyle/>
          <a:p>
            <a:pPr algn="l"/>
            <a:r>
              <a:rPr sz="1200" b="0" i="0">
                <a:solidFill>
                  <a:srgbClr val="5F6F74"/>
                </a:solidFill>
                <a:latin typeface="Calibri"/>
              </a:rPr>
              <a:t>Gateway bisa berganti penyedia atau model lokal</a:t>
            </a:r>
          </a:p>
        </p:txBody>
      </p:sp>
      <p:sp>
        <p:nvSpPr>
          <p:cNvPr id="22" name="Oval 21"/>
          <p:cNvSpPr/>
          <p:nvPr/>
        </p:nvSpPr>
        <p:spPr>
          <a:xfrm>
            <a:off x="548640" y="5577840"/>
            <a:ext cx="384048" cy="384048"/>
          </a:xfrm>
          <a:prstGeom prst="ellipse">
            <a:avLst/>
          </a:prstGeom>
          <a:solidFill>
            <a:srgbClr val="177F6C"/>
          </a:solidFill>
          <a:ln>
            <a:noFill/>
          </a:ln>
        </p:spPr>
        <p:txBody>
          <a:bodyPr rtlCol="0" anchor="ctr" lIns="0" rIns="0" tIns="0" bIns="0"/>
          <a:lstStyle/>
          <a:p>
            <a:pPr algn="ctr"/>
            <a:r>
              <a:rPr sz="1300" b="1">
                <a:solidFill>
                  <a:srgbClr val="FFFFFF"/>
                </a:solidFill>
                <a:latin typeface="Calibri"/>
              </a:rPr>
              <a:t>✓</a:t>
            </a:r>
          </a:p>
        </p:txBody>
      </p:sp>
      <p:sp>
        <p:nvSpPr>
          <p:cNvPr id="23" name="TextBox 22"/>
          <p:cNvSpPr txBox="1"/>
          <p:nvPr/>
        </p:nvSpPr>
        <p:spPr>
          <a:xfrm>
            <a:off x="1097280" y="5504688"/>
            <a:ext cx="2240280" cy="548640"/>
          </a:xfrm>
          <a:prstGeom prst="rect">
            <a:avLst/>
          </a:prstGeom>
          <a:noFill/>
        </p:spPr>
        <p:txBody>
          <a:bodyPr wrap="square" lIns="0" rIns="0" tIns="0" bIns="0" anchor="ctr">
            <a:spAutoFit/>
          </a:bodyPr>
          <a:lstStyle/>
          <a:p>
            <a:pPr algn="l"/>
            <a:r>
              <a:rPr sz="1400" b="1" i="0">
                <a:solidFill>
                  <a:srgbClr val="20343D"/>
                </a:solidFill>
                <a:latin typeface="Calibri"/>
              </a:rPr>
              <a:t>UU PDP</a:t>
            </a:r>
          </a:p>
        </p:txBody>
      </p:sp>
      <p:sp>
        <p:nvSpPr>
          <p:cNvPr id="24" name="TextBox 23"/>
          <p:cNvSpPr txBox="1"/>
          <p:nvPr/>
        </p:nvSpPr>
        <p:spPr>
          <a:xfrm>
            <a:off x="3337560" y="5504688"/>
            <a:ext cx="2834640" cy="548640"/>
          </a:xfrm>
          <a:prstGeom prst="rect">
            <a:avLst/>
          </a:prstGeom>
          <a:noFill/>
        </p:spPr>
        <p:txBody>
          <a:bodyPr wrap="square" lIns="0" rIns="0" tIns="0" bIns="0" anchor="ctr">
            <a:spAutoFit/>
          </a:bodyPr>
          <a:lstStyle/>
          <a:p>
            <a:pPr algn="l"/>
            <a:r>
              <a:rPr sz="1200" b="0" i="0">
                <a:solidFill>
                  <a:srgbClr val="5F6F74"/>
                </a:solidFill>
                <a:latin typeface="Calibri"/>
              </a:rPr>
              <a:t>Dasar pemrosesan, consent, retensi, penilaian risiko</a:t>
            </a:r>
          </a:p>
        </p:txBody>
      </p:sp>
      <p:sp>
        <p:nvSpPr>
          <p:cNvPr id="25" name="Rounded Rectangle 24"/>
          <p:cNvSpPr/>
          <p:nvPr/>
        </p:nvSpPr>
        <p:spPr>
          <a:xfrm>
            <a:off x="6446520" y="1554480"/>
            <a:ext cx="5193792" cy="4617720"/>
          </a:xfrm>
          <a:prstGeom prst="roundRect">
            <a:avLst>
              <a:gd name="adj" fmla="val 4000"/>
            </a:avLst>
          </a:prstGeom>
          <a:solidFill>
            <a:srgbClr val="FBF3E6"/>
          </a:solidFill>
          <a:ln w="12700">
            <a:solidFill>
              <a:srgbClr val="B58235"/>
            </a:solidFill>
            <a:prstDash val="dash"/>
          </a:ln>
        </p:spPr>
        <p:txBody>
          <a:bodyPr rtlCol="0" anchor="ctr"/>
          <a:lstStyle/>
          <a:p/>
        </p:txBody>
      </p:sp>
      <p:sp>
        <p:nvSpPr>
          <p:cNvPr id="26" name="TextBox 25"/>
          <p:cNvSpPr txBox="1"/>
          <p:nvPr/>
        </p:nvSpPr>
        <p:spPr>
          <a:xfrm>
            <a:off x="6675120" y="1719072"/>
            <a:ext cx="4754880" cy="274320"/>
          </a:xfrm>
          <a:prstGeom prst="rect">
            <a:avLst/>
          </a:prstGeom>
          <a:noFill/>
        </p:spPr>
        <p:txBody>
          <a:bodyPr wrap="square" lIns="0" rIns="0" tIns="0" bIns="0" anchor="t">
            <a:spAutoFit/>
          </a:bodyPr>
          <a:lstStyle/>
          <a:p>
            <a:pPr algn="l"/>
            <a:r>
              <a:rPr sz="1100" b="1" i="0">
                <a:solidFill>
                  <a:srgbClr val="B58235"/>
                </a:solidFill>
                <a:latin typeface="Calibri"/>
              </a:rPr>
              <a:t>PENGALAMAN PENERAPAN AI SAYA</a:t>
            </a:r>
          </a:p>
        </p:txBody>
      </p:sp>
      <p:sp>
        <p:nvSpPr>
          <p:cNvPr id="27" name="TextBox 26"/>
          <p:cNvSpPr txBox="1"/>
          <p:nvPr/>
        </p:nvSpPr>
        <p:spPr>
          <a:xfrm>
            <a:off x="6675120" y="2011680"/>
            <a:ext cx="4754880" cy="365760"/>
          </a:xfrm>
          <a:prstGeom prst="rect">
            <a:avLst/>
          </a:prstGeom>
          <a:noFill/>
        </p:spPr>
        <p:txBody>
          <a:bodyPr wrap="square" lIns="0" rIns="0" tIns="0" bIns="0" anchor="t">
            <a:spAutoFit/>
          </a:bodyPr>
          <a:lstStyle/>
          <a:p>
            <a:pPr algn="l"/>
            <a:r>
              <a:rPr sz="1600" b="1" i="0">
                <a:solidFill>
                  <a:srgbClr val="20343D"/>
                </a:solidFill>
                <a:latin typeface="Calibri"/>
              </a:rPr>
              <a:t>[Diisi oleh Putra sebelum presentasi]</a:t>
            </a:r>
          </a:p>
        </p:txBody>
      </p:sp>
      <p:sp>
        <p:nvSpPr>
          <p:cNvPr id="28" name="TextBox 27"/>
          <p:cNvSpPr txBox="1"/>
          <p:nvPr/>
        </p:nvSpPr>
        <p:spPr>
          <a:xfrm>
            <a:off x="6675120" y="2560320"/>
            <a:ext cx="4754880" cy="2743200"/>
          </a:xfrm>
          <a:prstGeom prst="rect">
            <a:avLst/>
          </a:prstGeom>
          <a:noFill/>
        </p:spPr>
        <p:txBody>
          <a:bodyPr wrap="square" lIns="0" rIns="0" tIns="0" bIns="0" anchor="t">
            <a:spAutoFit/>
          </a:bodyPr>
          <a:lstStyle/>
          <a:p>
            <a:pPr algn="l" marL="201168" indent="-201168">
              <a:spcAft>
                <a:spcPts val="1000"/>
              </a:spcAft>
              <a:buClr>
                <a:srgbClr val="B58235"/>
              </a:buClr>
              <a:buFont typeface="Arial"/>
              <a:buChar char="•"/>
            </a:pPr>
            <a:r>
              <a:rPr sz="1400" b="0" i="0">
                <a:solidFill>
                  <a:srgbClr val="20343D"/>
                </a:solidFill>
                <a:latin typeface="Calibri"/>
              </a:rPr>
              <a:t>[Proyek AI paling relevan: konteks, masalah, pengguna]</a:t>
            </a:r>
          </a:p>
          <a:p>
            <a:pPr algn="l" marL="201168" indent="-201168">
              <a:spcAft>
                <a:spcPts val="1000"/>
              </a:spcAft>
              <a:buClr>
                <a:srgbClr val="B58235"/>
              </a:buClr>
              <a:buFont typeface="Arial"/>
              <a:buChar char="•"/>
            </a:pPr>
            <a:r>
              <a:rPr sz="1400" b="0" i="0">
                <a:solidFill>
                  <a:srgbClr val="20343D"/>
                </a:solidFill>
                <a:latin typeface="Calibri"/>
              </a:rPr>
              <a:t>[Solusi &amp; tools/model yang dipakai, peran saya]</a:t>
            </a:r>
          </a:p>
          <a:p>
            <a:pPr algn="l" marL="201168" indent="-201168">
              <a:spcAft>
                <a:spcPts val="1000"/>
              </a:spcAft>
              <a:buClr>
                <a:srgbClr val="B58235"/>
              </a:buClr>
              <a:buFont typeface="Arial"/>
              <a:buChar char="•"/>
            </a:pPr>
            <a:r>
              <a:rPr sz="1400" b="0" i="0">
                <a:solidFill>
                  <a:srgbClr val="20343D"/>
                </a:solidFill>
                <a:latin typeface="Calibri"/>
              </a:rPr>
              <a:t>[Hasil terukur: waktu, biaya, konversi, akurasi]</a:t>
            </a:r>
          </a:p>
          <a:p>
            <a:pPr algn="l" marL="201168" indent="-201168">
              <a:spcAft>
                <a:spcPts val="1000"/>
              </a:spcAft>
              <a:buClr>
                <a:srgbClr val="B58235"/>
              </a:buClr>
              <a:buFont typeface="Arial"/>
              <a:buChar char="•"/>
            </a:pPr>
            <a:r>
              <a:rPr sz="1400" b="0" i="0">
                <a:solidFill>
                  <a:srgbClr val="20343D"/>
                </a:solidFill>
                <a:latin typeface="Calibri"/>
              </a:rPr>
              <a:t>[Pelajaran yang dibawa ke OneCRM]</a:t>
            </a:r>
          </a:p>
        </p:txBody>
      </p:sp>
      <p:sp>
        <p:nvSpPr>
          <p:cNvPr id="29" name="TextBox 28"/>
          <p:cNvSpPr txBox="1"/>
          <p:nvPr/>
        </p:nvSpPr>
        <p:spPr>
          <a:xfrm>
            <a:off x="6675120" y="5532120"/>
            <a:ext cx="4754880" cy="502920"/>
          </a:xfrm>
          <a:prstGeom prst="rect">
            <a:avLst/>
          </a:prstGeom>
          <a:noFill/>
        </p:spPr>
        <p:txBody>
          <a:bodyPr wrap="square" lIns="0" rIns="0" tIns="0" bIns="0" anchor="t">
            <a:spAutoFit/>
          </a:bodyPr>
          <a:lstStyle/>
          <a:p>
            <a:pPr algn="l"/>
            <a:r>
              <a:rPr sz="1200" b="0" i="0">
                <a:solidFill>
                  <a:srgbClr val="5F6F74"/>
                </a:solidFill>
                <a:latin typeface="Calibri"/>
              </a:rPr>
              <a:t>Template tabel lengkap tersedia di dokumen tertulis bagian 6.4.</a:t>
            </a:r>
          </a:p>
        </p:txBody>
      </p:sp>
      <p:sp>
        <p:nvSpPr>
          <p:cNvPr id="30" name="TextBox 2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31" name="TextBox 3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ROADMAP</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Pilot 12 minggu dengan gate yang jelas sebelum rollout</a:t>
            </a:r>
          </a:p>
        </p:txBody>
      </p:sp>
      <p:sp>
        <p:nvSpPr>
          <p:cNvPr id="4" name="Rounded Rectangle 3"/>
          <p:cNvSpPr/>
          <p:nvPr/>
        </p:nvSpPr>
        <p:spPr>
          <a:xfrm>
            <a:off x="548640" y="1600200"/>
            <a:ext cx="1757172" cy="502920"/>
          </a:xfrm>
          <a:prstGeom prst="roundRect">
            <a:avLst>
              <a:gd name="adj" fmla="val 30000"/>
            </a:avLst>
          </a:prstGeom>
          <a:solidFill>
            <a:srgbClr val="152D36"/>
          </a:solidFill>
          <a:ln>
            <a:noFill/>
          </a:ln>
        </p:spPr>
        <p:txBody>
          <a:bodyPr rtlCol="0" anchor="ctr"/>
          <a:lstStyle/>
          <a:p/>
        </p:txBody>
      </p:sp>
      <p:sp>
        <p:nvSpPr>
          <p:cNvPr id="5" name="TextBox 4"/>
          <p:cNvSpPr txBox="1"/>
          <p:nvPr/>
        </p:nvSpPr>
        <p:spPr>
          <a:xfrm>
            <a:off x="685800" y="1600200"/>
            <a:ext cx="1482852" cy="502920"/>
          </a:xfrm>
          <a:prstGeom prst="rect">
            <a:avLst/>
          </a:prstGeom>
          <a:noFill/>
        </p:spPr>
        <p:txBody>
          <a:bodyPr wrap="square" lIns="0" rIns="0" tIns="0" bIns="0" anchor="ctr">
            <a:spAutoFit/>
          </a:bodyPr>
          <a:lstStyle/>
          <a:p>
            <a:pPr algn="l"/>
            <a:r>
              <a:rPr sz="1400" b="1" i="0">
                <a:solidFill>
                  <a:srgbClr val="FFFFFF"/>
                </a:solidFill>
                <a:latin typeface="Calibri"/>
              </a:rPr>
              <a:t>Minggu 1–2</a:t>
            </a:r>
          </a:p>
        </p:txBody>
      </p:sp>
      <p:sp>
        <p:nvSpPr>
          <p:cNvPr id="6" name="Rounded Rectangle 5"/>
          <p:cNvSpPr/>
          <p:nvPr/>
        </p:nvSpPr>
        <p:spPr>
          <a:xfrm>
            <a:off x="548640" y="2240280"/>
            <a:ext cx="1757172" cy="2240280"/>
          </a:xfrm>
          <a:prstGeom prst="roundRect">
            <a:avLst>
              <a:gd name="adj" fmla="val 8000"/>
            </a:avLst>
          </a:prstGeom>
          <a:solidFill>
            <a:srgbClr val="E9F4EF"/>
          </a:solidFill>
          <a:ln>
            <a:noFill/>
          </a:ln>
        </p:spPr>
        <p:txBody>
          <a:bodyPr rtlCol="0" anchor="ctr"/>
          <a:lstStyle/>
          <a:p/>
        </p:txBody>
      </p:sp>
      <p:sp>
        <p:nvSpPr>
          <p:cNvPr id="7" name="TextBox 6"/>
          <p:cNvSpPr txBox="1"/>
          <p:nvPr/>
        </p:nvSpPr>
        <p:spPr>
          <a:xfrm>
            <a:off x="713232" y="2377440"/>
            <a:ext cx="1427988" cy="548640"/>
          </a:xfrm>
          <a:prstGeom prst="rect">
            <a:avLst/>
          </a:prstGeom>
          <a:noFill/>
        </p:spPr>
        <p:txBody>
          <a:bodyPr wrap="square" lIns="0" rIns="0" tIns="0" bIns="0" anchor="t">
            <a:spAutoFit/>
          </a:bodyPr>
          <a:lstStyle/>
          <a:p>
            <a:pPr algn="l"/>
            <a:r>
              <a:rPr sz="1500" b="1" i="0">
                <a:solidFill>
                  <a:srgbClr val="20343D"/>
                </a:solidFill>
                <a:latin typeface="Calibri"/>
              </a:rPr>
              <a:t>Discovery &amp; baseline</a:t>
            </a:r>
          </a:p>
        </p:txBody>
      </p:sp>
      <p:sp>
        <p:nvSpPr>
          <p:cNvPr id="8" name="TextBox 7"/>
          <p:cNvSpPr txBox="1"/>
          <p:nvPr/>
        </p:nvSpPr>
        <p:spPr>
          <a:xfrm>
            <a:off x="713232" y="2971800"/>
            <a:ext cx="1464564" cy="146304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200" b="0" i="0">
                <a:solidFill>
                  <a:srgbClr val="20343D"/>
                </a:solidFill>
                <a:latin typeface="Calibri"/>
              </a:rPr>
              <a:t>Audit channel &amp; nomor WA</a:t>
            </a:r>
          </a:p>
          <a:p>
            <a:pPr algn="l" marL="201168" indent="-201168">
              <a:spcAft>
                <a:spcPts val="300"/>
              </a:spcAft>
              <a:buClr>
                <a:srgbClr val="177F6C"/>
              </a:buClr>
              <a:buFont typeface="Arial"/>
              <a:buChar char="•"/>
            </a:pPr>
            <a:r>
              <a:rPr sz="1200" b="0" i="0">
                <a:solidFill>
                  <a:srgbClr val="20343D"/>
                </a:solidFill>
                <a:latin typeface="Calibri"/>
              </a:rPr>
              <a:t>Baseline SLA &amp; konversi</a:t>
            </a:r>
          </a:p>
          <a:p>
            <a:pPr algn="l" marL="201168" indent="-201168">
              <a:spcAft>
                <a:spcPts val="300"/>
              </a:spcAft>
              <a:buClr>
                <a:srgbClr val="177F6C"/>
              </a:buClr>
              <a:buFont typeface="Arial"/>
              <a:buChar char="•"/>
            </a:pPr>
            <a:r>
              <a:rPr sz="1200" b="0" i="0">
                <a:solidFill>
                  <a:srgbClr val="20343D"/>
                </a:solidFill>
                <a:latin typeface="Calibri"/>
              </a:rPr>
              <a:t>Kontrak data MS SQL</a:t>
            </a:r>
          </a:p>
        </p:txBody>
      </p:sp>
      <p:sp>
        <p:nvSpPr>
          <p:cNvPr id="9" name="Rounded Rectangle 8"/>
          <p:cNvSpPr/>
          <p:nvPr/>
        </p:nvSpPr>
        <p:spPr>
          <a:xfrm>
            <a:off x="2397252" y="1600200"/>
            <a:ext cx="2681478" cy="502920"/>
          </a:xfrm>
          <a:prstGeom prst="roundRect">
            <a:avLst>
              <a:gd name="adj" fmla="val 30000"/>
            </a:avLst>
          </a:prstGeom>
          <a:solidFill>
            <a:srgbClr val="177F6C"/>
          </a:solidFill>
          <a:ln>
            <a:noFill/>
          </a:ln>
        </p:spPr>
        <p:txBody>
          <a:bodyPr rtlCol="0" anchor="ctr"/>
          <a:lstStyle/>
          <a:p/>
        </p:txBody>
      </p:sp>
      <p:sp>
        <p:nvSpPr>
          <p:cNvPr id="10" name="TextBox 9"/>
          <p:cNvSpPr txBox="1"/>
          <p:nvPr/>
        </p:nvSpPr>
        <p:spPr>
          <a:xfrm>
            <a:off x="2534412" y="1600200"/>
            <a:ext cx="2407158" cy="502920"/>
          </a:xfrm>
          <a:prstGeom prst="rect">
            <a:avLst/>
          </a:prstGeom>
          <a:noFill/>
        </p:spPr>
        <p:txBody>
          <a:bodyPr wrap="square" lIns="0" rIns="0" tIns="0" bIns="0" anchor="ctr">
            <a:spAutoFit/>
          </a:bodyPr>
          <a:lstStyle/>
          <a:p>
            <a:pPr algn="l"/>
            <a:r>
              <a:rPr sz="1400" b="1" i="0">
                <a:solidFill>
                  <a:srgbClr val="FFFFFF"/>
                </a:solidFill>
                <a:latin typeface="Calibri"/>
              </a:rPr>
              <a:t>Minggu 3–5</a:t>
            </a:r>
          </a:p>
        </p:txBody>
      </p:sp>
      <p:sp>
        <p:nvSpPr>
          <p:cNvPr id="11" name="Rounded Rectangle 10"/>
          <p:cNvSpPr/>
          <p:nvPr/>
        </p:nvSpPr>
        <p:spPr>
          <a:xfrm>
            <a:off x="2397252" y="2240280"/>
            <a:ext cx="2681478" cy="2240280"/>
          </a:xfrm>
          <a:prstGeom prst="roundRect">
            <a:avLst>
              <a:gd name="adj" fmla="val 8000"/>
            </a:avLst>
          </a:prstGeom>
          <a:solidFill>
            <a:srgbClr val="E9F4EF"/>
          </a:solidFill>
          <a:ln>
            <a:noFill/>
          </a:ln>
        </p:spPr>
        <p:txBody>
          <a:bodyPr rtlCol="0" anchor="ctr"/>
          <a:lstStyle/>
          <a:p/>
        </p:txBody>
      </p:sp>
      <p:sp>
        <p:nvSpPr>
          <p:cNvPr id="12" name="TextBox 11"/>
          <p:cNvSpPr txBox="1"/>
          <p:nvPr/>
        </p:nvSpPr>
        <p:spPr>
          <a:xfrm>
            <a:off x="2561844" y="2377440"/>
            <a:ext cx="2352294" cy="548640"/>
          </a:xfrm>
          <a:prstGeom prst="rect">
            <a:avLst/>
          </a:prstGeom>
          <a:noFill/>
        </p:spPr>
        <p:txBody>
          <a:bodyPr wrap="square" lIns="0" rIns="0" tIns="0" bIns="0" anchor="t">
            <a:spAutoFit/>
          </a:bodyPr>
          <a:lstStyle/>
          <a:p>
            <a:pPr algn="l"/>
            <a:r>
              <a:rPr sz="1500" b="1" i="0">
                <a:solidFill>
                  <a:srgbClr val="20343D"/>
                </a:solidFill>
                <a:latin typeface="Calibri"/>
              </a:rPr>
              <a:t>Core CRM pilot</a:t>
            </a:r>
          </a:p>
        </p:txBody>
      </p:sp>
      <p:sp>
        <p:nvSpPr>
          <p:cNvPr id="13" name="TextBox 12"/>
          <p:cNvSpPr txBox="1"/>
          <p:nvPr/>
        </p:nvSpPr>
        <p:spPr>
          <a:xfrm>
            <a:off x="2561844" y="2971800"/>
            <a:ext cx="2388870" cy="146304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200" b="0" i="0">
                <a:solidFill>
                  <a:srgbClr val="20343D"/>
                </a:solidFill>
                <a:latin typeface="Calibri"/>
              </a:rPr>
              <a:t>WA + website, 1–2 cabang</a:t>
            </a:r>
          </a:p>
          <a:p>
            <a:pPr algn="l" marL="201168" indent="-201168">
              <a:spcAft>
                <a:spcPts val="300"/>
              </a:spcAft>
              <a:buClr>
                <a:srgbClr val="177F6C"/>
              </a:buClr>
              <a:buFont typeface="Arial"/>
              <a:buChar char="•"/>
            </a:pPr>
            <a:r>
              <a:rPr sz="1200" b="0" i="0">
                <a:solidFill>
                  <a:srgbClr val="20343D"/>
                </a:solidFill>
                <a:latin typeface="Calibri"/>
              </a:rPr>
              <a:t>Shared inbox, routing, SLA</a:t>
            </a:r>
          </a:p>
          <a:p>
            <a:pPr algn="l" marL="201168" indent="-201168">
              <a:spcAft>
                <a:spcPts val="300"/>
              </a:spcAft>
              <a:buClr>
                <a:srgbClr val="177F6C"/>
              </a:buClr>
              <a:buFont typeface="Arial"/>
              <a:buChar char="•"/>
            </a:pPr>
            <a:r>
              <a:rPr sz="1200" b="0" i="0">
                <a:solidFill>
                  <a:srgbClr val="20343D"/>
                </a:solidFill>
                <a:latin typeface="Calibri"/>
              </a:rPr>
              <a:t>Customer 360°</a:t>
            </a:r>
          </a:p>
        </p:txBody>
      </p:sp>
      <p:sp>
        <p:nvSpPr>
          <p:cNvPr id="14" name="Rounded Rectangle 13"/>
          <p:cNvSpPr/>
          <p:nvPr/>
        </p:nvSpPr>
        <p:spPr>
          <a:xfrm>
            <a:off x="5170170" y="1600200"/>
            <a:ext cx="2681478" cy="502920"/>
          </a:xfrm>
          <a:prstGeom prst="roundRect">
            <a:avLst>
              <a:gd name="adj" fmla="val 30000"/>
            </a:avLst>
          </a:prstGeom>
          <a:solidFill>
            <a:srgbClr val="177F6C"/>
          </a:solidFill>
          <a:ln>
            <a:noFill/>
          </a:ln>
        </p:spPr>
        <p:txBody>
          <a:bodyPr rtlCol="0" anchor="ctr"/>
          <a:lstStyle/>
          <a:p/>
        </p:txBody>
      </p:sp>
      <p:sp>
        <p:nvSpPr>
          <p:cNvPr id="15" name="TextBox 14"/>
          <p:cNvSpPr txBox="1"/>
          <p:nvPr/>
        </p:nvSpPr>
        <p:spPr>
          <a:xfrm>
            <a:off x="5307330" y="1600200"/>
            <a:ext cx="2407158" cy="502920"/>
          </a:xfrm>
          <a:prstGeom prst="rect">
            <a:avLst/>
          </a:prstGeom>
          <a:noFill/>
        </p:spPr>
        <p:txBody>
          <a:bodyPr wrap="square" lIns="0" rIns="0" tIns="0" bIns="0" anchor="ctr">
            <a:spAutoFit/>
          </a:bodyPr>
          <a:lstStyle/>
          <a:p>
            <a:pPr algn="l"/>
            <a:r>
              <a:rPr sz="1400" b="1" i="0">
                <a:solidFill>
                  <a:srgbClr val="FFFFFF"/>
                </a:solidFill>
                <a:latin typeface="Calibri"/>
              </a:rPr>
              <a:t>Minggu 6–8</a:t>
            </a:r>
          </a:p>
        </p:txBody>
      </p:sp>
      <p:sp>
        <p:nvSpPr>
          <p:cNvPr id="16" name="Rounded Rectangle 15"/>
          <p:cNvSpPr/>
          <p:nvPr/>
        </p:nvSpPr>
        <p:spPr>
          <a:xfrm>
            <a:off x="5170170" y="2240280"/>
            <a:ext cx="2681478" cy="2240280"/>
          </a:xfrm>
          <a:prstGeom prst="roundRect">
            <a:avLst>
              <a:gd name="adj" fmla="val 8000"/>
            </a:avLst>
          </a:prstGeom>
          <a:solidFill>
            <a:srgbClr val="E9F4EF"/>
          </a:solidFill>
          <a:ln>
            <a:noFill/>
          </a:ln>
        </p:spPr>
        <p:txBody>
          <a:bodyPr rtlCol="0" anchor="ctr"/>
          <a:lstStyle/>
          <a:p/>
        </p:txBody>
      </p:sp>
      <p:sp>
        <p:nvSpPr>
          <p:cNvPr id="17" name="TextBox 16"/>
          <p:cNvSpPr txBox="1"/>
          <p:nvPr/>
        </p:nvSpPr>
        <p:spPr>
          <a:xfrm>
            <a:off x="5334762" y="2377440"/>
            <a:ext cx="2352294" cy="548640"/>
          </a:xfrm>
          <a:prstGeom prst="rect">
            <a:avLst/>
          </a:prstGeom>
          <a:noFill/>
        </p:spPr>
        <p:txBody>
          <a:bodyPr wrap="square" lIns="0" rIns="0" tIns="0" bIns="0" anchor="t">
            <a:spAutoFit/>
          </a:bodyPr>
          <a:lstStyle/>
          <a:p>
            <a:pPr algn="l"/>
            <a:r>
              <a:rPr sz="1500" b="1" i="0">
                <a:solidFill>
                  <a:srgbClr val="20343D"/>
                </a:solidFill>
                <a:latin typeface="Calibri"/>
              </a:rPr>
              <a:t>ERP, lifecycle &amp; dashboard</a:t>
            </a:r>
          </a:p>
        </p:txBody>
      </p:sp>
      <p:sp>
        <p:nvSpPr>
          <p:cNvPr id="18" name="TextBox 17"/>
          <p:cNvSpPr txBox="1"/>
          <p:nvPr/>
        </p:nvSpPr>
        <p:spPr>
          <a:xfrm>
            <a:off x="5334762" y="2971800"/>
            <a:ext cx="2388870" cy="146304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200" b="0" i="0">
                <a:solidFill>
                  <a:srgbClr val="20343D"/>
                </a:solidFill>
                <a:latin typeface="Calibri"/>
              </a:rPr>
              <a:t>Change Tracking &amp; sync</a:t>
            </a:r>
          </a:p>
          <a:p>
            <a:pPr algn="l" marL="201168" indent="-201168">
              <a:spcAft>
                <a:spcPts val="300"/>
              </a:spcAft>
              <a:buClr>
                <a:srgbClr val="177F6C"/>
              </a:buClr>
              <a:buFont typeface="Arial"/>
              <a:buChar char="•"/>
            </a:pPr>
            <a:r>
              <a:rPr sz="1200" b="0" i="0">
                <a:solidFill>
                  <a:srgbClr val="20343D"/>
                </a:solidFill>
                <a:latin typeface="Calibri"/>
              </a:rPr>
              <a:t>Suppression pembeli</a:t>
            </a:r>
          </a:p>
          <a:p>
            <a:pPr algn="l" marL="201168" indent="-201168">
              <a:spcAft>
                <a:spcPts val="300"/>
              </a:spcAft>
              <a:buClr>
                <a:srgbClr val="177F6C"/>
              </a:buClr>
              <a:buFont typeface="Arial"/>
              <a:buChar char="•"/>
            </a:pPr>
            <a:r>
              <a:rPr sz="1200" b="0" i="0">
                <a:solidFill>
                  <a:srgbClr val="20343D"/>
                </a:solidFill>
                <a:latin typeface="Calibri"/>
              </a:rPr>
              <a:t>Dashboard penjualan</a:t>
            </a:r>
          </a:p>
        </p:txBody>
      </p:sp>
      <p:sp>
        <p:nvSpPr>
          <p:cNvPr id="19" name="Rounded Rectangle 18"/>
          <p:cNvSpPr/>
          <p:nvPr/>
        </p:nvSpPr>
        <p:spPr>
          <a:xfrm>
            <a:off x="7943088" y="1600200"/>
            <a:ext cx="3605784" cy="502920"/>
          </a:xfrm>
          <a:prstGeom prst="roundRect">
            <a:avLst>
              <a:gd name="adj" fmla="val 30000"/>
            </a:avLst>
          </a:prstGeom>
          <a:solidFill>
            <a:srgbClr val="177F6C"/>
          </a:solidFill>
          <a:ln>
            <a:noFill/>
          </a:ln>
        </p:spPr>
        <p:txBody>
          <a:bodyPr rtlCol="0" anchor="ctr"/>
          <a:lstStyle/>
          <a:p/>
        </p:txBody>
      </p:sp>
      <p:sp>
        <p:nvSpPr>
          <p:cNvPr id="20" name="TextBox 19"/>
          <p:cNvSpPr txBox="1"/>
          <p:nvPr/>
        </p:nvSpPr>
        <p:spPr>
          <a:xfrm>
            <a:off x="8080248" y="1600200"/>
            <a:ext cx="3331464" cy="502920"/>
          </a:xfrm>
          <a:prstGeom prst="rect">
            <a:avLst/>
          </a:prstGeom>
          <a:noFill/>
        </p:spPr>
        <p:txBody>
          <a:bodyPr wrap="square" lIns="0" rIns="0" tIns="0" bIns="0" anchor="ctr">
            <a:spAutoFit/>
          </a:bodyPr>
          <a:lstStyle/>
          <a:p>
            <a:pPr algn="l"/>
            <a:r>
              <a:rPr sz="1400" b="1" i="0">
                <a:solidFill>
                  <a:srgbClr val="FFFFFF"/>
                </a:solidFill>
                <a:latin typeface="Calibri"/>
              </a:rPr>
              <a:t>Minggu 9–12</a:t>
            </a:r>
          </a:p>
        </p:txBody>
      </p:sp>
      <p:sp>
        <p:nvSpPr>
          <p:cNvPr id="21" name="Rounded Rectangle 20"/>
          <p:cNvSpPr/>
          <p:nvPr/>
        </p:nvSpPr>
        <p:spPr>
          <a:xfrm>
            <a:off x="7943088" y="2240280"/>
            <a:ext cx="3605784" cy="2240280"/>
          </a:xfrm>
          <a:prstGeom prst="roundRect">
            <a:avLst>
              <a:gd name="adj" fmla="val 8000"/>
            </a:avLst>
          </a:prstGeom>
          <a:solidFill>
            <a:srgbClr val="E9F4EF"/>
          </a:solidFill>
          <a:ln>
            <a:noFill/>
          </a:ln>
        </p:spPr>
        <p:txBody>
          <a:bodyPr rtlCol="0" anchor="ctr"/>
          <a:lstStyle/>
          <a:p/>
        </p:txBody>
      </p:sp>
      <p:sp>
        <p:nvSpPr>
          <p:cNvPr id="22" name="TextBox 21"/>
          <p:cNvSpPr txBox="1"/>
          <p:nvPr/>
        </p:nvSpPr>
        <p:spPr>
          <a:xfrm>
            <a:off x="8107680" y="2377440"/>
            <a:ext cx="3276600" cy="548640"/>
          </a:xfrm>
          <a:prstGeom prst="rect">
            <a:avLst/>
          </a:prstGeom>
          <a:noFill/>
        </p:spPr>
        <p:txBody>
          <a:bodyPr wrap="square" lIns="0" rIns="0" tIns="0" bIns="0" anchor="t">
            <a:spAutoFit/>
          </a:bodyPr>
          <a:lstStyle/>
          <a:p>
            <a:pPr algn="l"/>
            <a:r>
              <a:rPr sz="1500" b="1" i="0">
                <a:solidFill>
                  <a:srgbClr val="20343D"/>
                </a:solidFill>
                <a:latin typeface="Calibri"/>
              </a:rPr>
              <a:t>Ekspansi &amp; evaluasi</a:t>
            </a:r>
          </a:p>
        </p:txBody>
      </p:sp>
      <p:sp>
        <p:nvSpPr>
          <p:cNvPr id="23" name="TextBox 22"/>
          <p:cNvSpPr txBox="1"/>
          <p:nvPr/>
        </p:nvSpPr>
        <p:spPr>
          <a:xfrm>
            <a:off x="8107680" y="2971800"/>
            <a:ext cx="3313176" cy="1463040"/>
          </a:xfrm>
          <a:prstGeom prst="rect">
            <a:avLst/>
          </a:prstGeom>
          <a:noFill/>
        </p:spPr>
        <p:txBody>
          <a:bodyPr wrap="square" lIns="0" rIns="0" tIns="0" bIns="0" anchor="t">
            <a:spAutoFit/>
          </a:bodyPr>
          <a:lstStyle/>
          <a:p>
            <a:pPr algn="l" marL="201168" indent="-201168">
              <a:spcAft>
                <a:spcPts val="300"/>
              </a:spcAft>
              <a:buClr>
                <a:srgbClr val="177F6C"/>
              </a:buClr>
              <a:buFont typeface="Arial"/>
              <a:buChar char="•"/>
            </a:pPr>
            <a:r>
              <a:rPr sz="1200" b="0" i="0">
                <a:solidFill>
                  <a:srgbClr val="20343D"/>
                </a:solidFill>
                <a:latin typeface="Calibri"/>
              </a:rPr>
              <a:t>IG, FB, TikTok</a:t>
            </a:r>
          </a:p>
          <a:p>
            <a:pPr algn="l" marL="201168" indent="-201168">
              <a:spcAft>
                <a:spcPts val="300"/>
              </a:spcAft>
              <a:buClr>
                <a:srgbClr val="177F6C"/>
              </a:buClr>
              <a:buFont typeface="Arial"/>
              <a:buChar char="•"/>
            </a:pPr>
            <a:r>
              <a:rPr sz="1200" b="0" i="0">
                <a:solidFill>
                  <a:srgbClr val="20343D"/>
                </a:solidFill>
                <a:latin typeface="Calibri"/>
              </a:rPr>
              <a:t>Pilot AI ringkasan &amp; draft</a:t>
            </a:r>
          </a:p>
          <a:p>
            <a:pPr algn="l" marL="201168" indent="-201168">
              <a:spcAft>
                <a:spcPts val="300"/>
              </a:spcAft>
              <a:buClr>
                <a:srgbClr val="177F6C"/>
              </a:buClr>
              <a:buFont typeface="Arial"/>
              <a:buChar char="•"/>
            </a:pPr>
            <a:r>
              <a:rPr sz="1200" b="0" i="0">
                <a:solidFill>
                  <a:srgbClr val="20343D"/>
                </a:solidFill>
                <a:latin typeface="Calibri"/>
              </a:rPr>
              <a:t>Evaluasi KPI, rencana rollout</a:t>
            </a:r>
          </a:p>
        </p:txBody>
      </p:sp>
      <p:sp>
        <p:nvSpPr>
          <p:cNvPr id="24" name="TextBox 23"/>
          <p:cNvSpPr txBox="1"/>
          <p:nvPr/>
        </p:nvSpPr>
        <p:spPr>
          <a:xfrm>
            <a:off x="548640" y="4681728"/>
            <a:ext cx="5486400" cy="274320"/>
          </a:xfrm>
          <a:prstGeom prst="rect">
            <a:avLst/>
          </a:prstGeom>
          <a:noFill/>
        </p:spPr>
        <p:txBody>
          <a:bodyPr wrap="square" lIns="0" rIns="0" tIns="0" bIns="0" anchor="t">
            <a:spAutoFit/>
          </a:bodyPr>
          <a:lstStyle/>
          <a:p>
            <a:pPr algn="l"/>
            <a:r>
              <a:rPr sz="1100" b="1" i="0">
                <a:solidFill>
                  <a:srgbClr val="5F6F74"/>
                </a:solidFill>
                <a:latin typeface="Calibri"/>
              </a:rPr>
              <a:t>PILOT GATES</a:t>
            </a:r>
          </a:p>
        </p:txBody>
      </p:sp>
      <p:sp>
        <p:nvSpPr>
          <p:cNvPr id="25" name="Rounded Rectangle 24"/>
          <p:cNvSpPr/>
          <p:nvPr/>
        </p:nvSpPr>
        <p:spPr>
          <a:xfrm>
            <a:off x="548640" y="4983480"/>
            <a:ext cx="2103120" cy="1188720"/>
          </a:xfrm>
          <a:prstGeom prst="roundRect">
            <a:avLst>
              <a:gd name="adj" fmla="val 8000"/>
            </a:avLst>
          </a:prstGeom>
          <a:solidFill>
            <a:srgbClr val="FFFFFF"/>
          </a:solidFill>
          <a:ln w="12700">
            <a:solidFill>
              <a:srgbClr val="E7EBE9"/>
            </a:solidFill>
          </a:ln>
        </p:spPr>
        <p:txBody>
          <a:bodyPr rtlCol="0" anchor="ctr"/>
          <a:lstStyle/>
          <a:p/>
        </p:txBody>
      </p:sp>
      <p:sp>
        <p:nvSpPr>
          <p:cNvPr id="26" name="Oval 25"/>
          <p:cNvSpPr/>
          <p:nvPr/>
        </p:nvSpPr>
        <p:spPr>
          <a:xfrm>
            <a:off x="713232" y="512064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a:t>
            </a:r>
          </a:p>
        </p:txBody>
      </p:sp>
      <p:sp>
        <p:nvSpPr>
          <p:cNvPr id="27" name="TextBox 26"/>
          <p:cNvSpPr txBox="1"/>
          <p:nvPr/>
        </p:nvSpPr>
        <p:spPr>
          <a:xfrm>
            <a:off x="713232" y="5532120"/>
            <a:ext cx="1828800" cy="594360"/>
          </a:xfrm>
          <a:prstGeom prst="rect">
            <a:avLst/>
          </a:prstGeom>
          <a:noFill/>
        </p:spPr>
        <p:txBody>
          <a:bodyPr wrap="square" lIns="0" rIns="0" tIns="0" bIns="0" anchor="t">
            <a:spAutoFit/>
          </a:bodyPr>
          <a:lstStyle/>
          <a:p>
            <a:pPr algn="l"/>
            <a:r>
              <a:rPr sz="1200" b="0" i="0">
                <a:solidFill>
                  <a:srgbClr val="20343D"/>
                </a:solidFill>
                <a:latin typeface="Calibri"/>
              </a:rPr>
              <a:t>Replay event tidak menggandakan lead</a:t>
            </a:r>
          </a:p>
        </p:txBody>
      </p:sp>
      <p:sp>
        <p:nvSpPr>
          <p:cNvPr id="28" name="Rounded Rectangle 27"/>
          <p:cNvSpPr/>
          <p:nvPr/>
        </p:nvSpPr>
        <p:spPr>
          <a:xfrm>
            <a:off x="2807208" y="4983480"/>
            <a:ext cx="2103120" cy="1188720"/>
          </a:xfrm>
          <a:prstGeom prst="roundRect">
            <a:avLst>
              <a:gd name="adj" fmla="val 8000"/>
            </a:avLst>
          </a:prstGeom>
          <a:solidFill>
            <a:srgbClr val="FFFFFF"/>
          </a:solidFill>
          <a:ln w="12700">
            <a:solidFill>
              <a:srgbClr val="E7EBE9"/>
            </a:solidFill>
          </a:ln>
        </p:spPr>
        <p:txBody>
          <a:bodyPr rtlCol="0" anchor="ctr"/>
          <a:lstStyle/>
          <a:p/>
        </p:txBody>
      </p:sp>
      <p:sp>
        <p:nvSpPr>
          <p:cNvPr id="29" name="Oval 28"/>
          <p:cNvSpPr/>
          <p:nvPr/>
        </p:nvSpPr>
        <p:spPr>
          <a:xfrm>
            <a:off x="2971800" y="512064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a:t>
            </a:r>
          </a:p>
        </p:txBody>
      </p:sp>
      <p:sp>
        <p:nvSpPr>
          <p:cNvPr id="30" name="TextBox 29"/>
          <p:cNvSpPr txBox="1"/>
          <p:nvPr/>
        </p:nvSpPr>
        <p:spPr>
          <a:xfrm>
            <a:off x="2971800" y="5532120"/>
            <a:ext cx="1828800" cy="594360"/>
          </a:xfrm>
          <a:prstGeom prst="rect">
            <a:avLst/>
          </a:prstGeom>
          <a:noFill/>
        </p:spPr>
        <p:txBody>
          <a:bodyPr wrap="square" lIns="0" rIns="0" tIns="0" bIns="0" anchor="t">
            <a:spAutoFit/>
          </a:bodyPr>
          <a:lstStyle/>
          <a:p>
            <a:pPr algn="l"/>
            <a:r>
              <a:rPr sz="1200" b="0" i="0">
                <a:solidFill>
                  <a:srgbClr val="20343D"/>
                </a:solidFill>
                <a:latin typeface="Calibri"/>
              </a:rPr>
              <a:t>Pembeli &amp; opt-out tidak menerima prospecting</a:t>
            </a:r>
          </a:p>
        </p:txBody>
      </p:sp>
      <p:sp>
        <p:nvSpPr>
          <p:cNvPr id="31" name="Rounded Rectangle 30"/>
          <p:cNvSpPr/>
          <p:nvPr/>
        </p:nvSpPr>
        <p:spPr>
          <a:xfrm>
            <a:off x="5065776" y="4983480"/>
            <a:ext cx="2103120" cy="1188720"/>
          </a:xfrm>
          <a:prstGeom prst="roundRect">
            <a:avLst>
              <a:gd name="adj" fmla="val 8000"/>
            </a:avLst>
          </a:prstGeom>
          <a:solidFill>
            <a:srgbClr val="FFFFFF"/>
          </a:solidFill>
          <a:ln w="12700">
            <a:solidFill>
              <a:srgbClr val="E7EBE9"/>
            </a:solidFill>
          </a:ln>
        </p:spPr>
        <p:txBody>
          <a:bodyPr rtlCol="0" anchor="ctr"/>
          <a:lstStyle/>
          <a:p/>
        </p:txBody>
      </p:sp>
      <p:sp>
        <p:nvSpPr>
          <p:cNvPr id="32" name="Oval 31"/>
          <p:cNvSpPr/>
          <p:nvPr/>
        </p:nvSpPr>
        <p:spPr>
          <a:xfrm>
            <a:off x="5230368" y="512064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a:t>
            </a:r>
          </a:p>
        </p:txBody>
      </p:sp>
      <p:sp>
        <p:nvSpPr>
          <p:cNvPr id="33" name="TextBox 32"/>
          <p:cNvSpPr txBox="1"/>
          <p:nvPr/>
        </p:nvSpPr>
        <p:spPr>
          <a:xfrm>
            <a:off x="5230368" y="5532120"/>
            <a:ext cx="1828800" cy="594360"/>
          </a:xfrm>
          <a:prstGeom prst="rect">
            <a:avLst/>
          </a:prstGeom>
          <a:noFill/>
        </p:spPr>
        <p:txBody>
          <a:bodyPr wrap="square" lIns="0" rIns="0" tIns="0" bIns="0" anchor="t">
            <a:spAutoFit/>
          </a:bodyPr>
          <a:lstStyle/>
          <a:p>
            <a:pPr algn="l"/>
            <a:r>
              <a:rPr sz="1200" b="0" i="0">
                <a:solidFill>
                  <a:srgbClr val="20343D"/>
                </a:solidFill>
                <a:latin typeface="Calibri"/>
              </a:rPr>
              <a:t>Audit SLA valid (auto-ack bukan respons)</a:t>
            </a:r>
          </a:p>
        </p:txBody>
      </p:sp>
      <p:sp>
        <p:nvSpPr>
          <p:cNvPr id="34" name="Rounded Rectangle 33"/>
          <p:cNvSpPr/>
          <p:nvPr/>
        </p:nvSpPr>
        <p:spPr>
          <a:xfrm>
            <a:off x="7324344" y="4983480"/>
            <a:ext cx="2103120" cy="1188720"/>
          </a:xfrm>
          <a:prstGeom prst="roundRect">
            <a:avLst>
              <a:gd name="adj" fmla="val 8000"/>
            </a:avLst>
          </a:prstGeom>
          <a:solidFill>
            <a:srgbClr val="FFFFFF"/>
          </a:solidFill>
          <a:ln w="12700">
            <a:solidFill>
              <a:srgbClr val="E7EBE9"/>
            </a:solidFill>
          </a:ln>
        </p:spPr>
        <p:txBody>
          <a:bodyPr rtlCol="0" anchor="ctr"/>
          <a:lstStyle/>
          <a:p/>
        </p:txBody>
      </p:sp>
      <p:sp>
        <p:nvSpPr>
          <p:cNvPr id="35" name="Oval 34"/>
          <p:cNvSpPr/>
          <p:nvPr/>
        </p:nvSpPr>
        <p:spPr>
          <a:xfrm>
            <a:off x="7488936" y="512064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a:t>
            </a:r>
          </a:p>
        </p:txBody>
      </p:sp>
      <p:sp>
        <p:nvSpPr>
          <p:cNvPr id="36" name="TextBox 35"/>
          <p:cNvSpPr txBox="1"/>
          <p:nvPr/>
        </p:nvSpPr>
        <p:spPr>
          <a:xfrm>
            <a:off x="7488936" y="5532120"/>
            <a:ext cx="1828800" cy="594360"/>
          </a:xfrm>
          <a:prstGeom prst="rect">
            <a:avLst/>
          </a:prstGeom>
          <a:noFill/>
        </p:spPr>
        <p:txBody>
          <a:bodyPr wrap="square" lIns="0" rIns="0" tIns="0" bIns="0" anchor="t">
            <a:spAutoFit/>
          </a:bodyPr>
          <a:lstStyle/>
          <a:p>
            <a:pPr algn="l"/>
            <a:r>
              <a:rPr sz="1200" b="0" i="0">
                <a:solidFill>
                  <a:srgbClr val="20343D"/>
                </a:solidFill>
                <a:latin typeface="Calibri"/>
              </a:rPr>
              <a:t>Dashboard cocok dengan MS SQL</a:t>
            </a:r>
          </a:p>
        </p:txBody>
      </p:sp>
      <p:sp>
        <p:nvSpPr>
          <p:cNvPr id="37" name="Rounded Rectangle 36"/>
          <p:cNvSpPr/>
          <p:nvPr/>
        </p:nvSpPr>
        <p:spPr>
          <a:xfrm>
            <a:off x="9582912" y="4983480"/>
            <a:ext cx="2103120" cy="1188720"/>
          </a:xfrm>
          <a:prstGeom prst="roundRect">
            <a:avLst>
              <a:gd name="adj" fmla="val 8000"/>
            </a:avLst>
          </a:prstGeom>
          <a:solidFill>
            <a:srgbClr val="FFFFFF"/>
          </a:solidFill>
          <a:ln w="12700">
            <a:solidFill>
              <a:srgbClr val="E7EBE9"/>
            </a:solidFill>
          </a:ln>
        </p:spPr>
        <p:txBody>
          <a:bodyPr rtlCol="0" anchor="ctr"/>
          <a:lstStyle/>
          <a:p/>
        </p:txBody>
      </p:sp>
      <p:sp>
        <p:nvSpPr>
          <p:cNvPr id="38" name="Oval 37"/>
          <p:cNvSpPr/>
          <p:nvPr/>
        </p:nvSpPr>
        <p:spPr>
          <a:xfrm>
            <a:off x="9747504" y="5120640"/>
            <a:ext cx="329184" cy="329184"/>
          </a:xfrm>
          <a:prstGeom prst="ellipse">
            <a:avLst/>
          </a:prstGeom>
          <a:solidFill>
            <a:srgbClr val="177F6C"/>
          </a:solidFill>
          <a:ln>
            <a:noFill/>
          </a:ln>
        </p:spPr>
        <p:txBody>
          <a:bodyPr rtlCol="0" anchor="ctr" lIns="0" rIns="0" tIns="0" bIns="0"/>
          <a:lstStyle/>
          <a:p>
            <a:pPr algn="ctr"/>
            <a:r>
              <a:rPr sz="1100" b="1">
                <a:solidFill>
                  <a:srgbClr val="FFFFFF"/>
                </a:solidFill>
                <a:latin typeface="Calibri"/>
              </a:rPr>
              <a:t>✓</a:t>
            </a:r>
          </a:p>
        </p:txBody>
      </p:sp>
      <p:sp>
        <p:nvSpPr>
          <p:cNvPr id="39" name="TextBox 38"/>
          <p:cNvSpPr txBox="1"/>
          <p:nvPr/>
        </p:nvSpPr>
        <p:spPr>
          <a:xfrm>
            <a:off x="9747504" y="5532120"/>
            <a:ext cx="1828800" cy="594360"/>
          </a:xfrm>
          <a:prstGeom prst="rect">
            <a:avLst/>
          </a:prstGeom>
          <a:noFill/>
        </p:spPr>
        <p:txBody>
          <a:bodyPr wrap="square" lIns="0" rIns="0" tIns="0" bIns="0" anchor="t">
            <a:spAutoFit/>
          </a:bodyPr>
          <a:lstStyle/>
          <a:p>
            <a:pPr algn="l"/>
            <a:r>
              <a:rPr sz="1200" b="0" i="0">
                <a:solidFill>
                  <a:srgbClr val="20343D"/>
                </a:solidFill>
                <a:latin typeface="Calibri"/>
              </a:rPr>
              <a:t>≥90% lead pilot ditangani di OneCRM</a:t>
            </a:r>
          </a:p>
        </p:txBody>
      </p:sp>
      <p:sp>
        <p:nvSpPr>
          <p:cNvPr id="40" name="TextBox 39"/>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41" name="TextBox 40"/>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1200" b="1" i="0">
                <a:solidFill>
                  <a:srgbClr val="177F6C"/>
                </a:solidFill>
                <a:latin typeface="Calibri"/>
              </a:rPr>
              <a:t>RISIKO &amp; MITIGASI</a:t>
            </a:r>
          </a:p>
        </p:txBody>
      </p:sp>
      <p:sp>
        <p:nvSpPr>
          <p:cNvPr id="3" name="TextBox 2"/>
          <p:cNvSpPr txBox="1"/>
          <p:nvPr/>
        </p:nvSpPr>
        <p:spPr>
          <a:xfrm>
            <a:off x="548640" y="640080"/>
            <a:ext cx="11064240" cy="685800"/>
          </a:xfrm>
          <a:prstGeom prst="rect">
            <a:avLst/>
          </a:prstGeom>
          <a:noFill/>
        </p:spPr>
        <p:txBody>
          <a:bodyPr wrap="square" lIns="0" rIns="0" tIns="0" bIns="0" anchor="t">
            <a:spAutoFit/>
          </a:bodyPr>
          <a:lstStyle/>
          <a:p>
            <a:pPr algn="l"/>
            <a:r>
              <a:rPr sz="3000" b="1" i="0">
                <a:solidFill>
                  <a:srgbClr val="20343D"/>
                </a:solidFill>
                <a:latin typeface="Calibri"/>
              </a:rPr>
              <a:t>Risiko terbesar adalah adopsi, bukan teknologi</a:t>
            </a:r>
          </a:p>
        </p:txBody>
      </p:sp>
      <p:graphicFrame>
        <p:nvGraphicFramePr>
          <p:cNvPr id="4" name="Table 3"/>
          <p:cNvGraphicFramePr>
            <a:graphicFrameLocks noGrp="1"/>
          </p:cNvGraphicFramePr>
          <p:nvPr/>
        </p:nvGraphicFramePr>
        <p:xfrm>
          <a:off x="548640" y="1554480"/>
          <a:ext cx="11091672" cy="4352544"/>
        </p:xfrm>
        <a:graphic>
          <a:graphicData uri="http://schemas.openxmlformats.org/drawingml/2006/table">
            <a:tbl>
              <a:tblPr firstRow="1">
                <a:tableStyleId>{5C22544A-7EE6-4342-B048-85BDC9FD1C3A}</a:tableStyleId>
              </a:tblPr>
              <a:tblGrid>
                <a:gridCol w="3657600"/>
                <a:gridCol w="7434072"/>
              </a:tblGrid>
              <a:tr h="621792">
                <a:tc>
                  <a:txBody>
                    <a:bodyPr wrap="square"/>
                    <a:lstStyle/>
                    <a:p>
                      <a:r>
                        <a:rPr sz="1300" b="1">
                          <a:solidFill>
                            <a:srgbClr val="FFFFFF"/>
                          </a:solidFill>
                          <a:latin typeface="Calibri"/>
                        </a:rPr>
                        <a:t>Risiko</a:t>
                      </a:r>
                    </a:p>
                  </a:txBody>
                  <a:tcPr marL="73152" marR="73152" marT="36576" marB="36576" anchor="ctr">
                    <a:solidFill>
                      <a:srgbClr val="152D36"/>
                    </a:solidFill>
                  </a:tcPr>
                </a:tc>
                <a:tc>
                  <a:txBody>
                    <a:bodyPr wrap="square"/>
                    <a:lstStyle/>
                    <a:p>
                      <a:r>
                        <a:rPr sz="1300" b="1">
                          <a:solidFill>
                            <a:srgbClr val="FFFFFF"/>
                          </a:solidFill>
                          <a:latin typeface="Calibri"/>
                        </a:rPr>
                        <a:t>Mitigasi</a:t>
                      </a:r>
                    </a:p>
                  </a:txBody>
                  <a:tcPr marL="73152" marR="73152" marT="36576" marB="36576" anchor="ctr">
                    <a:solidFill>
                      <a:srgbClr val="152D36"/>
                    </a:solidFill>
                  </a:tcPr>
                </a:tc>
              </a:tr>
              <a:tr h="621792">
                <a:tc>
                  <a:txBody>
                    <a:bodyPr wrap="square"/>
                    <a:lstStyle/>
                    <a:p>
                      <a:r>
                        <a:rPr sz="1400" b="1">
                          <a:solidFill>
                            <a:srgbClr val="20343D"/>
                          </a:solidFill>
                          <a:latin typeface="Calibri"/>
                        </a:rPr>
                        <a:t>Sales enggan meninggalkan WA pribadi</a:t>
                      </a:r>
                    </a:p>
                  </a:txBody>
                  <a:tcPr marL="73152" marR="73152" marT="36576" marB="36576" anchor="ctr">
                    <a:solidFill>
                      <a:srgbClr val="FFFFFF"/>
                    </a:solidFill>
                  </a:tcPr>
                </a:tc>
                <a:tc>
                  <a:txBody>
                    <a:bodyPr wrap="square"/>
                    <a:lstStyle/>
                    <a:p>
                      <a:r>
                        <a:rPr sz="1400" b="0">
                          <a:solidFill>
                            <a:srgbClr val="20343D"/>
                          </a:solidFill>
                          <a:latin typeface="Calibri"/>
                        </a:rPr>
                        <a:t>Libatkan sales sejak desain, PWA lebih cepat, insentif berbasis data CRM, dukungan kepala cabang</a:t>
                      </a:r>
                    </a:p>
                  </a:txBody>
                  <a:tcPr marL="73152" marR="73152" marT="36576" marB="36576" anchor="ctr">
                    <a:solidFill>
                      <a:srgbClr val="FFFFFF"/>
                    </a:solidFill>
                  </a:tcPr>
                </a:tc>
              </a:tr>
              <a:tr h="621792">
                <a:tc>
                  <a:txBody>
                    <a:bodyPr wrap="square"/>
                    <a:lstStyle/>
                    <a:p>
                      <a:r>
                        <a:rPr sz="1400" b="1">
                          <a:solidFill>
                            <a:srgbClr val="20343D"/>
                          </a:solidFill>
                          <a:latin typeface="Calibri"/>
                        </a:rPr>
                        <a:t>Akses API IG/FB/TikTok terbatas</a:t>
                      </a:r>
                    </a:p>
                  </a:txBody>
                  <a:tcPr marL="73152" marR="73152" marT="36576" marB="36576" anchor="ctr">
                    <a:solidFill>
                      <a:srgbClr val="F6F8F6"/>
                    </a:solidFill>
                  </a:tcPr>
                </a:tc>
                <a:tc>
                  <a:txBody>
                    <a:bodyPr wrap="square"/>
                    <a:lstStyle/>
                    <a:p>
                      <a:r>
                        <a:rPr sz="1400" b="0">
                          <a:solidFill>
                            <a:srgbClr val="20343D"/>
                          </a:solidFill>
                          <a:latin typeface="Calibri"/>
                        </a:rPr>
                        <a:t>Mulai WA + website; ikuti app review; Lead Ads sebagai jalur awal</a:t>
                      </a:r>
                    </a:p>
                  </a:txBody>
                  <a:tcPr marL="73152" marR="73152" marT="36576" marB="36576" anchor="ctr">
                    <a:solidFill>
                      <a:srgbClr val="F6F8F6"/>
                    </a:solidFill>
                  </a:tcPr>
                </a:tc>
              </a:tr>
              <a:tr h="621792">
                <a:tc>
                  <a:txBody>
                    <a:bodyPr wrap="square"/>
                    <a:lstStyle/>
                    <a:p>
                      <a:r>
                        <a:rPr sz="1400" b="1">
                          <a:solidFill>
                            <a:srgbClr val="20343D"/>
                          </a:solidFill>
                          <a:latin typeface="Calibri"/>
                        </a:rPr>
                        <a:t>Kualitas data DMS/ERP tidak konsisten</a:t>
                      </a:r>
                    </a:p>
                  </a:txBody>
                  <a:tcPr marL="73152" marR="73152" marT="36576" marB="36576" anchor="ctr">
                    <a:solidFill>
                      <a:srgbClr val="FFFFFF"/>
                    </a:solidFill>
                  </a:tcPr>
                </a:tc>
                <a:tc>
                  <a:txBody>
                    <a:bodyPr wrap="square"/>
                    <a:lstStyle/>
                    <a:p>
                      <a:r>
                        <a:rPr sz="1400" b="0">
                          <a:solidFill>
                            <a:srgbClr val="20343D"/>
                          </a:solidFill>
                          <a:latin typeface="Calibri"/>
                        </a:rPr>
                        <a:t>Kontrak data, rekonsiliasi harian, label freshness, data steward</a:t>
                      </a:r>
                    </a:p>
                  </a:txBody>
                  <a:tcPr marL="73152" marR="73152" marT="36576" marB="36576" anchor="ctr">
                    <a:solidFill>
                      <a:srgbClr val="FFFFFF"/>
                    </a:solidFill>
                  </a:tcPr>
                </a:tc>
              </a:tr>
              <a:tr h="621792">
                <a:tc>
                  <a:txBody>
                    <a:bodyPr wrap="square"/>
                    <a:lstStyle/>
                    <a:p>
                      <a:r>
                        <a:rPr sz="1400" b="1">
                          <a:solidFill>
                            <a:srgbClr val="20343D"/>
                          </a:solidFill>
                          <a:latin typeface="Calibri"/>
                        </a:rPr>
                        <a:t>Nomor WA terkena pembatasan</a:t>
                      </a:r>
                    </a:p>
                  </a:txBody>
                  <a:tcPr marL="73152" marR="73152" marT="36576" marB="36576" anchor="ctr">
                    <a:solidFill>
                      <a:srgbClr val="F6F8F6"/>
                    </a:solidFill>
                  </a:tcPr>
                </a:tc>
                <a:tc>
                  <a:txBody>
                    <a:bodyPr wrap="square"/>
                    <a:lstStyle/>
                    <a:p>
                      <a:r>
                        <a:rPr sz="1400" b="0">
                          <a:solidFill>
                            <a:srgbClr val="20343D"/>
                          </a:solidFill>
                          <a:latin typeface="Calibri"/>
                        </a:rPr>
                        <a:t>Template disetujui, opt-in, frequency cap, pantau quality rating</a:t>
                      </a:r>
                    </a:p>
                  </a:txBody>
                  <a:tcPr marL="73152" marR="73152" marT="36576" marB="36576" anchor="ctr">
                    <a:solidFill>
                      <a:srgbClr val="F6F8F6"/>
                    </a:solidFill>
                  </a:tcPr>
                </a:tc>
              </a:tr>
              <a:tr h="621792">
                <a:tc>
                  <a:txBody>
                    <a:bodyPr wrap="square"/>
                    <a:lstStyle/>
                    <a:p>
                      <a:r>
                        <a:rPr sz="1400" b="1">
                          <a:solidFill>
                            <a:srgbClr val="20343D"/>
                          </a:solidFill>
                          <a:latin typeface="Calibri"/>
                        </a:rPr>
                        <a:t>Kepatuhan UU PDP</a:t>
                      </a:r>
                    </a:p>
                  </a:txBody>
                  <a:tcPr marL="73152" marR="73152" marT="36576" marB="36576" anchor="ctr">
                    <a:solidFill>
                      <a:srgbClr val="FFFFFF"/>
                    </a:solidFill>
                  </a:tcPr>
                </a:tc>
                <a:tc>
                  <a:txBody>
                    <a:bodyPr wrap="square"/>
                    <a:lstStyle/>
                    <a:p>
                      <a:r>
                        <a:rPr sz="1400" b="0">
                          <a:solidFill>
                            <a:srgbClr val="20343D"/>
                          </a:solidFill>
                          <a:latin typeface="Calibri"/>
                        </a:rPr>
                        <a:t>Consent tercatat, RBAC, masking, retensi, DPIA</a:t>
                      </a:r>
                    </a:p>
                  </a:txBody>
                  <a:tcPr marL="73152" marR="73152" marT="36576" marB="36576" anchor="ctr">
                    <a:solidFill>
                      <a:srgbClr val="FFFFFF"/>
                    </a:solidFill>
                  </a:tcPr>
                </a:tc>
              </a:tr>
              <a:tr h="621792">
                <a:tc>
                  <a:txBody>
                    <a:bodyPr wrap="square"/>
                    <a:lstStyle/>
                    <a:p>
                      <a:r>
                        <a:rPr sz="1400" b="1">
                          <a:solidFill>
                            <a:srgbClr val="20343D"/>
                          </a:solidFill>
                          <a:latin typeface="Calibri"/>
                        </a:rPr>
                        <a:t>Biaya &amp; kualitas AI</a:t>
                      </a:r>
                    </a:p>
                  </a:txBody>
                  <a:tcPr marL="73152" marR="73152" marT="36576" marB="36576" anchor="ctr">
                    <a:solidFill>
                      <a:srgbClr val="F6F8F6"/>
                    </a:solidFill>
                  </a:tcPr>
                </a:tc>
                <a:tc>
                  <a:txBody>
                    <a:bodyPr wrap="square"/>
                    <a:lstStyle/>
                    <a:p>
                      <a:r>
                        <a:rPr sz="1400" b="0">
                          <a:solidFill>
                            <a:srgbClr val="20343D"/>
                          </a:solidFill>
                          <a:latin typeface="Calibri"/>
                        </a:rPr>
                        <a:t>Use case berisiko rendah dulu, evaluation set, kuota biaya, fallback manual</a:t>
                      </a:r>
                    </a:p>
                  </a:txBody>
                  <a:tcPr marL="73152" marR="73152" marT="36576" marB="36576" anchor="ctr">
                    <a:solidFill>
                      <a:srgbClr val="F6F8F6"/>
                    </a:solidFill>
                  </a:tcPr>
                </a:tc>
              </a:tr>
            </a:tbl>
          </a:graphicData>
        </a:graphic>
      </p:graphicFrame>
      <p:sp>
        <p:nvSpPr>
          <p:cNvPr id="5" name="TextBox 4"/>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5F6F74"/>
                </a:solidFill>
                <a:latin typeface="Calibri"/>
              </a:rPr>
              <a:t>Hasjrat OneCRM · Konsep assessment oleh Putra Irawan · data prototype sintetis</a:t>
            </a:r>
          </a:p>
        </p:txBody>
      </p:sp>
      <p:sp>
        <p:nvSpPr>
          <p:cNvPr id="6" name="TextBox 5"/>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5F6F74"/>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52D36"/>
        </a:solidFill>
        <a:effectLst/>
      </p:bgPr>
    </p:bg>
    <p:spTree>
      <p:nvGrpSpPr>
        <p:cNvPr id="1" name=""/>
        <p:cNvGrpSpPr/>
        <p:nvPr/>
      </p:nvGrpSpPr>
      <p:grpSpPr/>
      <p:sp>
        <p:nvSpPr>
          <p:cNvPr id="2" name="TextBox 1"/>
          <p:cNvSpPr txBox="1"/>
          <p:nvPr/>
        </p:nvSpPr>
        <p:spPr>
          <a:xfrm>
            <a:off x="731520" y="822960"/>
            <a:ext cx="10058400" cy="365760"/>
          </a:xfrm>
          <a:prstGeom prst="rect">
            <a:avLst/>
          </a:prstGeom>
          <a:noFill/>
        </p:spPr>
        <p:txBody>
          <a:bodyPr wrap="square" lIns="0" rIns="0" tIns="0" bIns="0" anchor="t">
            <a:spAutoFit/>
          </a:bodyPr>
          <a:lstStyle/>
          <a:p>
            <a:pPr algn="l"/>
            <a:r>
              <a:rPr sz="1300" b="1" i="0">
                <a:solidFill>
                  <a:srgbClr val="A8D3B5"/>
                </a:solidFill>
                <a:latin typeface="Calibri"/>
              </a:rPr>
              <a:t>LANGKAH BERIKUTNYA</a:t>
            </a:r>
          </a:p>
        </p:txBody>
      </p:sp>
      <p:sp>
        <p:nvSpPr>
          <p:cNvPr id="3" name="TextBox 2"/>
          <p:cNvSpPr txBox="1"/>
          <p:nvPr/>
        </p:nvSpPr>
        <p:spPr>
          <a:xfrm>
            <a:off x="731520" y="1234440"/>
            <a:ext cx="10515600" cy="822960"/>
          </a:xfrm>
          <a:prstGeom prst="rect">
            <a:avLst/>
          </a:prstGeom>
          <a:noFill/>
        </p:spPr>
        <p:txBody>
          <a:bodyPr wrap="square" lIns="0" rIns="0" tIns="0" bIns="0" anchor="t">
            <a:spAutoFit/>
          </a:bodyPr>
          <a:lstStyle/>
          <a:p>
            <a:pPr algn="l"/>
            <a:r>
              <a:rPr sz="4000" b="1" i="0">
                <a:solidFill>
                  <a:srgbClr val="FFFFFF"/>
                </a:solidFill>
                <a:latin typeface="Calibri"/>
              </a:rPr>
              <a:t>Mulai dari yang paling cepat memberi dampak</a:t>
            </a:r>
          </a:p>
        </p:txBody>
      </p:sp>
      <p:sp>
        <p:nvSpPr>
          <p:cNvPr id="4" name="Rounded Rectangle 3"/>
          <p:cNvSpPr/>
          <p:nvPr/>
        </p:nvSpPr>
        <p:spPr>
          <a:xfrm>
            <a:off x="731520" y="2514600"/>
            <a:ext cx="3429000" cy="2103120"/>
          </a:xfrm>
          <a:prstGeom prst="roundRect">
            <a:avLst>
              <a:gd name="adj" fmla="val 8000"/>
            </a:avLst>
          </a:prstGeom>
          <a:solidFill>
            <a:srgbClr val="24414C"/>
          </a:solidFill>
          <a:ln>
            <a:noFill/>
          </a:ln>
        </p:spPr>
        <p:txBody>
          <a:bodyPr rtlCol="0" anchor="ctr"/>
          <a:lstStyle/>
          <a:p/>
        </p:txBody>
      </p:sp>
      <p:sp>
        <p:nvSpPr>
          <p:cNvPr id="5" name="Oval 4"/>
          <p:cNvSpPr/>
          <p:nvPr/>
        </p:nvSpPr>
        <p:spPr>
          <a:xfrm>
            <a:off x="960120" y="2743200"/>
            <a:ext cx="457200" cy="457200"/>
          </a:xfrm>
          <a:prstGeom prst="ellipse">
            <a:avLst/>
          </a:prstGeom>
          <a:solidFill>
            <a:srgbClr val="A8D3B5"/>
          </a:solidFill>
          <a:ln>
            <a:noFill/>
          </a:ln>
        </p:spPr>
        <p:txBody>
          <a:bodyPr rtlCol="0" anchor="ctr" lIns="0" rIns="0" tIns="0" bIns="0"/>
          <a:lstStyle/>
          <a:p>
            <a:pPr algn="ctr"/>
            <a:r>
              <a:rPr sz="1600" b="1">
                <a:solidFill>
                  <a:srgbClr val="152D36"/>
                </a:solidFill>
                <a:latin typeface="Calibri"/>
              </a:rPr>
              <a:t>1</a:t>
            </a:r>
          </a:p>
        </p:txBody>
      </p:sp>
      <p:sp>
        <p:nvSpPr>
          <p:cNvPr id="6" name="TextBox 5"/>
          <p:cNvSpPr txBox="1"/>
          <p:nvPr/>
        </p:nvSpPr>
        <p:spPr>
          <a:xfrm>
            <a:off x="960120" y="3364992"/>
            <a:ext cx="2971800" cy="365760"/>
          </a:xfrm>
          <a:prstGeom prst="rect">
            <a:avLst/>
          </a:prstGeom>
          <a:noFill/>
        </p:spPr>
        <p:txBody>
          <a:bodyPr wrap="square" lIns="0" rIns="0" tIns="0" bIns="0" anchor="t">
            <a:spAutoFit/>
          </a:bodyPr>
          <a:lstStyle/>
          <a:p>
            <a:pPr algn="l"/>
            <a:r>
              <a:rPr sz="1800" b="1" i="0">
                <a:solidFill>
                  <a:srgbClr val="FFFFFF"/>
                </a:solidFill>
                <a:latin typeface="Calibri"/>
              </a:rPr>
              <a:t>Discovery 2 minggu</a:t>
            </a:r>
          </a:p>
        </p:txBody>
      </p:sp>
      <p:sp>
        <p:nvSpPr>
          <p:cNvPr id="7" name="TextBox 6"/>
          <p:cNvSpPr txBox="1"/>
          <p:nvPr/>
        </p:nvSpPr>
        <p:spPr>
          <a:xfrm>
            <a:off x="960120" y="3767328"/>
            <a:ext cx="3017520" cy="777240"/>
          </a:xfrm>
          <a:prstGeom prst="rect">
            <a:avLst/>
          </a:prstGeom>
          <a:noFill/>
        </p:spPr>
        <p:txBody>
          <a:bodyPr wrap="square" lIns="0" rIns="0" tIns="0" bIns="0" anchor="t">
            <a:spAutoFit/>
          </a:bodyPr>
          <a:lstStyle/>
          <a:p>
            <a:pPr algn="l"/>
            <a:r>
              <a:rPr sz="1400" b="0" i="0">
                <a:solidFill>
                  <a:srgbClr val="D8E2E5"/>
                </a:solidFill>
                <a:latin typeface="Calibri"/>
              </a:rPr>
              <a:t>Ukur baseline SLA, konversi, dan inventaris nomor WA; sepakati KPI.</a:t>
            </a:r>
          </a:p>
        </p:txBody>
      </p:sp>
      <p:sp>
        <p:nvSpPr>
          <p:cNvPr id="8" name="Rounded Rectangle 7"/>
          <p:cNvSpPr/>
          <p:nvPr/>
        </p:nvSpPr>
        <p:spPr>
          <a:xfrm>
            <a:off x="4389120" y="2514600"/>
            <a:ext cx="3429000" cy="2103120"/>
          </a:xfrm>
          <a:prstGeom prst="roundRect">
            <a:avLst>
              <a:gd name="adj" fmla="val 8000"/>
            </a:avLst>
          </a:prstGeom>
          <a:solidFill>
            <a:srgbClr val="24414C"/>
          </a:solidFill>
          <a:ln>
            <a:noFill/>
          </a:ln>
        </p:spPr>
        <p:txBody>
          <a:bodyPr rtlCol="0" anchor="ctr"/>
          <a:lstStyle/>
          <a:p/>
        </p:txBody>
      </p:sp>
      <p:sp>
        <p:nvSpPr>
          <p:cNvPr id="9" name="Oval 8"/>
          <p:cNvSpPr/>
          <p:nvPr/>
        </p:nvSpPr>
        <p:spPr>
          <a:xfrm>
            <a:off x="4617720" y="2743200"/>
            <a:ext cx="457200" cy="457200"/>
          </a:xfrm>
          <a:prstGeom prst="ellipse">
            <a:avLst/>
          </a:prstGeom>
          <a:solidFill>
            <a:srgbClr val="A8D3B5"/>
          </a:solidFill>
          <a:ln>
            <a:noFill/>
          </a:ln>
        </p:spPr>
        <p:txBody>
          <a:bodyPr rtlCol="0" anchor="ctr" lIns="0" rIns="0" tIns="0" bIns="0"/>
          <a:lstStyle/>
          <a:p>
            <a:pPr algn="ctr"/>
            <a:r>
              <a:rPr sz="1600" b="1">
                <a:solidFill>
                  <a:srgbClr val="152D36"/>
                </a:solidFill>
                <a:latin typeface="Calibri"/>
              </a:rPr>
              <a:t>2</a:t>
            </a:r>
          </a:p>
        </p:txBody>
      </p:sp>
      <p:sp>
        <p:nvSpPr>
          <p:cNvPr id="10" name="TextBox 9"/>
          <p:cNvSpPr txBox="1"/>
          <p:nvPr/>
        </p:nvSpPr>
        <p:spPr>
          <a:xfrm>
            <a:off x="4617720" y="3364992"/>
            <a:ext cx="2971800" cy="365760"/>
          </a:xfrm>
          <a:prstGeom prst="rect">
            <a:avLst/>
          </a:prstGeom>
          <a:noFill/>
        </p:spPr>
        <p:txBody>
          <a:bodyPr wrap="square" lIns="0" rIns="0" tIns="0" bIns="0" anchor="t">
            <a:spAutoFit/>
          </a:bodyPr>
          <a:lstStyle/>
          <a:p>
            <a:pPr algn="l"/>
            <a:r>
              <a:rPr sz="1800" b="1" i="0">
                <a:solidFill>
                  <a:srgbClr val="FFFFFF"/>
                </a:solidFill>
                <a:latin typeface="Calibri"/>
              </a:rPr>
              <a:t>Pilot WA + website</a:t>
            </a:r>
          </a:p>
        </p:txBody>
      </p:sp>
      <p:sp>
        <p:nvSpPr>
          <p:cNvPr id="11" name="TextBox 10"/>
          <p:cNvSpPr txBox="1"/>
          <p:nvPr/>
        </p:nvSpPr>
        <p:spPr>
          <a:xfrm>
            <a:off x="4617720" y="3767328"/>
            <a:ext cx="3017520" cy="777240"/>
          </a:xfrm>
          <a:prstGeom prst="rect">
            <a:avLst/>
          </a:prstGeom>
          <a:noFill/>
        </p:spPr>
        <p:txBody>
          <a:bodyPr wrap="square" lIns="0" rIns="0" tIns="0" bIns="0" anchor="t">
            <a:spAutoFit/>
          </a:bodyPr>
          <a:lstStyle/>
          <a:p>
            <a:pPr algn="l"/>
            <a:r>
              <a:rPr sz="1400" b="0" i="0">
                <a:solidFill>
                  <a:srgbClr val="D8E2E5"/>
                </a:solidFill>
                <a:latin typeface="Calibri"/>
              </a:rPr>
              <a:t>Nomor perusahaan, shared inbox, routing &amp; SLA di 1–2 cabang.</a:t>
            </a:r>
          </a:p>
        </p:txBody>
      </p:sp>
      <p:sp>
        <p:nvSpPr>
          <p:cNvPr id="12" name="Rounded Rectangle 11"/>
          <p:cNvSpPr/>
          <p:nvPr/>
        </p:nvSpPr>
        <p:spPr>
          <a:xfrm>
            <a:off x="8046720" y="2514600"/>
            <a:ext cx="3429000" cy="2103120"/>
          </a:xfrm>
          <a:prstGeom prst="roundRect">
            <a:avLst>
              <a:gd name="adj" fmla="val 8000"/>
            </a:avLst>
          </a:prstGeom>
          <a:solidFill>
            <a:srgbClr val="24414C"/>
          </a:solidFill>
          <a:ln>
            <a:noFill/>
          </a:ln>
        </p:spPr>
        <p:txBody>
          <a:bodyPr rtlCol="0" anchor="ctr"/>
          <a:lstStyle/>
          <a:p/>
        </p:txBody>
      </p:sp>
      <p:sp>
        <p:nvSpPr>
          <p:cNvPr id="13" name="Oval 12"/>
          <p:cNvSpPr/>
          <p:nvPr/>
        </p:nvSpPr>
        <p:spPr>
          <a:xfrm>
            <a:off x="8275320" y="2743200"/>
            <a:ext cx="457200" cy="457200"/>
          </a:xfrm>
          <a:prstGeom prst="ellipse">
            <a:avLst/>
          </a:prstGeom>
          <a:solidFill>
            <a:srgbClr val="A8D3B5"/>
          </a:solidFill>
          <a:ln>
            <a:noFill/>
          </a:ln>
        </p:spPr>
        <p:txBody>
          <a:bodyPr rtlCol="0" anchor="ctr" lIns="0" rIns="0" tIns="0" bIns="0"/>
          <a:lstStyle/>
          <a:p>
            <a:pPr algn="ctr"/>
            <a:r>
              <a:rPr sz="1600" b="1">
                <a:solidFill>
                  <a:srgbClr val="152D36"/>
                </a:solidFill>
                <a:latin typeface="Calibri"/>
              </a:rPr>
              <a:t>3</a:t>
            </a:r>
          </a:p>
        </p:txBody>
      </p:sp>
      <p:sp>
        <p:nvSpPr>
          <p:cNvPr id="14" name="TextBox 13"/>
          <p:cNvSpPr txBox="1"/>
          <p:nvPr/>
        </p:nvSpPr>
        <p:spPr>
          <a:xfrm>
            <a:off x="8275320" y="3364992"/>
            <a:ext cx="2971800" cy="365760"/>
          </a:xfrm>
          <a:prstGeom prst="rect">
            <a:avLst/>
          </a:prstGeom>
          <a:noFill/>
        </p:spPr>
        <p:txBody>
          <a:bodyPr wrap="square" lIns="0" rIns="0" tIns="0" bIns="0" anchor="t">
            <a:spAutoFit/>
          </a:bodyPr>
          <a:lstStyle/>
          <a:p>
            <a:pPr algn="l"/>
            <a:r>
              <a:rPr sz="1800" b="1" i="0">
                <a:solidFill>
                  <a:srgbClr val="FFFFFF"/>
                </a:solidFill>
                <a:latin typeface="Calibri"/>
              </a:rPr>
              <a:t>Sambungkan MS SQL</a:t>
            </a:r>
          </a:p>
        </p:txBody>
      </p:sp>
      <p:sp>
        <p:nvSpPr>
          <p:cNvPr id="15" name="TextBox 14"/>
          <p:cNvSpPr txBox="1"/>
          <p:nvPr/>
        </p:nvSpPr>
        <p:spPr>
          <a:xfrm>
            <a:off x="8275320" y="3767328"/>
            <a:ext cx="3017520" cy="777240"/>
          </a:xfrm>
          <a:prstGeom prst="rect">
            <a:avLst/>
          </a:prstGeom>
          <a:noFill/>
        </p:spPr>
        <p:txBody>
          <a:bodyPr wrap="square" lIns="0" rIns="0" tIns="0" bIns="0" anchor="t">
            <a:spAutoFit/>
          </a:bodyPr>
          <a:lstStyle/>
          <a:p>
            <a:pPr algn="l"/>
            <a:r>
              <a:rPr sz="1400" b="0" i="0">
                <a:solidFill>
                  <a:srgbClr val="D8E2E5"/>
                </a:solidFill>
                <a:latin typeface="Calibri"/>
              </a:rPr>
              <a:t>Suppression pembeli dan dashboard penjualan dari reporting mart.</a:t>
            </a:r>
          </a:p>
        </p:txBody>
      </p:sp>
      <p:sp>
        <p:nvSpPr>
          <p:cNvPr id="16" name="TextBox 15"/>
          <p:cNvSpPr txBox="1"/>
          <p:nvPr/>
        </p:nvSpPr>
        <p:spPr>
          <a:xfrm>
            <a:off x="731520" y="5074920"/>
            <a:ext cx="10515600" cy="457200"/>
          </a:xfrm>
          <a:prstGeom prst="rect">
            <a:avLst/>
          </a:prstGeom>
          <a:noFill/>
        </p:spPr>
        <p:txBody>
          <a:bodyPr wrap="square" lIns="0" rIns="0" tIns="0" bIns="0" anchor="t">
            <a:spAutoFit/>
          </a:bodyPr>
          <a:lstStyle/>
          <a:p>
            <a:pPr algn="l"/>
            <a:r>
              <a:rPr sz="2800" b="1" i="0">
                <a:solidFill>
                  <a:srgbClr val="FFFFFF"/>
                </a:solidFill>
                <a:latin typeface="Calibri"/>
              </a:rPr>
              <a:t>Terima kasih</a:t>
            </a:r>
          </a:p>
        </p:txBody>
      </p:sp>
      <p:sp>
        <p:nvSpPr>
          <p:cNvPr id="17" name="TextBox 16"/>
          <p:cNvSpPr txBox="1"/>
          <p:nvPr/>
        </p:nvSpPr>
        <p:spPr>
          <a:xfrm>
            <a:off x="731520" y="5577840"/>
            <a:ext cx="10515600" cy="365760"/>
          </a:xfrm>
          <a:prstGeom prst="rect">
            <a:avLst/>
          </a:prstGeom>
          <a:noFill/>
        </p:spPr>
        <p:txBody>
          <a:bodyPr wrap="square" lIns="0" rIns="0" tIns="0" bIns="0" anchor="t">
            <a:spAutoFit/>
          </a:bodyPr>
          <a:lstStyle/>
          <a:p>
            <a:pPr algn="l"/>
            <a:r>
              <a:rPr sz="1500" b="0" i="0">
                <a:solidFill>
                  <a:srgbClr val="A8D3B5"/>
                </a:solidFill>
                <a:latin typeface="Calibri"/>
              </a:rPr>
              <a:t>Prototype interaktif, source code, dan dokumen tertulis terlampir.</a:t>
            </a:r>
          </a:p>
        </p:txBody>
      </p:sp>
      <p:sp>
        <p:nvSpPr>
          <p:cNvPr id="18" name="TextBox 17"/>
          <p:cNvSpPr txBox="1"/>
          <p:nvPr/>
        </p:nvSpPr>
        <p:spPr>
          <a:xfrm>
            <a:off x="548640" y="6419088"/>
            <a:ext cx="8229600" cy="228600"/>
          </a:xfrm>
          <a:prstGeom prst="rect">
            <a:avLst/>
          </a:prstGeom>
          <a:noFill/>
        </p:spPr>
        <p:txBody>
          <a:bodyPr wrap="square" lIns="0" rIns="0" tIns="0" bIns="0" anchor="t">
            <a:spAutoFit/>
          </a:bodyPr>
          <a:lstStyle/>
          <a:p>
            <a:pPr algn="l"/>
            <a:r>
              <a:rPr sz="1000" b="0" i="0">
                <a:solidFill>
                  <a:srgbClr val="8DA1A8"/>
                </a:solidFill>
                <a:latin typeface="Calibri"/>
              </a:rPr>
              <a:t>Hasjrat OneCRM · Konsep assessment oleh Putra Irawan · data prototype sintetis</a:t>
            </a:r>
          </a:p>
        </p:txBody>
      </p:sp>
      <p:sp>
        <p:nvSpPr>
          <p:cNvPr id="19" name="TextBox 18"/>
          <p:cNvSpPr txBox="1"/>
          <p:nvPr/>
        </p:nvSpPr>
        <p:spPr>
          <a:xfrm>
            <a:off x="10725912" y="6419088"/>
            <a:ext cx="914400" cy="228600"/>
          </a:xfrm>
          <a:prstGeom prst="rect">
            <a:avLst/>
          </a:prstGeom>
          <a:noFill/>
        </p:spPr>
        <p:txBody>
          <a:bodyPr wrap="square" lIns="0" rIns="0" tIns="0" bIns="0" anchor="t">
            <a:spAutoFit/>
          </a:bodyPr>
          <a:lstStyle/>
          <a:p>
            <a:pPr algn="r"/>
            <a:r>
              <a:rPr sz="1000" b="0" i="0">
                <a:solidFill>
                  <a:srgbClr val="8DA1A8"/>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Hasjrat OneCRM — Assessment Putra Irawan</dc:title>
  <dc:subject>Customer management platform terintegrasi (konsep assessment)</dc:subject>
  <dc:creator>Putra Irawan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